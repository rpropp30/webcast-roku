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notesMaster" Target="notesMasters/notesMaster1.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Electrons drifting from atom to atom — driven by a difference in charge — are electric current.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Conductors let electrons pass (low resistance); insulators bind them (high resistance).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Voltage is pressure, current is flow, resistance is the restriction:  I = V ÷ 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potential is safe; bridging two different potentials drives current through you.</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the unknown in the V / I / R triangle. Power P = V×I = I²R — heat rises with current squared.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DC flows one way at a steady level; AC reverses 60×/sec, which lets transformers change its voltage.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waveforms 120° apart deliver smooth, continuous power — the backbone of the grid.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coils on a magnetic core: the turns ratio sets the voltage ratio; power in ≈ power out.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Voltage is stepped up for transmission, then down in stages until it is safe for the customer.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Current across the chest — hand-to-hand or hand-to-foot — can stop the heart. Control both contact points.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dangerous range begins in milliamps — far below what trips a typical breaker.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arc can reach ~35,000°F with an explosive blast — and can be triggered by proximity alone.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Current spreading from a downed line creates a ground gradient. Shuffle out with feet together.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Reclosers trip then auto-reclose — a downed line can re-energize without warning.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from the top down: de-energize first; PPE is the last line, never the only line.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body, tools, and equipment outside the minimum approach distance for your voltage.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fiberglass upper boom is a dielectric insulating gap between the bucket and ground.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Eliminate the second point of contact — cover it or remove it — and the circuit can't close through you.</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Insulate every energized and grounded part within reach: nearest first, remove in reverse.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 open → lock &amp; tag → test → ground.  Never skip a step.</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Bond and ground a work zone to one potential — no difference across the body means no current.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parallel live line couples voltage onto a dead one — ground at the work site, not just the ends.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Select a glove class rated at or above your system voltage; wear leather protectors over them.</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fiberglass live-line tool extends reach beyond MAD — keep it clean and dry.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Verify voltage and phase — and prove the tester on a known source before and after.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Grounds carry fault current and trip protection fast: ground end first, line ends last.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Arc-rated FR clothing, Class E hard hat, face shield, rubber gloves — the last layer of defense.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crew briefing aligns everyone: hazards, procedures, controls, PPE, roles, and rescue.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clearance isolates the work zone: open, locked, tagged, tested dead, and grounded on every side.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Remove the source first, lower the patient, start CPR &amp; AED — never become the second victim.</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Energy falls with the square of distance; where it crosses 1.2 cal/cm² is the arc-flash boundary.</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categories from ≥4 to ≥40 cal/cm². The garment's arc rating must meet or exceed the incident energy.</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Voltage, boundaries, incident energy, PPE category, and glove class — read it before you open the door.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Treat the conductor and ground as energized; keep the patient untouched until the source is removed — then reach them.</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Once the scene is safe: check &amp; call, compress 100–120/min, apply the AED, continue until EMS arrives.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 complete path, and a difference in potential — all three, or nothing flows. You become the load when you bridge two potentials.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Grounding trips protection fast — but the current entering the earth raises the ground potential, putting the crew and public near the truck in the circuit.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ground path means the breaker never trips and the whole truck sits at line potential. The boom protects the worker; bridging the truck to ground completes the circuit.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Bond the bucket to the conductor and ride at one potential, like the bird on a wire — fatal the instant a second potential is touched.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fault is a different problem depending on where you stand. Brief both the aloft hazards and the ground hazards before the job.</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the crew and set the tone: this course builds from the science up to daily field discipline. Stress that every rule has a reason, and the only acceptable outcome of any job is everyone going home.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six modules so the crew sees the arc from theory to the tailboard. Emphasize that theory is not academic — it is why every later rule works.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expectations: this is a conversation, not a lecture. Point out the DANGER / WARNING / BEST-PRACTICE call-outs and that the tables hold numbers they will use on the job.</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Ground the stakes without fear-mongering — these numbers come from real incidents. Reinforce that essentially every electrical contact is preventable with the controls we are about to cover.</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before we touch anything energized, we have to know what is moving in the wire and why it always wants to get back to its source through every available path.</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it concrete: electricity is charge in motion, seeking its source, using every path in proportion to conductance. Drive home that the human body can be one of those paths.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the crew name conductors and insulators on a typical pole. Stress that the body and wet wood conduct, and that air only insulates at sufficient distance — it can break down.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Voltage is always measured BETWEEN two points. Use the bird-on-a-wire idea here as a teaser for the second point of contact in Module 3.</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Hammer the key point of the whole course: current — not voltage — injures and kills. Voltage only decides how much current gets pushed through your resistance.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an example. Emphasize that wet or broken skin drops resistance and raises current, and that heat and arc energy rise with the SQUARE of current (P = I²R).</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triangle trick. This is the one relationship worth memorizing. Tie P = I²R back to why a small rise in fault current is a big rise in arc-flash energy.</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Contrast the two. Note that AC crosses zero 120 times a second but is still lethal — never let anyone think of it as momentarily 'off.'</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that nameplate voltages are RMS, peak is about 1.4× higher, and that line reactance is the seed of the induced voltage we will cover in Module 3.</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services are single-phase; the system backbone is three-phase. Mention the √3 relationship between phase-to-phase and phase-to-neutral voltage.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Turns ratio sets the voltage ratio; power in ≈ power out. Flag back-feed hard: a customer's generator can re-energize a 'dead' secondary from the load side.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the crew place themselves on this chain — where you are tells you the voltage, the fault energy, and the controls you need.</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contacts happen at low voltage — it is not 'safe.' Higher classes mean bigger clearances and far greater fault energy.</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 and check for questions before we move from the energy itself to what it does to the body.</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now we make it personal — exactly what current does to a person, and why the controls later are non-negotiable.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 the four factors: amount, path, duration, and frequency. Stress that wet skin can drop resistance from ~100,000 Ω to ~1,000 Ω — a force multiplier.</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the dangerous range starts in milliamps — far below what trips a breaker. The values are approximate; the lesson is the scale.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why we never rely on letting go, and that even a 'minor' shock can cause a fatal fall from a pole or bucket. Make sure everyone knows where the AED is.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Entry and exit wounds can hide massive internal damage. Anyone who takes a contact gets a medical evaluation — even if they feel fine.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hazards in one event: heat (flash) and pressure (blast). Stress it can happen WITHOUT contact — proximity alone can trigger it — so distance and arc-rated PPE matter.</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ground gradient and demonstrate the shuffle. Tie it forward to bonding and grounding, which eliminate the gradient inside the work zone.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First-on-scene discipline: treat it as live, keep a wide radius, and occupants stay in the vehicle unless fire forces them out. Reclosers and back-feed can re-energize it.</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 confirm everyone has internalized 'current kills, and it does so in milliamps.'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into the heart of the course: the disciplines that keep us out of the circuit when the line is hot.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reach for the top first. De-energizing beats everything below it; PPE is the last line, never the only line.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MAD protects against flashover across air. Everything conductive counts — body, tools, boom, materials. Know your utility's table before you leave the ground.</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these are illustrative — always use your employer's approved table. Note that altitude and transient over-voltage change the numbers.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important slide in the course. Have every worker say the question out loud: 'Where is my second point of contact?' Most electrocutions are phase-to-ground through a missed second point.</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Drill the scan on a real pole top — have the crew name every second point. Glove AND cover: gloves protect your hands, cover-up removes the second point.</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Differentiate the methods: rubber-glove (insulate, within reach, cover-up mandatory) versus hot-stick / live-line (isolate the worker by distance).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Cover-up is secondary protection that removes the second point of contact. Cover energized AND grounded parts within reach, rated for the voltage.</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sequence: nearest hazard first, from a position of safety, working outward — then remove in reverse, last on / first off.</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each item and where it goes. Stress voltage rating, pre-use inspection, and using approved clips so it stays put.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verification sequence and do not skip a step. 'Test the tester' on a known source before and after testing the line.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Grounds protect YOU if the line is re-energized; the equipotential zone removes any difference of potential across the body. Connect ground end first, line end last.</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'Dead' is not 'grounded.' Explain magnetic and electrostatic coupling from parallel circuits, and why we ground at the work site, not just the ends.</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 the controls — this is the module the crew uses every single day.</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the gear that makes insulate-and-isolate possible — and the discipline that keeps it trustworthy.</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Always worn with leather protectors. Air-test and inspect before every use, honor retest dates, and store them properly in a glove bag.</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Select a class rated at or above the system voltage. Color helps quick ID, but the printed rating governs. Same system applies to sleeves and many blankets.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voltage-class system. Sleeves when the arm is exposed; blankets and line hose for cover-up. Inspect for cuts, ozone cracks, and contamination.</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hot-stick method isolates the worker by distance. Keep tools clean and dry — contamination ruins the insulating surface — and dielectric-test on schedule.</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Size grounds for the available fault current and clearing time. Ground end first, line end last; remove in reverse. Inspect for broken strands and corroded clamps.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Match the detector range to the system voltage. Test the tester on a known source before AND after; test-before-touch on every conductor.</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Rated in cal/cm² — must meet or exceed the incident energy. The outer layer must be arc-rated, nothing meltable underneath. PPE is the last layer of defense.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Intervals are typical — follow your program. If equipment is dropped, suspect, or out of test date, it comes out of service. No exceptions.</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 clean, dry, inspected, in-date — or out of service.</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now we tie the theory and the tools into the daily disciplines that run a safe job.</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 scope, crew, tools, weather, access — and the rescue — before anyone leaves the truck. Know the location for emergency response.</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Break the job into steps and pair each hazard with a control from the hierarchy. The JSA is a living document — reassess when anything changes.</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Cite 1910.269(c) minimum content. The tailboard is where the plan in your head becomes the plan in everyone's head.</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six steps. Engage the crew, invite input, and confirm understanding — everyone has stop-work authority.</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roles clearly so nothing falls through the cracks. No solo energized work — a qualified second person is present and watching.</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three-way communication for critical commands: state, repeat back, confirm. Re-brief after any interruption, crew change, or scope change.</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Brief the rescue plan every time. Protect yourself first — never become the second victim. Know where the AED is and how to do pole-top and bucket rescue.</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Weather can stop or change the job — lightning, wind, wet, ice. Protect the public with barriers and traffic control; keep bystanders clear of downed lines.</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 the field disciplines and reinforce that stop-work authority is an obligation, not just a right.</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the 'why it is written' behind every rule we have covered — and where to find it.</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Regulations set the minimum; your program may be stricter — always follow the stricter rule. Knowing the source makes you a more credible, safer worker.</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standard for operating and maintaining power systems. Walk the key subsections — if a worker reads one regulation, make it this one.</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Maintenance (1910.269) versus construction (1926 Subpart V), harmonized on the key requirements. Use the standard that matches the type of work.</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Governs the system — clearances, structure strength, grounding, and work rules. Distinct from the NEC (NFPA 70), which covers premises wiring.</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define how your PPE and tools are built, rated, and re-tested. The numbers printed on your gloves and grounds trace back to here.</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qualified employees work on or near energized parts. Qualification is earned through apprenticeship and verified skills — and documented.</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records to keep and the employer's program duties. Records are both a legal requirement and a tool for learning after every event.</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 remember compliance is the floor, not the goal — the goal is everyone home safe.</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two deeper safety topics the crew runs into — how the arc-flash numbers are derived, and what to do when someone is hurt.</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physics usable: incident energy rises with fault current and clearing time and falls with the square of distance. Stress that a faster-tripping device dramatically cuts the energy.</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distances do two jobs: the energy at the working distance sets your PPE rating; the arc-flash boundary (1.2 cal/cm²) is where a second-degree burn begins. Don't confuse these with the voltage-based shock boundaries.</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four categories. The key rule: the garment's arc rating must meet or exceed the incident energy. Above ~40 cal/cm² the blast itself may rule out energized work.</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the crew read a real label. It turns the study into a field decision — select PPE and set boundaries before opening the door. A missing or stale label means stop.</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it concrete: one contact can hit the heart, lungs, nerves, and tissue, plus cause a fall — and effects can be delayed. This is why every contact gets a medical evaluation.</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Drill the fixed order: make the scene safe, then reach the patient, then treat. Do not touch the patient until the source is removed. Never become the second victim.</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five steps once the scene is safe. Push hard, push fast, minimize interruptions; the AED can restart a coordinated rhythm. Practice it — know where the AED lives.</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don't break blisters, treat for shock, and transport every contact — internal damage hides. Report and investigate so the next crew benefits.</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 the arc-flash math and the fixed rescue order. Reinforce that every contact is transported and investigated.</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capstone: tie all the theory together around the current's path. This is where grounding, the bucket truck, and step/touch finally click into one mental model.</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everything here: no complete loop, no current. Workers are hurt when they become the load. Two defenses — never complete the loop, or sit at one potential. Every later decision is a question about the path.</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Separate the two jobs cleanly: grounding gives fault current a fast path to trip protection, AND it creates an equipotential zone so there's no voltage across the worker. People conflate these — keep them distinct.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up the three methods as deliberate choices. Stress that the killer is the half-measure — a truck that's neither solidly grounded nor truly isolated. The method is set by procedure, not preference.</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current: contact, down the truck, into the earth, breaker trips. Then the catch — the earth around the truck rises in potential, so the ground crew and public face step &amp; touch. Grounding protects the circuit but loads the bystanders. Barricade and bond.</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Opposite trade: no path means no trip, so the whole truck rises to line potential and stays live with no warning. The insulated boom protects the bucket worker. The danger is on the ground — anyone bridging truck-to-earth completes the circuit. Barricade; never touch from the ground.</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bird-on-wire method made deliberate: bond the bucket to the conductor and ride at line potential. Safe ONLY while there is no second point at a different potential — another phase, a ground, the boom touching earth. Emphasize it's procedure-driven, not accidental.</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them see the same fault as two problems. Aloft: contact, second point, MAD, induced. On the ground: step/touch, downed conductor, the live truck, the public. Different zone, different controls — brief both.</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Driving idea: current splits among all paths by impedance, so make your body the worst path with good grounds, and bond to drive the voltage ACROSS you to near zero. High potential doesn't hurt — a difference does. Reinforce 'dead isn't grounded.'</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decision checklist: find the sources and return paths, pick the method on purpose, control the ground area, cover up aloft, and treat everything as energized until proven otherwise. This is the working synthesis of the whole course.</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 around the path: injury is completing a circuit; ground for path + equipotential; grounded vs isolated vs bonded trade-offs; a difference across you is what hurts.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to synthesis — turning everything into one mental model and a set of daily habits.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six-step loop slowly: understand the energy, find the circuit, choose the control, verify, brief, work and reassess. This is the through-line of the whole course.</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these as a crew pledge. If they remember nothing else from the day, make it these ten.</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philosophy: electricity is invisible and unforgiving, but entirely predictable — which means the hazard is always controllable. Look out for each other.</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the crew to the standards and, most importantly, to their own employer's procedures and approved MAD tables.</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floor. Bring it back to their system, their equipment, and their procedures.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2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2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2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2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3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3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3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33.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34.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35.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3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3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3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3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4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a:gsLst>
              <a:gs pos="0">
                <a:srgbClr val="0B2545"/>
              </a:gs>
              <a:gs pos="100000">
                <a:srgbClr val="06162B"/>
              </a:gs>
            </a:gsLst>
            <a:lin ang="36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509760" y="0"/>
            <a:ext cx="45720" cy="6858000"/>
          </a:xfrm>
          <a:prstGeom prst="rect">
            <a:avLst/>
          </a:prstGeom>
          <a:solidFill>
            <a:srgbClr val="16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515600" y="0"/>
            <a:ext cx="45720" cy="6858000"/>
          </a:xfrm>
          <a:prstGeom prst="rect">
            <a:avLst/>
          </a:prstGeom>
          <a:solidFill>
            <a:srgbClr val="16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1521440" y="0"/>
            <a:ext cx="45720" cy="6858000"/>
          </a:xfrm>
          <a:prstGeom prst="rect">
            <a:avLst/>
          </a:prstGeom>
          <a:solidFill>
            <a:srgbClr val="16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0" y="1463040"/>
            <a:ext cx="2788920" cy="41148"/>
          </a:xfrm>
          <a:prstGeom prst="rect">
            <a:avLst/>
          </a:prstGeom>
          <a:solidFill>
            <a:srgbClr val="16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44000" y="2194560"/>
            <a:ext cx="2788920" cy="41148"/>
          </a:xfrm>
          <a:prstGeom prst="rect">
            <a:avLst/>
          </a:prstGeom>
          <a:solidFill>
            <a:srgbClr val="16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144000" y="2926080"/>
            <a:ext cx="2788920" cy="41148"/>
          </a:xfrm>
          <a:prstGeom prst="rect">
            <a:avLst/>
          </a:prstGeom>
          <a:solidFill>
            <a:srgbClr val="16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2057400"/>
            <a:ext cx="164592" cy="246888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20" y="2011680"/>
            <a:ext cx="9601200" cy="457200"/>
          </a:xfrm>
          <a:prstGeom prst="rect">
            <a:avLst/>
          </a:prstGeom>
          <a:noFill/>
        </p:spPr>
        <p:txBody>
          <a:bodyPr wrap="square" anchor="t" lIns="0" rIns="0" tIns="0" bIns="0">
            <a:spAutoFit/>
          </a:bodyPr>
          <a:lstStyle/>
          <a:p>
            <a:pPr algn="l">
              <a:lnSpc>
                <a:spcPct val="105000"/>
              </a:lnSpc>
              <a:spcBef>
                <a:spcPts val="400"/>
              </a:spcBef>
              <a:spcAft>
                <a:spcPts val="400"/>
              </a:spcAft>
            </a:pPr>
            <a:r>
              <a:rPr sz="1500" b="1" i="0">
                <a:solidFill>
                  <a:srgbClr val="F5B100"/>
                </a:solidFill>
                <a:latin typeface="Arial"/>
              </a:rPr>
              <a:t>FIELD TRAINING SERIES</a:t>
            </a:r>
          </a:p>
        </p:txBody>
      </p:sp>
      <p:sp>
        <p:nvSpPr>
          <p:cNvPr id="11" name="TextBox 10"/>
          <p:cNvSpPr txBox="1"/>
          <p:nvPr/>
        </p:nvSpPr>
        <p:spPr>
          <a:xfrm>
            <a:off x="1170432" y="2468880"/>
            <a:ext cx="9692640" cy="2377440"/>
          </a:xfrm>
          <a:prstGeom prst="rect">
            <a:avLst/>
          </a:prstGeom>
          <a:noFill/>
        </p:spPr>
        <p:txBody>
          <a:bodyPr wrap="square" anchor="t" lIns="0" rIns="0" tIns="0" bIns="0">
            <a:spAutoFit/>
          </a:bodyPr>
          <a:lstStyle/>
          <a:p>
            <a:pPr algn="l">
              <a:lnSpc>
                <a:spcPct val="100000"/>
              </a:lnSpc>
              <a:spcBef>
                <a:spcPts val="0"/>
              </a:spcBef>
              <a:spcAft>
                <a:spcPts val="200"/>
              </a:spcAft>
            </a:pPr>
            <a:r>
              <a:rPr sz="4400" b="1" i="0">
                <a:solidFill>
                  <a:srgbClr val="FFFFFF"/>
                </a:solidFill>
                <a:latin typeface="Arial"/>
              </a:rPr>
              <a:t>Electrical Theory &amp;</a:t>
            </a:r>
          </a:p>
          <a:p>
            <a:pPr algn="l">
              <a:lnSpc>
                <a:spcPct val="100000"/>
              </a:lnSpc>
              <a:spcBef>
                <a:spcPts val="0"/>
              </a:spcBef>
              <a:spcAft>
                <a:spcPts val="200"/>
              </a:spcAft>
            </a:pPr>
            <a:r>
              <a:rPr sz="4400" b="1" i="0">
                <a:solidFill>
                  <a:srgbClr val="FFFFFF"/>
                </a:solidFill>
                <a:latin typeface="Arial"/>
              </a:rPr>
              <a:t>Energized-Line Safety</a:t>
            </a:r>
          </a:p>
          <a:p>
            <a:pPr algn="l">
              <a:lnSpc>
                <a:spcPct val="100000"/>
              </a:lnSpc>
              <a:spcBef>
                <a:spcPts val="0"/>
              </a:spcBef>
              <a:spcAft>
                <a:spcPts val="200"/>
              </a:spcAft>
            </a:pPr>
            <a:r>
              <a:rPr sz="4400" b="1" i="0">
                <a:solidFill>
                  <a:srgbClr val="FFFFFF"/>
                </a:solidFill>
                <a:latin typeface="Arial"/>
              </a:rPr>
              <a:t>for Powerline Workers</a:t>
            </a:r>
          </a:p>
        </p:txBody>
      </p:sp>
      <p:sp>
        <p:nvSpPr>
          <p:cNvPr id="12" name="TextBox 11"/>
          <p:cNvSpPr txBox="1"/>
          <p:nvPr/>
        </p:nvSpPr>
        <p:spPr>
          <a:xfrm>
            <a:off x="1207008" y="4709160"/>
            <a:ext cx="9509760" cy="1097280"/>
          </a:xfrm>
          <a:prstGeom prst="rect">
            <a:avLst/>
          </a:prstGeom>
          <a:noFill/>
        </p:spPr>
        <p:txBody>
          <a:bodyPr wrap="square" anchor="t" lIns="0" rIns="0" tIns="0" bIns="0">
            <a:spAutoFit/>
          </a:bodyPr>
          <a:lstStyle/>
          <a:p>
            <a:pPr algn="l">
              <a:lnSpc>
                <a:spcPct val="115000"/>
              </a:lnSpc>
              <a:spcBef>
                <a:spcPts val="400"/>
              </a:spcBef>
              <a:spcAft>
                <a:spcPts val="400"/>
              </a:spcAft>
            </a:pPr>
            <a:r>
              <a:rPr sz="1800" b="0" i="0">
                <a:solidFill>
                  <a:srgbClr val="C8D6E6"/>
                </a:solidFill>
                <a:latin typeface="Arial"/>
              </a:rPr>
              <a:t>A complete field-training program: theory → working hot → cover-up &amp; tools → job planning &amp; regulations</a:t>
            </a:r>
          </a:p>
          <a:p>
            <a:pPr algn="l">
              <a:lnSpc>
                <a:spcPct val="105000"/>
              </a:lnSpc>
              <a:spcBef>
                <a:spcPts val="1200"/>
              </a:spcBef>
              <a:spcAft>
                <a:spcPts val="400"/>
              </a:spcAft>
            </a:pPr>
            <a:r>
              <a:rPr sz="1300" b="0" i="0">
                <a:solidFill>
                  <a:srgbClr val="3A5A80"/>
                </a:solidFill>
                <a:latin typeface="Arial"/>
              </a:rPr>
              <a:t>Lineworker Apprenticeship &amp; Journeyman Refresher  •  Instructor Edition</a:t>
            </a:r>
          </a:p>
        </p:txBody>
      </p:sp>
      <p:sp>
        <p:nvSpPr>
          <p:cNvPr id="13" name="Rectangle 12"/>
          <p:cNvSpPr/>
          <p:nvPr/>
        </p:nvSpPr>
        <p:spPr>
          <a:xfrm>
            <a:off x="0" y="6583680"/>
            <a:ext cx="12191695" cy="54864"/>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COURSE MAP</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What This Course Covers</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27632"/>
            <a:ext cx="10881360" cy="548640"/>
          </a:xfrm>
          <a:prstGeom prst="rect">
            <a:avLst/>
          </a:prstGeom>
          <a:noFill/>
        </p:spPr>
        <p:txBody>
          <a:bodyPr wrap="square" anchor="t" lIns="0" rIns="0" tIns="0" bIns="0">
            <a:spAutoFit/>
          </a:bodyPr>
          <a:lstStyle/>
          <a:p>
            <a:pPr algn="l">
              <a:lnSpc>
                <a:spcPct val="105000"/>
              </a:lnSpc>
              <a:spcBef>
                <a:spcPts val="400"/>
              </a:spcBef>
              <a:spcAft>
                <a:spcPts val="400"/>
              </a:spcAft>
            </a:pPr>
            <a:r>
              <a:rPr sz="1550" b="0" i="1">
                <a:solidFill>
                  <a:srgbClr val="5B6B7B"/>
                </a:solidFill>
                <a:latin typeface="Arial"/>
              </a:rPr>
              <a:t>Six modules, building from first principles to the daily disciplines that keep crews alive.</a:t>
            </a:r>
          </a:p>
        </p:txBody>
      </p:sp>
      <p:sp>
        <p:nvSpPr>
          <p:cNvPr id="8" name="TextBox 7"/>
          <p:cNvSpPr txBox="1"/>
          <p:nvPr/>
        </p:nvSpPr>
        <p:spPr>
          <a:xfrm>
            <a:off x="658368" y="2240280"/>
            <a:ext cx="10927080" cy="3703320"/>
          </a:xfrm>
          <a:prstGeom prst="rect">
            <a:avLst/>
          </a:prstGeom>
          <a:noFill/>
        </p:spPr>
        <p:txBody>
          <a:bodyPr wrap="square" anchor="t" lIns="0" rIns="0" tIns="0" bIns="0">
            <a:spAutoFit/>
          </a:bodyPr>
          <a:lstStyle/>
          <a:p>
            <a:pPr algn="l">
              <a:lnSpc>
                <a:spcPct val="105000"/>
              </a:lnSpc>
              <a:spcBef>
                <a:spcPts val="700"/>
              </a:spcBef>
              <a:spcAft>
                <a:spcPts val="200"/>
              </a:spcAft>
            </a:pPr>
            <a:r>
              <a:rPr sz="1800" b="0" i="0">
                <a:solidFill>
                  <a:srgbClr val="1A2B3C"/>
                </a:solidFill>
                <a:latin typeface="Arial"/>
              </a:rPr>
              <a:t>■  Module 1 — Electrical theory: the science behind everything you touch</a:t>
            </a:r>
          </a:p>
          <a:p>
            <a:pPr algn="l" lvl="1">
              <a:lnSpc>
                <a:spcPct val="103000"/>
              </a:lnSpc>
              <a:spcBef>
                <a:spcPts val="200"/>
              </a:spcBef>
              <a:spcAft>
                <a:spcPts val="200"/>
              </a:spcAft>
            </a:pPr>
            <a:r>
              <a:rPr sz="1500" b="0" i="0">
                <a:solidFill>
                  <a:srgbClr val="334455"/>
                </a:solidFill>
                <a:latin typeface="Arial"/>
              </a:rPr>
              <a:t>–  Atomic charge, voltage, current, resistance, power, AC vs DC, the grid</a:t>
            </a:r>
          </a:p>
          <a:p>
            <a:pPr algn="l">
              <a:lnSpc>
                <a:spcPct val="105000"/>
              </a:lnSpc>
              <a:spcBef>
                <a:spcPts val="700"/>
              </a:spcBef>
              <a:spcAft>
                <a:spcPts val="200"/>
              </a:spcAft>
            </a:pPr>
            <a:r>
              <a:rPr sz="1800" b="0" i="0">
                <a:solidFill>
                  <a:srgbClr val="1A2B3C"/>
                </a:solidFill>
                <a:latin typeface="Arial"/>
              </a:rPr>
              <a:t>■  Module 2 — Electricity and the human body</a:t>
            </a:r>
          </a:p>
          <a:p>
            <a:pPr algn="l" lvl="1">
              <a:lnSpc>
                <a:spcPct val="103000"/>
              </a:lnSpc>
              <a:spcBef>
                <a:spcPts val="200"/>
              </a:spcBef>
              <a:spcAft>
                <a:spcPts val="200"/>
              </a:spcAft>
            </a:pPr>
            <a:r>
              <a:rPr sz="1500" b="0" i="0">
                <a:solidFill>
                  <a:srgbClr val="334455"/>
                </a:solidFill>
                <a:latin typeface="Arial"/>
              </a:rPr>
              <a:t>–  Shock physiology, arc flash/blast, step &amp; touch potential</a:t>
            </a:r>
          </a:p>
          <a:p>
            <a:pPr algn="l">
              <a:lnSpc>
                <a:spcPct val="105000"/>
              </a:lnSpc>
              <a:spcBef>
                <a:spcPts val="700"/>
              </a:spcBef>
              <a:spcAft>
                <a:spcPts val="200"/>
              </a:spcAft>
            </a:pPr>
            <a:r>
              <a:rPr sz="1800" b="0" i="0">
                <a:solidFill>
                  <a:srgbClr val="1A2B3C"/>
                </a:solidFill>
                <a:latin typeface="Arial"/>
              </a:rPr>
              <a:t>■  Module 3 — Working around energized lines &amp; equipment</a:t>
            </a:r>
          </a:p>
          <a:p>
            <a:pPr algn="l" lvl="1">
              <a:lnSpc>
                <a:spcPct val="103000"/>
              </a:lnSpc>
              <a:spcBef>
                <a:spcPts val="200"/>
              </a:spcBef>
              <a:spcAft>
                <a:spcPts val="200"/>
              </a:spcAft>
            </a:pPr>
            <a:r>
              <a:rPr sz="1500" b="0" i="0">
                <a:solidFill>
                  <a:srgbClr val="334455"/>
                </a:solidFill>
                <a:latin typeface="Arial"/>
              </a:rPr>
              <a:t>–  Minimum approach distance, the second point of contact, isolation, cover-up, grounding</a:t>
            </a:r>
          </a:p>
          <a:p>
            <a:pPr algn="l">
              <a:lnSpc>
                <a:spcPct val="105000"/>
              </a:lnSpc>
              <a:spcBef>
                <a:spcPts val="700"/>
              </a:spcBef>
              <a:spcAft>
                <a:spcPts val="200"/>
              </a:spcAft>
            </a:pPr>
            <a:r>
              <a:rPr sz="1800" b="0" i="0">
                <a:solidFill>
                  <a:srgbClr val="1A2B3C"/>
                </a:solidFill>
                <a:latin typeface="Arial"/>
              </a:rPr>
              <a:t>■  Module 4 — Tools of the trade</a:t>
            </a:r>
          </a:p>
          <a:p>
            <a:pPr algn="l" lvl="1">
              <a:lnSpc>
                <a:spcPct val="103000"/>
              </a:lnSpc>
              <a:spcBef>
                <a:spcPts val="200"/>
              </a:spcBef>
              <a:spcAft>
                <a:spcPts val="200"/>
              </a:spcAft>
            </a:pPr>
            <a:r>
              <a:rPr sz="1500" b="0" i="0">
                <a:solidFill>
                  <a:srgbClr val="334455"/>
                </a:solidFill>
                <a:latin typeface="Arial"/>
              </a:rPr>
              <a:t>–  Rubber goods, live-line tools, grounds, testers, FR/arc-rated PPE — use, care, testing</a:t>
            </a:r>
          </a:p>
          <a:p>
            <a:pPr algn="l">
              <a:lnSpc>
                <a:spcPct val="105000"/>
              </a:lnSpc>
              <a:spcBef>
                <a:spcPts val="700"/>
              </a:spcBef>
              <a:spcAft>
                <a:spcPts val="200"/>
              </a:spcAft>
            </a:pPr>
            <a:r>
              <a:rPr sz="1800" b="0" i="0">
                <a:solidFill>
                  <a:srgbClr val="1A2B3C"/>
                </a:solidFill>
                <a:latin typeface="Arial"/>
              </a:rPr>
              <a:t>■  Module 5 — Putting it to work in the field</a:t>
            </a:r>
          </a:p>
          <a:p>
            <a:pPr algn="l" lvl="1">
              <a:lnSpc>
                <a:spcPct val="103000"/>
              </a:lnSpc>
              <a:spcBef>
                <a:spcPts val="200"/>
              </a:spcBef>
              <a:spcAft>
                <a:spcPts val="200"/>
              </a:spcAft>
            </a:pPr>
            <a:r>
              <a:rPr sz="1500" b="0" i="0">
                <a:solidFill>
                  <a:srgbClr val="334455"/>
                </a:solidFill>
                <a:latin typeface="Arial"/>
              </a:rPr>
              <a:t>–  Hazard assessment, the tailboard/job brief, roles, communication, rescue</a:t>
            </a:r>
          </a:p>
          <a:p>
            <a:pPr algn="l">
              <a:lnSpc>
                <a:spcPct val="105000"/>
              </a:lnSpc>
              <a:spcBef>
                <a:spcPts val="700"/>
              </a:spcBef>
              <a:spcAft>
                <a:spcPts val="200"/>
              </a:spcAft>
            </a:pPr>
            <a:r>
              <a:rPr sz="1800" b="0" i="0">
                <a:solidFill>
                  <a:srgbClr val="1A2B3C"/>
                </a:solidFill>
                <a:latin typeface="Arial"/>
              </a:rPr>
              <a:t>■  Module 6 — Regulations &amp; standards that govern the work</a:t>
            </a:r>
          </a:p>
          <a:p>
            <a:pPr algn="l" lvl="1">
              <a:lnSpc>
                <a:spcPct val="103000"/>
              </a:lnSpc>
              <a:spcBef>
                <a:spcPts val="200"/>
              </a:spcBef>
              <a:spcAft>
                <a:spcPts val="200"/>
              </a:spcAft>
            </a:pPr>
            <a:r>
              <a:rPr sz="1500" b="0" i="0">
                <a:solidFill>
                  <a:srgbClr val="334455"/>
                </a:solidFill>
                <a:latin typeface="Arial"/>
              </a:rPr>
              <a:t>–  OSHA 1910.269 / 1926 Subpart V, NESC, ASTM/IEEE, recordkeeping</a:t>
            </a:r>
          </a:p>
        </p:txBody>
      </p:sp>
      <p:sp>
        <p:nvSpPr>
          <p:cNvPr id="9" name="Rectangle 8"/>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Course Overview</a:t>
            </a:r>
          </a:p>
        </p:txBody>
      </p:sp>
      <p:sp>
        <p:nvSpPr>
          <p:cNvPr id="11" name="TextBox 10"/>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OBJECTIVES</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Learning Objectives &amp; How to Use This Training</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783080"/>
            <a:ext cx="5349240" cy="4297680"/>
          </a:xfrm>
          <a:prstGeom prst="roundRect">
            <a:avLst/>
          </a:prstGeom>
          <a:solidFill>
            <a:srgbClr val="EEF2F7"/>
          </a:solidFill>
          <a:ln w="12700">
            <a:solidFill>
              <a:srgbClr val="CF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40080" y="1783080"/>
            <a:ext cx="5349240" cy="566928"/>
          </a:xfrm>
          <a:prstGeom prst="roundRect">
            <a:avLst/>
          </a:prstGeom>
          <a:solidFill>
            <a:srgbClr val="1340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2066543"/>
            <a:ext cx="5349240" cy="283464"/>
          </a:xfrm>
          <a:prstGeom prst="rect">
            <a:avLst/>
          </a:prstGeom>
          <a:solidFill>
            <a:srgbClr val="1340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1837943"/>
            <a:ext cx="4892040" cy="475488"/>
          </a:xfrm>
          <a:prstGeom prst="rect">
            <a:avLst/>
          </a:prstGeom>
          <a:noFill/>
        </p:spPr>
        <p:txBody>
          <a:bodyPr wrap="square" anchor="ctr" lIns="0" rIns="0" tIns="0" bIns="0">
            <a:spAutoFit/>
          </a:bodyPr>
          <a:lstStyle/>
          <a:p>
            <a:pPr algn="l">
              <a:lnSpc>
                <a:spcPct val="105000"/>
              </a:lnSpc>
              <a:spcBef>
                <a:spcPts val="400"/>
              </a:spcBef>
              <a:spcAft>
                <a:spcPts val="400"/>
              </a:spcAft>
            </a:pPr>
            <a:r>
              <a:rPr sz="1600" b="1" i="0">
                <a:solidFill>
                  <a:srgbClr val="FFFFFF"/>
                </a:solidFill>
                <a:latin typeface="Arial"/>
              </a:rPr>
              <a:t>By the end you will be able to</a:t>
            </a:r>
          </a:p>
        </p:txBody>
      </p:sp>
      <p:sp>
        <p:nvSpPr>
          <p:cNvPr id="11" name="TextBox 10"/>
          <p:cNvSpPr txBox="1"/>
          <p:nvPr/>
        </p:nvSpPr>
        <p:spPr>
          <a:xfrm>
            <a:off x="914400" y="2514600"/>
            <a:ext cx="4800600" cy="3383280"/>
          </a:xfrm>
          <a:prstGeom prst="rect">
            <a:avLst/>
          </a:prstGeom>
          <a:noFill/>
        </p:spPr>
        <p:txBody>
          <a:bodyPr wrap="square" anchor="t" lIns="0" rIns="0" tIns="0" bIns="0">
            <a:spAutoFit/>
          </a:bodyPr>
          <a:lstStyle/>
          <a:p>
            <a:pPr algn="l">
              <a:lnSpc>
                <a:spcPct val="103000"/>
              </a:lnSpc>
              <a:spcBef>
                <a:spcPts val="500"/>
              </a:spcBef>
              <a:spcAft>
                <a:spcPts val="200"/>
              </a:spcAft>
            </a:pPr>
            <a:r>
              <a:rPr sz="1400" b="0" i="0">
                <a:solidFill>
                  <a:srgbClr val="1A2B3C"/>
                </a:solidFill>
                <a:latin typeface="Arial"/>
              </a:rPr>
              <a:t>■  Explain voltage, current, resistance and power in plain terms</a:t>
            </a:r>
          </a:p>
          <a:p>
            <a:pPr algn="l">
              <a:lnSpc>
                <a:spcPct val="103000"/>
              </a:lnSpc>
              <a:spcBef>
                <a:spcPts val="500"/>
              </a:spcBef>
              <a:spcAft>
                <a:spcPts val="200"/>
              </a:spcAft>
            </a:pPr>
            <a:r>
              <a:rPr sz="1400" b="0" i="0">
                <a:solidFill>
                  <a:srgbClr val="1A2B3C"/>
                </a:solidFill>
                <a:latin typeface="Arial"/>
              </a:rPr>
              <a:t>■  Describe how the grid moves power from plant to service</a:t>
            </a:r>
          </a:p>
          <a:p>
            <a:pPr algn="l">
              <a:lnSpc>
                <a:spcPct val="103000"/>
              </a:lnSpc>
              <a:spcBef>
                <a:spcPts val="500"/>
              </a:spcBef>
              <a:spcAft>
                <a:spcPts val="200"/>
              </a:spcAft>
            </a:pPr>
            <a:r>
              <a:rPr sz="1400" b="0" i="0">
                <a:solidFill>
                  <a:srgbClr val="1A2B3C"/>
                </a:solidFill>
                <a:latin typeface="Arial"/>
              </a:rPr>
              <a:t>■  Identify what makes a circuit through the human body</a:t>
            </a:r>
          </a:p>
          <a:p>
            <a:pPr algn="l">
              <a:lnSpc>
                <a:spcPct val="103000"/>
              </a:lnSpc>
              <a:spcBef>
                <a:spcPts val="500"/>
              </a:spcBef>
              <a:spcAft>
                <a:spcPts val="200"/>
              </a:spcAft>
            </a:pPr>
            <a:r>
              <a:rPr sz="1400" b="0" i="0">
                <a:solidFill>
                  <a:srgbClr val="1A2B3C"/>
                </a:solidFill>
                <a:latin typeface="Arial"/>
              </a:rPr>
              <a:t>■  Recognize and eliminate the second point of contact</a:t>
            </a:r>
          </a:p>
          <a:p>
            <a:pPr algn="l">
              <a:lnSpc>
                <a:spcPct val="103000"/>
              </a:lnSpc>
              <a:spcBef>
                <a:spcPts val="500"/>
              </a:spcBef>
              <a:spcAft>
                <a:spcPts val="200"/>
              </a:spcAft>
            </a:pPr>
            <a:r>
              <a:rPr sz="1400" b="0" i="0">
                <a:solidFill>
                  <a:srgbClr val="1A2B3C"/>
                </a:solidFill>
                <a:latin typeface="Arial"/>
              </a:rPr>
              <a:t>■  Apply correct cover-up and minimum approach distances</a:t>
            </a:r>
          </a:p>
          <a:p>
            <a:pPr algn="l">
              <a:lnSpc>
                <a:spcPct val="103000"/>
              </a:lnSpc>
              <a:spcBef>
                <a:spcPts val="500"/>
              </a:spcBef>
              <a:spcAft>
                <a:spcPts val="200"/>
              </a:spcAft>
            </a:pPr>
            <a:r>
              <a:rPr sz="1400" b="0" i="0">
                <a:solidFill>
                  <a:srgbClr val="1A2B3C"/>
                </a:solidFill>
                <a:latin typeface="Arial"/>
              </a:rPr>
              <a:t>■  Build an equipotential grounding zone</a:t>
            </a:r>
          </a:p>
          <a:p>
            <a:pPr algn="l">
              <a:lnSpc>
                <a:spcPct val="103000"/>
              </a:lnSpc>
              <a:spcBef>
                <a:spcPts val="500"/>
              </a:spcBef>
              <a:spcAft>
                <a:spcPts val="200"/>
              </a:spcAft>
            </a:pPr>
            <a:r>
              <a:rPr sz="1400" b="0" i="0">
                <a:solidFill>
                  <a:srgbClr val="1A2B3C"/>
                </a:solidFill>
                <a:latin typeface="Arial"/>
              </a:rPr>
              <a:t>■  Lead a complete tailboard and hazard assessment</a:t>
            </a:r>
          </a:p>
          <a:p>
            <a:pPr algn="l">
              <a:lnSpc>
                <a:spcPct val="103000"/>
              </a:lnSpc>
              <a:spcBef>
                <a:spcPts val="500"/>
              </a:spcBef>
              <a:spcAft>
                <a:spcPts val="200"/>
              </a:spcAft>
            </a:pPr>
            <a:r>
              <a:rPr sz="1400" b="0" i="0">
                <a:solidFill>
                  <a:srgbClr val="1A2B3C"/>
                </a:solidFill>
                <a:latin typeface="Arial"/>
              </a:rPr>
              <a:t>■  Cite the regulation behind each safe-work rule</a:t>
            </a:r>
          </a:p>
        </p:txBody>
      </p:sp>
      <p:sp>
        <p:nvSpPr>
          <p:cNvPr id="12" name="Rounded Rectangle 11"/>
          <p:cNvSpPr/>
          <p:nvPr/>
        </p:nvSpPr>
        <p:spPr>
          <a:xfrm>
            <a:off x="6309359" y="1783080"/>
            <a:ext cx="5349240" cy="4297680"/>
          </a:xfrm>
          <a:prstGeom prst="roundRect">
            <a:avLst/>
          </a:prstGeom>
          <a:solidFill>
            <a:srgbClr val="EEF2F7"/>
          </a:solidFill>
          <a:ln w="12700">
            <a:solidFill>
              <a:srgbClr val="CF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09359" y="1783080"/>
            <a:ext cx="5349240" cy="566928"/>
          </a:xfrm>
          <a:prstGeom prst="roundRect">
            <a:avLst/>
          </a:prstGeom>
          <a:solidFill>
            <a:srgbClr val="3A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59" y="2066543"/>
            <a:ext cx="5349240" cy="283464"/>
          </a:xfrm>
          <a:prstGeom prst="rect">
            <a:avLst/>
          </a:prstGeom>
          <a:solidFill>
            <a:srgbClr val="3A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37959" y="1837943"/>
            <a:ext cx="4892040" cy="475488"/>
          </a:xfrm>
          <a:prstGeom prst="rect">
            <a:avLst/>
          </a:prstGeom>
          <a:noFill/>
        </p:spPr>
        <p:txBody>
          <a:bodyPr wrap="square" anchor="ctr" lIns="0" rIns="0" tIns="0" bIns="0">
            <a:spAutoFit/>
          </a:bodyPr>
          <a:lstStyle/>
          <a:p>
            <a:pPr algn="l">
              <a:lnSpc>
                <a:spcPct val="105000"/>
              </a:lnSpc>
              <a:spcBef>
                <a:spcPts val="400"/>
              </a:spcBef>
              <a:spcAft>
                <a:spcPts val="400"/>
              </a:spcAft>
            </a:pPr>
            <a:r>
              <a:rPr sz="1600" b="1" i="0">
                <a:solidFill>
                  <a:srgbClr val="FFFFFF"/>
                </a:solidFill>
                <a:latin typeface="Arial"/>
              </a:rPr>
              <a:t>How the material is structured</a:t>
            </a:r>
          </a:p>
        </p:txBody>
      </p:sp>
      <p:sp>
        <p:nvSpPr>
          <p:cNvPr id="16" name="TextBox 15"/>
          <p:cNvSpPr txBox="1"/>
          <p:nvPr/>
        </p:nvSpPr>
        <p:spPr>
          <a:xfrm>
            <a:off x="6583679" y="2514600"/>
            <a:ext cx="4800600" cy="3383280"/>
          </a:xfrm>
          <a:prstGeom prst="rect">
            <a:avLst/>
          </a:prstGeom>
          <a:noFill/>
        </p:spPr>
        <p:txBody>
          <a:bodyPr wrap="square" anchor="t" lIns="0" rIns="0" tIns="0" bIns="0">
            <a:spAutoFit/>
          </a:bodyPr>
          <a:lstStyle/>
          <a:p>
            <a:pPr algn="l">
              <a:lnSpc>
                <a:spcPct val="103000"/>
              </a:lnSpc>
              <a:spcBef>
                <a:spcPts val="500"/>
              </a:spcBef>
              <a:spcAft>
                <a:spcPts val="200"/>
              </a:spcAft>
            </a:pPr>
            <a:r>
              <a:rPr sz="1400" b="0" i="0">
                <a:solidFill>
                  <a:srgbClr val="1A2B3C"/>
                </a:solidFill>
                <a:latin typeface="Arial"/>
              </a:rPr>
              <a:t>■  Theory first — you cannot work safely on what you don't understand</a:t>
            </a:r>
          </a:p>
          <a:p>
            <a:pPr algn="l">
              <a:lnSpc>
                <a:spcPct val="103000"/>
              </a:lnSpc>
              <a:spcBef>
                <a:spcPts val="500"/>
              </a:spcBef>
              <a:spcAft>
                <a:spcPts val="200"/>
              </a:spcAft>
            </a:pPr>
            <a:r>
              <a:rPr sz="1400" b="0" i="0">
                <a:solidFill>
                  <a:srgbClr val="1A2B3C"/>
                </a:solidFill>
                <a:latin typeface="Arial"/>
              </a:rPr>
              <a:t>■  Each hazard is paired with its control</a:t>
            </a:r>
          </a:p>
          <a:p>
            <a:pPr algn="l" lvl="1">
              <a:lnSpc>
                <a:spcPct val="100000"/>
              </a:lnSpc>
              <a:spcBef>
                <a:spcPts val="100"/>
              </a:spcBef>
              <a:spcAft>
                <a:spcPts val="100"/>
              </a:spcAft>
            </a:pPr>
            <a:r>
              <a:rPr sz="1250" b="0" i="0">
                <a:solidFill>
                  <a:srgbClr val="5B6B7B"/>
                </a:solidFill>
                <a:latin typeface="Arial"/>
              </a:rPr>
              <a:t>–  Recognize → isolate → protect → verify</a:t>
            </a:r>
          </a:p>
          <a:p>
            <a:pPr algn="l">
              <a:lnSpc>
                <a:spcPct val="103000"/>
              </a:lnSpc>
              <a:spcBef>
                <a:spcPts val="500"/>
              </a:spcBef>
              <a:spcAft>
                <a:spcPts val="200"/>
              </a:spcAft>
            </a:pPr>
            <a:r>
              <a:rPr sz="1400" b="0" i="0">
                <a:solidFill>
                  <a:srgbClr val="1A2B3C"/>
                </a:solidFill>
                <a:latin typeface="Arial"/>
              </a:rPr>
              <a:t>■  DANGER / WARNING / BEST-PRACTICE call-outs flag the must-knows</a:t>
            </a:r>
          </a:p>
          <a:p>
            <a:pPr algn="l">
              <a:lnSpc>
                <a:spcPct val="103000"/>
              </a:lnSpc>
              <a:spcBef>
                <a:spcPts val="500"/>
              </a:spcBef>
              <a:spcAft>
                <a:spcPts val="200"/>
              </a:spcAft>
            </a:pPr>
            <a:r>
              <a:rPr sz="1400" b="0" i="0">
                <a:solidFill>
                  <a:srgbClr val="1A2B3C"/>
                </a:solidFill>
                <a:latin typeface="Arial"/>
              </a:rPr>
              <a:t>■  Tables summarize numbers you will use on the job</a:t>
            </a:r>
          </a:p>
          <a:p>
            <a:pPr algn="l">
              <a:lnSpc>
                <a:spcPct val="103000"/>
              </a:lnSpc>
              <a:spcBef>
                <a:spcPts val="500"/>
              </a:spcBef>
              <a:spcAft>
                <a:spcPts val="200"/>
              </a:spcAft>
            </a:pPr>
            <a:r>
              <a:rPr sz="1400" b="0" i="0">
                <a:solidFill>
                  <a:srgbClr val="1A2B3C"/>
                </a:solidFill>
                <a:latin typeface="Arial"/>
              </a:rPr>
              <a:t>■  Discuss every slide as a crew — this is a conversation, not a lecture</a:t>
            </a:r>
          </a:p>
        </p:txBody>
      </p:sp>
      <p:sp>
        <p:nvSpPr>
          <p:cNvPr id="17" name="Rectangle 16"/>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Course Overview</a:t>
            </a:r>
          </a:p>
        </p:txBody>
      </p:sp>
      <p:sp>
        <p:nvSpPr>
          <p:cNvPr id="19" name="TextBox 18"/>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THE STAKES</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Why This Training Exists</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45920"/>
            <a:ext cx="10881360" cy="502920"/>
          </a:xfrm>
          <a:prstGeom prst="rect">
            <a:avLst/>
          </a:prstGeom>
          <a:noFill/>
        </p:spPr>
        <p:txBody>
          <a:bodyPr wrap="square" anchor="t" lIns="0" rIns="0" tIns="0" bIns="0">
            <a:spAutoFit/>
          </a:bodyPr>
          <a:lstStyle/>
          <a:p>
            <a:pPr algn="l">
              <a:lnSpc>
                <a:spcPct val="105000"/>
              </a:lnSpc>
              <a:spcBef>
                <a:spcPts val="400"/>
              </a:spcBef>
              <a:spcAft>
                <a:spcPts val="400"/>
              </a:spcAft>
            </a:pPr>
            <a:r>
              <a:rPr sz="1500" b="0" i="1">
                <a:solidFill>
                  <a:srgbClr val="5B6B7B"/>
                </a:solidFill>
                <a:latin typeface="Arial"/>
              </a:rPr>
              <a:t>Line work is among the most hazardous trades in the country — and almost every incident traces back to a missed fundamental.</a:t>
            </a:r>
          </a:p>
        </p:txBody>
      </p:sp>
      <p:sp>
        <p:nvSpPr>
          <p:cNvPr id="8" name="Rounded Rectangle 7"/>
          <p:cNvSpPr/>
          <p:nvPr/>
        </p:nvSpPr>
        <p:spPr>
          <a:xfrm>
            <a:off x="640080" y="2331720"/>
            <a:ext cx="2521458" cy="2286000"/>
          </a:xfrm>
          <a:prstGeom prst="roundRect">
            <a:avLst/>
          </a:prstGeom>
          <a:solidFill>
            <a:srgbClr val="0B2545"/>
          </a:solidFill>
          <a:ln w="12700">
            <a:solidFill>
              <a:srgbClr val="CF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40080" y="2331720"/>
            <a:ext cx="2521458" cy="109728"/>
          </a:xfrm>
          <a:prstGeom prst="round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51760"/>
            <a:ext cx="2247138" cy="1828800"/>
          </a:xfrm>
          <a:prstGeom prst="rect">
            <a:avLst/>
          </a:prstGeom>
          <a:noFill/>
        </p:spPr>
        <p:txBody>
          <a:bodyPr wrap="square" anchor="ctr" lIns="0" rIns="0" tIns="0" bIns="0">
            <a:spAutoFit/>
          </a:bodyPr>
          <a:lstStyle/>
          <a:p>
            <a:pPr algn="ctr">
              <a:lnSpc>
                <a:spcPct val="95000"/>
              </a:lnSpc>
              <a:spcBef>
                <a:spcPts val="400"/>
              </a:spcBef>
              <a:spcAft>
                <a:spcPts val="400"/>
              </a:spcAft>
            </a:pPr>
            <a:r>
              <a:rPr sz="4000" b="1" i="0">
                <a:solidFill>
                  <a:srgbClr val="F5B100"/>
                </a:solidFill>
                <a:latin typeface="Arial"/>
              </a:rPr>
              <a:t>#1</a:t>
            </a:r>
          </a:p>
          <a:p>
            <a:pPr algn="ctr">
              <a:lnSpc>
                <a:spcPct val="105000"/>
              </a:lnSpc>
              <a:spcBef>
                <a:spcPts val="400"/>
              </a:spcBef>
              <a:spcAft>
                <a:spcPts val="400"/>
              </a:spcAft>
            </a:pPr>
            <a:r>
              <a:rPr sz="1300" b="0" i="0">
                <a:solidFill>
                  <a:srgbClr val="FFFFFF"/>
                </a:solidFill>
                <a:latin typeface="Arial"/>
              </a:rPr>
              <a:t>Electrocution is a leading cause of lineworker fatalities</a:t>
            </a:r>
          </a:p>
        </p:txBody>
      </p:sp>
      <p:sp>
        <p:nvSpPr>
          <p:cNvPr id="11" name="Rounded Rectangle 10"/>
          <p:cNvSpPr/>
          <p:nvPr/>
        </p:nvSpPr>
        <p:spPr>
          <a:xfrm>
            <a:off x="3435857" y="2331720"/>
            <a:ext cx="2521458" cy="2286000"/>
          </a:xfrm>
          <a:prstGeom prst="roundRect">
            <a:avLst/>
          </a:prstGeom>
          <a:solidFill>
            <a:srgbClr val="0B2545"/>
          </a:solidFill>
          <a:ln w="12700">
            <a:solidFill>
              <a:srgbClr val="CF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435857" y="2331720"/>
            <a:ext cx="2521458" cy="109728"/>
          </a:xfrm>
          <a:prstGeom prst="round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73017" y="2651760"/>
            <a:ext cx="2247138" cy="1828800"/>
          </a:xfrm>
          <a:prstGeom prst="rect">
            <a:avLst/>
          </a:prstGeom>
          <a:noFill/>
        </p:spPr>
        <p:txBody>
          <a:bodyPr wrap="square" anchor="ctr" lIns="0" rIns="0" tIns="0" bIns="0">
            <a:spAutoFit/>
          </a:bodyPr>
          <a:lstStyle/>
          <a:p>
            <a:pPr algn="ctr">
              <a:lnSpc>
                <a:spcPct val="95000"/>
              </a:lnSpc>
              <a:spcBef>
                <a:spcPts val="400"/>
              </a:spcBef>
              <a:spcAft>
                <a:spcPts val="400"/>
              </a:spcAft>
            </a:pPr>
            <a:r>
              <a:rPr sz="4000" b="1" i="0">
                <a:solidFill>
                  <a:srgbClr val="F5B100"/>
                </a:solidFill>
                <a:latin typeface="Arial"/>
              </a:rPr>
              <a:t>50 V</a:t>
            </a:r>
          </a:p>
          <a:p>
            <a:pPr algn="ctr">
              <a:lnSpc>
                <a:spcPct val="105000"/>
              </a:lnSpc>
              <a:spcBef>
                <a:spcPts val="400"/>
              </a:spcBef>
              <a:spcAft>
                <a:spcPts val="400"/>
              </a:spcAft>
            </a:pPr>
            <a:r>
              <a:rPr sz="1300" b="0" i="0">
                <a:solidFill>
                  <a:srgbClr val="FFFFFF"/>
                </a:solidFill>
                <a:latin typeface="Arial"/>
              </a:rPr>
              <a:t>Can be enough to be lethal under the right conditions</a:t>
            </a:r>
          </a:p>
        </p:txBody>
      </p:sp>
      <p:sp>
        <p:nvSpPr>
          <p:cNvPr id="14" name="Rounded Rectangle 13"/>
          <p:cNvSpPr/>
          <p:nvPr/>
        </p:nvSpPr>
        <p:spPr>
          <a:xfrm>
            <a:off x="6231636" y="2331720"/>
            <a:ext cx="2521458" cy="2286000"/>
          </a:xfrm>
          <a:prstGeom prst="roundRect">
            <a:avLst/>
          </a:prstGeom>
          <a:solidFill>
            <a:srgbClr val="0B2545"/>
          </a:solidFill>
          <a:ln w="12700">
            <a:solidFill>
              <a:srgbClr val="CF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31636" y="2331720"/>
            <a:ext cx="2521458" cy="109728"/>
          </a:xfrm>
          <a:prstGeom prst="round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68796" y="2651760"/>
            <a:ext cx="2247138" cy="1828800"/>
          </a:xfrm>
          <a:prstGeom prst="rect">
            <a:avLst/>
          </a:prstGeom>
          <a:noFill/>
        </p:spPr>
        <p:txBody>
          <a:bodyPr wrap="square" anchor="ctr" lIns="0" rIns="0" tIns="0" bIns="0">
            <a:spAutoFit/>
          </a:bodyPr>
          <a:lstStyle/>
          <a:p>
            <a:pPr algn="ctr">
              <a:lnSpc>
                <a:spcPct val="95000"/>
              </a:lnSpc>
              <a:spcBef>
                <a:spcPts val="400"/>
              </a:spcBef>
              <a:spcAft>
                <a:spcPts val="400"/>
              </a:spcAft>
            </a:pPr>
            <a:r>
              <a:rPr sz="4000" b="1" i="0">
                <a:solidFill>
                  <a:srgbClr val="F5B100"/>
                </a:solidFill>
                <a:latin typeface="Arial"/>
              </a:rPr>
              <a:t>0.1 s</a:t>
            </a:r>
          </a:p>
          <a:p>
            <a:pPr algn="ctr">
              <a:lnSpc>
                <a:spcPct val="105000"/>
              </a:lnSpc>
              <a:spcBef>
                <a:spcPts val="400"/>
              </a:spcBef>
              <a:spcAft>
                <a:spcPts val="400"/>
              </a:spcAft>
            </a:pPr>
            <a:r>
              <a:rPr sz="1300" b="0" i="0">
                <a:solidFill>
                  <a:srgbClr val="FFFFFF"/>
                </a:solidFill>
                <a:latin typeface="Arial"/>
              </a:rPr>
              <a:t>A fault can evolve to an arc-flash in a fraction of a second</a:t>
            </a:r>
          </a:p>
        </p:txBody>
      </p:sp>
      <p:sp>
        <p:nvSpPr>
          <p:cNvPr id="17" name="Rounded Rectangle 16"/>
          <p:cNvSpPr/>
          <p:nvPr/>
        </p:nvSpPr>
        <p:spPr>
          <a:xfrm>
            <a:off x="9027413" y="2331720"/>
            <a:ext cx="2521458" cy="2286000"/>
          </a:xfrm>
          <a:prstGeom prst="roundRect">
            <a:avLst/>
          </a:prstGeom>
          <a:solidFill>
            <a:srgbClr val="0B2545"/>
          </a:solidFill>
          <a:ln w="12700">
            <a:solidFill>
              <a:srgbClr val="CF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027413" y="2331720"/>
            <a:ext cx="2521458" cy="109728"/>
          </a:xfrm>
          <a:prstGeom prst="round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64574" y="2651760"/>
            <a:ext cx="2247138" cy="1828800"/>
          </a:xfrm>
          <a:prstGeom prst="rect">
            <a:avLst/>
          </a:prstGeom>
          <a:noFill/>
        </p:spPr>
        <p:txBody>
          <a:bodyPr wrap="square" anchor="ctr" lIns="0" rIns="0" tIns="0" bIns="0">
            <a:spAutoFit/>
          </a:bodyPr>
          <a:lstStyle/>
          <a:p>
            <a:pPr algn="ctr">
              <a:lnSpc>
                <a:spcPct val="95000"/>
              </a:lnSpc>
              <a:spcBef>
                <a:spcPts val="400"/>
              </a:spcBef>
              <a:spcAft>
                <a:spcPts val="400"/>
              </a:spcAft>
            </a:pPr>
            <a:r>
              <a:rPr sz="4000" b="1" i="0">
                <a:solidFill>
                  <a:srgbClr val="F5B100"/>
                </a:solidFill>
                <a:latin typeface="Arial"/>
              </a:rPr>
              <a:t>100%</a:t>
            </a:r>
          </a:p>
          <a:p>
            <a:pPr algn="ctr">
              <a:lnSpc>
                <a:spcPct val="105000"/>
              </a:lnSpc>
              <a:spcBef>
                <a:spcPts val="400"/>
              </a:spcBef>
              <a:spcAft>
                <a:spcPts val="400"/>
              </a:spcAft>
            </a:pPr>
            <a:r>
              <a:rPr sz="1300" b="0" i="0">
                <a:solidFill>
                  <a:srgbClr val="FFFFFF"/>
                </a:solidFill>
                <a:latin typeface="Arial"/>
              </a:rPr>
              <a:t>Of electrical contacts are preventable with the right controls</a:t>
            </a:r>
          </a:p>
        </p:txBody>
      </p:sp>
      <p:sp>
        <p:nvSpPr>
          <p:cNvPr id="20" name="TextBox 19"/>
          <p:cNvSpPr txBox="1"/>
          <p:nvPr/>
        </p:nvSpPr>
        <p:spPr>
          <a:xfrm>
            <a:off x="658368" y="4892040"/>
            <a:ext cx="10881360" cy="1280160"/>
          </a:xfrm>
          <a:prstGeom prst="rect">
            <a:avLst/>
          </a:prstGeom>
          <a:noFill/>
        </p:spPr>
        <p:txBody>
          <a:bodyPr wrap="square" anchor="t" lIns="0" rIns="0" tIns="0" bIns="0">
            <a:spAutoFit/>
          </a:bodyPr>
          <a:lstStyle/>
          <a:p>
            <a:pPr algn="l">
              <a:lnSpc>
                <a:spcPct val="120000"/>
              </a:lnSpc>
              <a:spcBef>
                <a:spcPts val="400"/>
              </a:spcBef>
              <a:spcAft>
                <a:spcPts val="400"/>
              </a:spcAft>
            </a:pPr>
            <a:r>
              <a:rPr sz="1400" b="0" i="0">
                <a:solidFill>
                  <a:srgbClr val="1A2B3C"/>
                </a:solidFill>
                <a:latin typeface="Arial"/>
              </a:rPr>
              <a:t>These numbers are not here to scare you — they are here to remind you that the disciplines in this course are written in other workers' experience. Every rule has a reason. The goal of this training is simple: everyone goes home, every day.</a:t>
            </a:r>
          </a:p>
        </p:txBody>
      </p:sp>
      <p:sp>
        <p:nvSpPr>
          <p:cNvPr id="21" name="Rectangle 20"/>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Course Overview</a:t>
            </a:r>
          </a:p>
        </p:txBody>
      </p:sp>
      <p:sp>
        <p:nvSpPr>
          <p:cNvPr id="23" name="TextBox 22"/>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a:gsLst>
              <a:gs pos="0">
                <a:srgbClr val="0B2545"/>
              </a:gs>
              <a:gs pos="100000">
                <a:srgbClr val="071830"/>
              </a:gs>
            </a:gsLst>
            <a:lin ang="27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371600"/>
            <a:ext cx="3840480" cy="2926080"/>
          </a:xfrm>
          <a:prstGeom prst="rect">
            <a:avLst/>
          </a:prstGeom>
          <a:noFill/>
        </p:spPr>
        <p:txBody>
          <a:bodyPr wrap="square" anchor="ctr" lIns="0" rIns="0" tIns="0" bIns="0">
            <a:spAutoFit/>
          </a:bodyPr>
          <a:lstStyle/>
          <a:p>
            <a:pPr algn="l">
              <a:lnSpc>
                <a:spcPct val="105000"/>
              </a:lnSpc>
              <a:spcBef>
                <a:spcPts val="400"/>
              </a:spcBef>
              <a:spcAft>
                <a:spcPts val="0"/>
              </a:spcAft>
            </a:pPr>
            <a:r>
              <a:rPr sz="1800" b="1" i="0">
                <a:solidFill>
                  <a:srgbClr val="F5B100"/>
                </a:solidFill>
                <a:latin typeface="Arial"/>
              </a:rPr>
              <a:t>MODULE</a:t>
            </a:r>
          </a:p>
          <a:p>
            <a:pPr algn="l">
              <a:lnSpc>
                <a:spcPct val="90000"/>
              </a:lnSpc>
              <a:spcBef>
                <a:spcPts val="0"/>
              </a:spcBef>
              <a:spcAft>
                <a:spcPts val="400"/>
              </a:spcAft>
            </a:pPr>
            <a:r>
              <a:rPr sz="15000" b="1" i="0">
                <a:solidFill>
                  <a:srgbClr val="FFFFFF"/>
                </a:solidFill>
                <a:latin typeface="Arial"/>
              </a:rPr>
              <a:t>1</a:t>
            </a:r>
          </a:p>
        </p:txBody>
      </p:sp>
      <p:sp>
        <p:nvSpPr>
          <p:cNvPr id="5" name="Rectangle 4"/>
          <p:cNvSpPr/>
          <p:nvPr/>
        </p:nvSpPr>
        <p:spPr>
          <a:xfrm>
            <a:off x="4800600" y="1554480"/>
            <a:ext cx="36576" cy="3657600"/>
          </a:xfrm>
          <a:prstGeom prst="rect">
            <a:avLst/>
          </a:prstGeom>
          <a:solidFill>
            <a:srgbClr val="2A47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12080" y="1691640"/>
            <a:ext cx="6400800" cy="1463040"/>
          </a:xfrm>
          <a:prstGeom prst="rect">
            <a:avLst/>
          </a:prstGeom>
          <a:noFill/>
        </p:spPr>
        <p:txBody>
          <a:bodyPr wrap="square" anchor="t" lIns="0" rIns="0" tIns="0" bIns="0">
            <a:spAutoFit/>
          </a:bodyPr>
          <a:lstStyle/>
          <a:p>
            <a:pPr algn="l">
              <a:lnSpc>
                <a:spcPct val="100000"/>
              </a:lnSpc>
              <a:spcBef>
                <a:spcPts val="400"/>
              </a:spcBef>
              <a:spcAft>
                <a:spcPts val="400"/>
              </a:spcAft>
            </a:pPr>
            <a:r>
              <a:rPr sz="3400" b="1" i="0">
                <a:solidFill>
                  <a:srgbClr val="FFFFFF"/>
                </a:solidFill>
                <a:latin typeface="Arial"/>
              </a:rPr>
              <a:t>Electrical Theory Fundamentals</a:t>
            </a:r>
          </a:p>
        </p:txBody>
      </p:sp>
      <p:sp>
        <p:nvSpPr>
          <p:cNvPr id="7" name="Rectangle 6"/>
          <p:cNvSpPr/>
          <p:nvPr/>
        </p:nvSpPr>
        <p:spPr>
          <a:xfrm>
            <a:off x="5230368" y="3063240"/>
            <a:ext cx="1371600" cy="4572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212080" y="3337560"/>
            <a:ext cx="6400800" cy="2926080"/>
          </a:xfrm>
          <a:prstGeom prst="rect">
            <a:avLst/>
          </a:prstGeom>
          <a:noFill/>
        </p:spPr>
        <p:txBody>
          <a:bodyPr wrap="square" anchor="t" lIns="0" rIns="0" tIns="0" bIns="0">
            <a:spAutoFit/>
          </a:bodyPr>
          <a:lstStyle/>
          <a:p>
            <a:pPr algn="l">
              <a:lnSpc>
                <a:spcPct val="105000"/>
              </a:lnSpc>
              <a:spcBef>
                <a:spcPts val="600"/>
              </a:spcBef>
              <a:spcAft>
                <a:spcPts val="600"/>
              </a:spcAft>
            </a:pPr>
            <a:r>
              <a:rPr sz="1600" b="0" i="0">
                <a:solidFill>
                  <a:srgbClr val="CFDCEC"/>
                </a:solidFill>
                <a:latin typeface="Arial"/>
              </a:rPr>
              <a:t>—  What electricity actually is</a:t>
            </a:r>
          </a:p>
          <a:p>
            <a:pPr algn="l">
              <a:lnSpc>
                <a:spcPct val="105000"/>
              </a:lnSpc>
              <a:spcBef>
                <a:spcPts val="600"/>
              </a:spcBef>
              <a:spcAft>
                <a:spcPts val="600"/>
              </a:spcAft>
            </a:pPr>
            <a:r>
              <a:rPr sz="1600" b="0" i="0">
                <a:solidFill>
                  <a:srgbClr val="CFDCEC"/>
                </a:solidFill>
                <a:latin typeface="Arial"/>
              </a:rPr>
              <a:t>—  Voltage, current, resistance &amp; power</a:t>
            </a:r>
          </a:p>
          <a:p>
            <a:pPr algn="l">
              <a:lnSpc>
                <a:spcPct val="105000"/>
              </a:lnSpc>
              <a:spcBef>
                <a:spcPts val="600"/>
              </a:spcBef>
              <a:spcAft>
                <a:spcPts val="600"/>
              </a:spcAft>
            </a:pPr>
            <a:r>
              <a:rPr sz="1600" b="0" i="0">
                <a:solidFill>
                  <a:srgbClr val="CFDCEC"/>
                </a:solidFill>
                <a:latin typeface="Arial"/>
              </a:rPr>
              <a:t>—  AC vs DC and three-phase systems</a:t>
            </a:r>
          </a:p>
          <a:p>
            <a:pPr algn="l">
              <a:lnSpc>
                <a:spcPct val="105000"/>
              </a:lnSpc>
              <a:spcBef>
                <a:spcPts val="600"/>
              </a:spcBef>
              <a:spcAft>
                <a:spcPts val="600"/>
              </a:spcAft>
            </a:pPr>
            <a:r>
              <a:rPr sz="1600" b="0" i="0">
                <a:solidFill>
                  <a:srgbClr val="CFDCEC"/>
                </a:solidFill>
                <a:latin typeface="Arial"/>
              </a:rPr>
              <a:t>—  Transformers and the grid</a:t>
            </a:r>
          </a:p>
          <a:p>
            <a:pPr algn="l">
              <a:lnSpc>
                <a:spcPct val="105000"/>
              </a:lnSpc>
              <a:spcBef>
                <a:spcPts val="600"/>
              </a:spcBef>
              <a:spcAft>
                <a:spcPts val="600"/>
              </a:spcAft>
            </a:pPr>
            <a:r>
              <a:rPr sz="1600" b="0" i="0">
                <a:solidFill>
                  <a:srgbClr val="CFDCEC"/>
                </a:solidFill>
                <a:latin typeface="Arial"/>
              </a:rPr>
              <a:t>—  Voltage classes you will encounter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1.1 FIRST PRINCIPLES</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What Is Electricity?</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27632"/>
            <a:ext cx="10881360" cy="548640"/>
          </a:xfrm>
          <a:prstGeom prst="rect">
            <a:avLst/>
          </a:prstGeom>
          <a:noFill/>
        </p:spPr>
        <p:txBody>
          <a:bodyPr wrap="square" anchor="t" lIns="0" rIns="0" tIns="0" bIns="0">
            <a:spAutoFit/>
          </a:bodyPr>
          <a:lstStyle/>
          <a:p>
            <a:pPr algn="l">
              <a:lnSpc>
                <a:spcPct val="105000"/>
              </a:lnSpc>
              <a:spcBef>
                <a:spcPts val="400"/>
              </a:spcBef>
              <a:spcAft>
                <a:spcPts val="400"/>
              </a:spcAft>
            </a:pPr>
            <a:r>
              <a:rPr sz="1550" b="0" i="1">
                <a:solidFill>
                  <a:srgbClr val="5B6B7B"/>
                </a:solidFill>
                <a:latin typeface="Arial"/>
              </a:rPr>
              <a:t>Before any rule makes sense, you have to know what is moving in the wire — and why it wants to get to ground.</a:t>
            </a:r>
          </a:p>
        </p:txBody>
      </p:sp>
      <p:sp>
        <p:nvSpPr>
          <p:cNvPr id="8" name="TextBox 7"/>
          <p:cNvSpPr txBox="1"/>
          <p:nvPr/>
        </p:nvSpPr>
        <p:spPr>
          <a:xfrm>
            <a:off x="658368" y="2240280"/>
            <a:ext cx="10927080" cy="3703320"/>
          </a:xfrm>
          <a:prstGeom prst="rect">
            <a:avLst/>
          </a:prstGeom>
          <a:noFill/>
        </p:spPr>
        <p:txBody>
          <a:bodyPr wrap="square" anchor="t" lIns="0" rIns="0" tIns="0" bIns="0">
            <a:spAutoFit/>
          </a:bodyPr>
          <a:lstStyle/>
          <a:p>
            <a:pPr algn="l">
              <a:lnSpc>
                <a:spcPct val="105000"/>
              </a:lnSpc>
              <a:spcBef>
                <a:spcPts val="700"/>
              </a:spcBef>
              <a:spcAft>
                <a:spcPts val="200"/>
              </a:spcAft>
            </a:pPr>
            <a:r>
              <a:rPr sz="1800" b="0" i="0">
                <a:solidFill>
                  <a:srgbClr val="1A2B3C"/>
                </a:solidFill>
                <a:latin typeface="Arial"/>
              </a:rPr>
              <a:t>■  All matter is built from atoms; atoms contain protons (+), neutrons (0) and electrons (–)</a:t>
            </a:r>
          </a:p>
          <a:p>
            <a:pPr algn="l">
              <a:lnSpc>
                <a:spcPct val="105000"/>
              </a:lnSpc>
              <a:spcBef>
                <a:spcPts val="700"/>
              </a:spcBef>
              <a:spcAft>
                <a:spcPts val="200"/>
              </a:spcAft>
            </a:pPr>
            <a:r>
              <a:rPr sz="1800" b="0" i="0">
                <a:solidFill>
                  <a:srgbClr val="1A2B3C"/>
                </a:solidFill>
                <a:latin typeface="Arial"/>
              </a:rPr>
              <a:t>■  Electricity is the movement of electrons — specifically the flow of electric charge</a:t>
            </a:r>
          </a:p>
          <a:p>
            <a:pPr algn="l" lvl="1">
              <a:lnSpc>
                <a:spcPct val="103000"/>
              </a:lnSpc>
              <a:spcBef>
                <a:spcPts val="200"/>
              </a:spcBef>
              <a:spcAft>
                <a:spcPts val="200"/>
              </a:spcAft>
            </a:pPr>
            <a:r>
              <a:rPr sz="1500" b="0" i="0">
                <a:solidFill>
                  <a:srgbClr val="334455"/>
                </a:solidFill>
                <a:latin typeface="Arial"/>
              </a:rPr>
              <a:t>–  In conductors, outer (“free”) electrons drift from atom to atom</a:t>
            </a:r>
          </a:p>
          <a:p>
            <a:pPr algn="l" lvl="1">
              <a:lnSpc>
                <a:spcPct val="103000"/>
              </a:lnSpc>
              <a:spcBef>
                <a:spcPts val="200"/>
              </a:spcBef>
              <a:spcAft>
                <a:spcPts val="200"/>
              </a:spcAft>
            </a:pPr>
            <a:r>
              <a:rPr sz="1500" b="0" i="0">
                <a:solidFill>
                  <a:srgbClr val="334455"/>
                </a:solidFill>
                <a:latin typeface="Arial"/>
              </a:rPr>
              <a:t>–  That organized drift, driven by a difference in charge, is electric current</a:t>
            </a:r>
          </a:p>
          <a:p>
            <a:pPr algn="l">
              <a:lnSpc>
                <a:spcPct val="105000"/>
              </a:lnSpc>
              <a:spcBef>
                <a:spcPts val="700"/>
              </a:spcBef>
              <a:spcAft>
                <a:spcPts val="200"/>
              </a:spcAft>
            </a:pPr>
            <a:r>
              <a:rPr sz="1800" b="0" i="0">
                <a:solidFill>
                  <a:srgbClr val="1A2B3C"/>
                </a:solidFill>
                <a:latin typeface="Arial"/>
              </a:rPr>
              <a:t>■  Two ways to talk about flow direction:</a:t>
            </a:r>
          </a:p>
          <a:p>
            <a:pPr algn="l" lvl="1">
              <a:lnSpc>
                <a:spcPct val="103000"/>
              </a:lnSpc>
              <a:spcBef>
                <a:spcPts val="200"/>
              </a:spcBef>
              <a:spcAft>
                <a:spcPts val="200"/>
              </a:spcAft>
            </a:pPr>
            <a:r>
              <a:rPr sz="1500" b="0" i="0">
                <a:solidFill>
                  <a:srgbClr val="334455"/>
                </a:solidFill>
                <a:latin typeface="Arial"/>
              </a:rPr>
              <a:t>–  Conventional current: + to – (the convention used on prints and in formulas)</a:t>
            </a:r>
          </a:p>
          <a:p>
            <a:pPr algn="l" lvl="1">
              <a:lnSpc>
                <a:spcPct val="103000"/>
              </a:lnSpc>
              <a:spcBef>
                <a:spcPts val="200"/>
              </a:spcBef>
              <a:spcAft>
                <a:spcPts val="200"/>
              </a:spcAft>
            </a:pPr>
            <a:r>
              <a:rPr sz="1500" b="0" i="0">
                <a:solidFill>
                  <a:srgbClr val="334455"/>
                </a:solidFill>
                <a:latin typeface="Arial"/>
              </a:rPr>
              <a:t>–  Electron flow: – to + (the physical reality)</a:t>
            </a:r>
          </a:p>
          <a:p>
            <a:pPr algn="l">
              <a:lnSpc>
                <a:spcPct val="105000"/>
              </a:lnSpc>
              <a:spcBef>
                <a:spcPts val="700"/>
              </a:spcBef>
              <a:spcAft>
                <a:spcPts val="200"/>
              </a:spcAft>
            </a:pPr>
            <a:r>
              <a:rPr sz="1800" b="0" i="0">
                <a:solidFill>
                  <a:srgbClr val="1A2B3C"/>
                </a:solidFill>
                <a:latin typeface="Arial"/>
              </a:rPr>
              <a:t>■  Electricity always seeks to return to its source and will take every available path to ground</a:t>
            </a:r>
          </a:p>
          <a:p>
            <a:pPr algn="l" lvl="1">
              <a:lnSpc>
                <a:spcPct val="103000"/>
              </a:lnSpc>
              <a:spcBef>
                <a:spcPts val="200"/>
              </a:spcBef>
              <a:spcAft>
                <a:spcPts val="200"/>
              </a:spcAft>
            </a:pPr>
            <a:r>
              <a:rPr sz="1500" b="0" i="0">
                <a:solidFill>
                  <a:srgbClr val="334455"/>
                </a:solidFill>
                <a:latin typeface="Arial"/>
              </a:rPr>
              <a:t>–  It does not “prefer” the easiest path — it uses ALL paths in proportion to their conductance</a:t>
            </a:r>
          </a:p>
          <a:p>
            <a:pPr algn="l" lvl="1">
              <a:lnSpc>
                <a:spcPct val="103000"/>
              </a:lnSpc>
              <a:spcBef>
                <a:spcPts val="200"/>
              </a:spcBef>
              <a:spcAft>
                <a:spcPts val="200"/>
              </a:spcAft>
            </a:pPr>
            <a:r>
              <a:rPr sz="1500" b="0" i="0">
                <a:solidFill>
                  <a:srgbClr val="334455"/>
                </a:solidFill>
                <a:latin typeface="Arial"/>
              </a:rPr>
              <a:t>–  Your body can be one of those paths</a:t>
            </a:r>
          </a:p>
        </p:txBody>
      </p:sp>
      <p:sp>
        <p:nvSpPr>
          <p:cNvPr id="9" name="Rectangle 8"/>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1 — Electrical Theory</a:t>
            </a:r>
          </a:p>
        </p:txBody>
      </p:sp>
      <p:sp>
        <p:nvSpPr>
          <p:cNvPr id="11" name="TextBox 10"/>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1.2 MATERIALS</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Conductors, Insulators &amp; Semiconductors</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783080"/>
            <a:ext cx="5349240" cy="4297680"/>
          </a:xfrm>
          <a:prstGeom prst="roundRect">
            <a:avLst/>
          </a:prstGeom>
          <a:solidFill>
            <a:srgbClr val="EEF2F7"/>
          </a:solidFill>
          <a:ln w="12700">
            <a:solidFill>
              <a:srgbClr val="CF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40080" y="1783080"/>
            <a:ext cx="5349240" cy="566928"/>
          </a:xfrm>
          <a:prstGeom prst="roundRect">
            <a:avLst/>
          </a:prstGeom>
          <a:solidFill>
            <a:srgbClr val="D43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2066543"/>
            <a:ext cx="5349240" cy="283464"/>
          </a:xfrm>
          <a:prstGeom prst="rect">
            <a:avLst/>
          </a:prstGeom>
          <a:solidFill>
            <a:srgbClr val="D43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1837943"/>
            <a:ext cx="4892040" cy="475488"/>
          </a:xfrm>
          <a:prstGeom prst="rect">
            <a:avLst/>
          </a:prstGeom>
          <a:noFill/>
        </p:spPr>
        <p:txBody>
          <a:bodyPr wrap="square" anchor="ctr" lIns="0" rIns="0" tIns="0" bIns="0">
            <a:spAutoFit/>
          </a:bodyPr>
          <a:lstStyle/>
          <a:p>
            <a:pPr algn="l">
              <a:lnSpc>
                <a:spcPct val="105000"/>
              </a:lnSpc>
              <a:spcBef>
                <a:spcPts val="400"/>
              </a:spcBef>
              <a:spcAft>
                <a:spcPts val="400"/>
              </a:spcAft>
            </a:pPr>
            <a:r>
              <a:rPr sz="1600" b="1" i="0">
                <a:solidFill>
                  <a:srgbClr val="FFFFFF"/>
                </a:solidFill>
                <a:latin typeface="Arial"/>
              </a:rPr>
              <a:t>Conductors (let electrons flow)</a:t>
            </a:r>
          </a:p>
        </p:txBody>
      </p:sp>
      <p:sp>
        <p:nvSpPr>
          <p:cNvPr id="11" name="TextBox 10"/>
          <p:cNvSpPr txBox="1"/>
          <p:nvPr/>
        </p:nvSpPr>
        <p:spPr>
          <a:xfrm>
            <a:off x="914400" y="2514600"/>
            <a:ext cx="4800600" cy="3383280"/>
          </a:xfrm>
          <a:prstGeom prst="rect">
            <a:avLst/>
          </a:prstGeom>
          <a:noFill/>
        </p:spPr>
        <p:txBody>
          <a:bodyPr wrap="square" anchor="t" lIns="0" rIns="0" tIns="0" bIns="0">
            <a:spAutoFit/>
          </a:bodyPr>
          <a:lstStyle/>
          <a:p>
            <a:pPr algn="l">
              <a:lnSpc>
                <a:spcPct val="103000"/>
              </a:lnSpc>
              <a:spcBef>
                <a:spcPts val="500"/>
              </a:spcBef>
              <a:spcAft>
                <a:spcPts val="200"/>
              </a:spcAft>
            </a:pPr>
            <a:r>
              <a:rPr sz="1400" b="0" i="0">
                <a:solidFill>
                  <a:srgbClr val="1A2B3C"/>
                </a:solidFill>
                <a:latin typeface="Arial"/>
              </a:rPr>
              <a:t>■  Copper, aluminum — line and busbar metals</a:t>
            </a:r>
          </a:p>
          <a:p>
            <a:pPr algn="l">
              <a:lnSpc>
                <a:spcPct val="103000"/>
              </a:lnSpc>
              <a:spcBef>
                <a:spcPts val="500"/>
              </a:spcBef>
              <a:spcAft>
                <a:spcPts val="200"/>
              </a:spcAft>
            </a:pPr>
            <a:r>
              <a:rPr sz="1400" b="0" i="0">
                <a:solidFill>
                  <a:srgbClr val="1A2B3C"/>
                </a:solidFill>
                <a:latin typeface="Arial"/>
              </a:rPr>
              <a:t>■  Steel — structures, ground rods, messenger</a:t>
            </a:r>
          </a:p>
          <a:p>
            <a:pPr algn="l">
              <a:lnSpc>
                <a:spcPct val="103000"/>
              </a:lnSpc>
              <a:spcBef>
                <a:spcPts val="500"/>
              </a:spcBef>
              <a:spcAft>
                <a:spcPts val="200"/>
              </a:spcAft>
            </a:pPr>
            <a:r>
              <a:rPr sz="1400" b="0" i="0">
                <a:solidFill>
                  <a:srgbClr val="1A2B3C"/>
                </a:solidFill>
                <a:latin typeface="Arial"/>
              </a:rPr>
              <a:t>■  Water with impurities, wet wood, the human body</a:t>
            </a:r>
          </a:p>
          <a:p>
            <a:pPr algn="l" lvl="1">
              <a:lnSpc>
                <a:spcPct val="100000"/>
              </a:lnSpc>
              <a:spcBef>
                <a:spcPts val="100"/>
              </a:spcBef>
              <a:spcAft>
                <a:spcPts val="100"/>
              </a:spcAft>
            </a:pPr>
            <a:r>
              <a:rPr sz="1250" b="0" i="0">
                <a:solidFill>
                  <a:srgbClr val="5B6B7B"/>
                </a:solidFill>
                <a:latin typeface="Arial"/>
              </a:rPr>
              <a:t>–  Low resistance — current passes easily</a:t>
            </a:r>
          </a:p>
          <a:p>
            <a:pPr algn="l">
              <a:lnSpc>
                <a:spcPct val="103000"/>
              </a:lnSpc>
              <a:spcBef>
                <a:spcPts val="500"/>
              </a:spcBef>
              <a:spcAft>
                <a:spcPts val="200"/>
              </a:spcAft>
            </a:pPr>
            <a:r>
              <a:rPr sz="1400" b="0" i="0">
                <a:solidFill>
                  <a:srgbClr val="1A2B3C"/>
                </a:solidFill>
                <a:latin typeface="Arial"/>
              </a:rPr>
              <a:t>■  Why we de-energize, isolate, and ground them</a:t>
            </a:r>
          </a:p>
        </p:txBody>
      </p:sp>
      <p:sp>
        <p:nvSpPr>
          <p:cNvPr id="12" name="Rounded Rectangle 11"/>
          <p:cNvSpPr/>
          <p:nvPr/>
        </p:nvSpPr>
        <p:spPr>
          <a:xfrm>
            <a:off x="6309359" y="1783080"/>
            <a:ext cx="5349240" cy="4297680"/>
          </a:xfrm>
          <a:prstGeom prst="roundRect">
            <a:avLst/>
          </a:prstGeom>
          <a:solidFill>
            <a:srgbClr val="EEF2F7"/>
          </a:solidFill>
          <a:ln w="12700">
            <a:solidFill>
              <a:srgbClr val="CF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09359" y="1783080"/>
            <a:ext cx="5349240" cy="566928"/>
          </a:xfrm>
          <a:prstGeom prst="round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59" y="2066543"/>
            <a:ext cx="5349240" cy="28346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37959" y="1837943"/>
            <a:ext cx="4892040" cy="475488"/>
          </a:xfrm>
          <a:prstGeom prst="rect">
            <a:avLst/>
          </a:prstGeom>
          <a:noFill/>
        </p:spPr>
        <p:txBody>
          <a:bodyPr wrap="square" anchor="ctr" lIns="0" rIns="0" tIns="0" bIns="0">
            <a:spAutoFit/>
          </a:bodyPr>
          <a:lstStyle/>
          <a:p>
            <a:pPr algn="l">
              <a:lnSpc>
                <a:spcPct val="105000"/>
              </a:lnSpc>
              <a:spcBef>
                <a:spcPts val="400"/>
              </a:spcBef>
              <a:spcAft>
                <a:spcPts val="400"/>
              </a:spcAft>
            </a:pPr>
            <a:r>
              <a:rPr sz="1600" b="1" i="0">
                <a:solidFill>
                  <a:srgbClr val="FFFFFF"/>
                </a:solidFill>
                <a:latin typeface="Arial"/>
              </a:rPr>
              <a:t>Insulators (resist electron flow)</a:t>
            </a:r>
          </a:p>
        </p:txBody>
      </p:sp>
      <p:sp>
        <p:nvSpPr>
          <p:cNvPr id="16" name="TextBox 15"/>
          <p:cNvSpPr txBox="1"/>
          <p:nvPr/>
        </p:nvSpPr>
        <p:spPr>
          <a:xfrm>
            <a:off x="6583679" y="2514600"/>
            <a:ext cx="4800600" cy="3383280"/>
          </a:xfrm>
          <a:prstGeom prst="rect">
            <a:avLst/>
          </a:prstGeom>
          <a:noFill/>
        </p:spPr>
        <p:txBody>
          <a:bodyPr wrap="square" anchor="t" lIns="0" rIns="0" tIns="0" bIns="0">
            <a:spAutoFit/>
          </a:bodyPr>
          <a:lstStyle/>
          <a:p>
            <a:pPr algn="l">
              <a:lnSpc>
                <a:spcPct val="103000"/>
              </a:lnSpc>
              <a:spcBef>
                <a:spcPts val="500"/>
              </a:spcBef>
              <a:spcAft>
                <a:spcPts val="200"/>
              </a:spcAft>
            </a:pPr>
            <a:r>
              <a:rPr sz="1400" b="0" i="0">
                <a:solidFill>
                  <a:srgbClr val="1A2B3C"/>
                </a:solidFill>
                <a:latin typeface="Arial"/>
              </a:rPr>
              <a:t>■  Rubber, dry wood, glass, porcelain, fiberglass</a:t>
            </a:r>
          </a:p>
          <a:p>
            <a:pPr algn="l">
              <a:lnSpc>
                <a:spcPct val="103000"/>
              </a:lnSpc>
              <a:spcBef>
                <a:spcPts val="500"/>
              </a:spcBef>
              <a:spcAft>
                <a:spcPts val="200"/>
              </a:spcAft>
            </a:pPr>
            <a:r>
              <a:rPr sz="1400" b="0" i="0">
                <a:solidFill>
                  <a:srgbClr val="1A2B3C"/>
                </a:solidFill>
                <a:latin typeface="Arial"/>
              </a:rPr>
              <a:t>■  Air — but only at sufficient distance (it can break down!)</a:t>
            </a:r>
          </a:p>
          <a:p>
            <a:pPr algn="l">
              <a:lnSpc>
                <a:spcPct val="103000"/>
              </a:lnSpc>
              <a:spcBef>
                <a:spcPts val="500"/>
              </a:spcBef>
              <a:spcAft>
                <a:spcPts val="200"/>
              </a:spcAft>
            </a:pPr>
            <a:r>
              <a:rPr sz="1400" b="0" i="0">
                <a:solidFill>
                  <a:srgbClr val="1A2B3C"/>
                </a:solidFill>
                <a:latin typeface="Arial"/>
              </a:rPr>
              <a:t>■  EPDM rubber — the basis of our gloves &amp; cover-up</a:t>
            </a:r>
          </a:p>
          <a:p>
            <a:pPr algn="l" lvl="1">
              <a:lnSpc>
                <a:spcPct val="100000"/>
              </a:lnSpc>
              <a:spcBef>
                <a:spcPts val="100"/>
              </a:spcBef>
              <a:spcAft>
                <a:spcPts val="100"/>
              </a:spcAft>
            </a:pPr>
            <a:r>
              <a:rPr sz="1250" b="0" i="0">
                <a:solidFill>
                  <a:srgbClr val="5B6B7B"/>
                </a:solidFill>
                <a:latin typeface="Arial"/>
              </a:rPr>
              <a:t>–  High resistance — used to create separation</a:t>
            </a:r>
          </a:p>
          <a:p>
            <a:pPr algn="l">
              <a:lnSpc>
                <a:spcPct val="103000"/>
              </a:lnSpc>
              <a:spcBef>
                <a:spcPts val="500"/>
              </a:spcBef>
              <a:spcAft>
                <a:spcPts val="200"/>
              </a:spcAft>
            </a:pPr>
            <a:r>
              <a:rPr sz="1400" b="0" i="0">
                <a:solidFill>
                  <a:srgbClr val="1A2B3C"/>
                </a:solidFill>
                <a:latin typeface="Arial"/>
              </a:rPr>
              <a:t>■  Semiconductors: silicon devices — reclosers, electronics, controls</a:t>
            </a:r>
          </a:p>
        </p:txBody>
      </p:sp>
      <p:sp>
        <p:nvSpPr>
          <p:cNvPr id="17" name="Rectangle 16"/>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1 — Electrical Theory</a:t>
            </a:r>
          </a:p>
        </p:txBody>
      </p:sp>
      <p:sp>
        <p:nvSpPr>
          <p:cNvPr id="19" name="TextBox 18"/>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1.3 VOLTAGE</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Voltage — Electrical Pressure</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783080"/>
            <a:ext cx="6949440" cy="4297680"/>
          </a:xfrm>
          <a:prstGeom prst="rect">
            <a:avLst/>
          </a:prstGeom>
          <a:noFill/>
        </p:spPr>
        <p:txBody>
          <a:bodyPr wrap="square" anchor="t" lIns="0" rIns="0" tIns="0" bIns="0">
            <a:spAutoFit/>
          </a:bodyPr>
          <a:lstStyle/>
          <a:p>
            <a:pPr algn="l">
              <a:lnSpc>
                <a:spcPct val="105000"/>
              </a:lnSpc>
              <a:spcBef>
                <a:spcPts val="700"/>
              </a:spcBef>
              <a:spcAft>
                <a:spcPts val="200"/>
              </a:spcAft>
            </a:pPr>
            <a:r>
              <a:rPr sz="1700" b="0" i="0">
                <a:solidFill>
                  <a:srgbClr val="1A2B3C"/>
                </a:solidFill>
                <a:latin typeface="Arial"/>
              </a:rPr>
              <a:t>■  Voltage (V) is the difference in electric potential between two points — the “pressure” that pushes current</a:t>
            </a:r>
          </a:p>
          <a:p>
            <a:pPr algn="l">
              <a:lnSpc>
                <a:spcPct val="105000"/>
              </a:lnSpc>
              <a:spcBef>
                <a:spcPts val="700"/>
              </a:spcBef>
              <a:spcAft>
                <a:spcPts val="200"/>
              </a:spcAft>
            </a:pPr>
            <a:r>
              <a:rPr sz="1700" b="0" i="0">
                <a:solidFill>
                  <a:srgbClr val="1A2B3C"/>
                </a:solidFill>
                <a:latin typeface="Arial"/>
              </a:rPr>
              <a:t>■  Measured in volts; symbol E (electromotive force) or V</a:t>
            </a:r>
          </a:p>
          <a:p>
            <a:pPr algn="l" lvl="1">
              <a:lnSpc>
                <a:spcPct val="102000"/>
              </a:lnSpc>
              <a:spcBef>
                <a:spcPts val="200"/>
              </a:spcBef>
              <a:spcAft>
                <a:spcPts val="100"/>
              </a:spcAft>
            </a:pPr>
            <a:r>
              <a:rPr sz="1400" b="0" i="0">
                <a:solidFill>
                  <a:srgbClr val="334455"/>
                </a:solidFill>
                <a:latin typeface="Arial"/>
              </a:rPr>
              <a:t>–  Analogy: water pressure in a pipe — more pressure, more push</a:t>
            </a:r>
          </a:p>
          <a:p>
            <a:pPr algn="l">
              <a:lnSpc>
                <a:spcPct val="105000"/>
              </a:lnSpc>
              <a:spcBef>
                <a:spcPts val="700"/>
              </a:spcBef>
              <a:spcAft>
                <a:spcPts val="200"/>
              </a:spcAft>
            </a:pPr>
            <a:r>
              <a:rPr sz="1700" b="0" i="0">
                <a:solidFill>
                  <a:srgbClr val="1A2B3C"/>
                </a:solidFill>
                <a:latin typeface="Arial"/>
              </a:rPr>
              <a:t>■  Voltage is always measured BETWEEN two points (a potential difference)</a:t>
            </a:r>
          </a:p>
          <a:p>
            <a:pPr algn="l" lvl="1">
              <a:lnSpc>
                <a:spcPct val="102000"/>
              </a:lnSpc>
              <a:spcBef>
                <a:spcPts val="200"/>
              </a:spcBef>
              <a:spcAft>
                <a:spcPts val="100"/>
              </a:spcAft>
            </a:pPr>
            <a:r>
              <a:rPr sz="1400" b="0" i="0">
                <a:solidFill>
                  <a:srgbClr val="334455"/>
                </a:solidFill>
                <a:latin typeface="Arial"/>
              </a:rPr>
              <a:t>–  A bird on one wire sits at one potential — no difference, no current</a:t>
            </a:r>
          </a:p>
          <a:p>
            <a:pPr algn="l" lvl="1">
              <a:lnSpc>
                <a:spcPct val="102000"/>
              </a:lnSpc>
              <a:spcBef>
                <a:spcPts val="200"/>
              </a:spcBef>
              <a:spcAft>
                <a:spcPts val="100"/>
              </a:spcAft>
            </a:pPr>
            <a:r>
              <a:rPr sz="1400" b="0" i="0">
                <a:solidFill>
                  <a:srgbClr val="334455"/>
                </a:solidFill>
                <a:latin typeface="Arial"/>
              </a:rPr>
              <a:t>–  Bridge two different potentials and current flows through you</a:t>
            </a:r>
          </a:p>
          <a:p>
            <a:pPr algn="l">
              <a:lnSpc>
                <a:spcPct val="105000"/>
              </a:lnSpc>
              <a:spcBef>
                <a:spcPts val="700"/>
              </a:spcBef>
              <a:spcAft>
                <a:spcPts val="200"/>
              </a:spcAft>
            </a:pPr>
            <a:r>
              <a:rPr sz="1700" b="0" i="0">
                <a:solidFill>
                  <a:srgbClr val="1A2B3C"/>
                </a:solidFill>
                <a:latin typeface="Arial"/>
              </a:rPr>
              <a:t>■  Higher voltage can push current across larger air gaps — it can arc to you before you touch it</a:t>
            </a:r>
          </a:p>
        </p:txBody>
      </p:sp>
      <p:sp>
        <p:nvSpPr>
          <p:cNvPr id="8" name="Rounded Rectangle 7"/>
          <p:cNvSpPr/>
          <p:nvPr/>
        </p:nvSpPr>
        <p:spPr>
          <a:xfrm>
            <a:off x="7863840" y="1874519"/>
            <a:ext cx="3776472" cy="3931920"/>
          </a:xfrm>
          <a:prstGeom prst="roundRect">
            <a:avLst/>
          </a:prstGeom>
          <a:solidFill>
            <a:srgbClr val="E7EEF6"/>
          </a:solidFill>
          <a:ln w="19050">
            <a:solidFill>
              <a:srgbClr val="1340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863840" y="1874519"/>
            <a:ext cx="3776472" cy="548640"/>
          </a:xfrm>
          <a:prstGeom prst="roundRect">
            <a:avLst/>
          </a:prstGeom>
          <a:solidFill>
            <a:srgbClr val="1340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63840" y="2148839"/>
            <a:ext cx="3776472" cy="274320"/>
          </a:xfrm>
          <a:prstGeom prst="rect">
            <a:avLst/>
          </a:prstGeom>
          <a:solidFill>
            <a:srgbClr val="1340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92440" y="1920239"/>
            <a:ext cx="3319272" cy="475488"/>
          </a:xfrm>
          <a:prstGeom prst="rect">
            <a:avLst/>
          </a:prstGeom>
          <a:noFill/>
        </p:spPr>
        <p:txBody>
          <a:bodyPr wrap="square" anchor="ctr" lIns="0" rIns="0" tIns="0" bIns="0">
            <a:spAutoFit/>
          </a:bodyPr>
          <a:lstStyle/>
          <a:p>
            <a:pPr algn="l">
              <a:lnSpc>
                <a:spcPct val="105000"/>
              </a:lnSpc>
              <a:spcBef>
                <a:spcPts val="400"/>
              </a:spcBef>
              <a:spcAft>
                <a:spcPts val="400"/>
              </a:spcAft>
            </a:pPr>
            <a:r>
              <a:rPr sz="1400" b="1" i="0">
                <a:solidFill>
                  <a:srgbClr val="FFFFFF"/>
                </a:solidFill>
                <a:latin typeface="Arial"/>
              </a:rPr>
              <a:t>KEY CONCEPT</a:t>
            </a:r>
          </a:p>
        </p:txBody>
      </p:sp>
      <p:sp>
        <p:nvSpPr>
          <p:cNvPr id="12" name="TextBox 11"/>
          <p:cNvSpPr txBox="1"/>
          <p:nvPr/>
        </p:nvSpPr>
        <p:spPr>
          <a:xfrm>
            <a:off x="8138160" y="2587752"/>
            <a:ext cx="3227832" cy="3063239"/>
          </a:xfrm>
          <a:prstGeom prst="rect">
            <a:avLst/>
          </a:prstGeom>
          <a:noFill/>
        </p:spPr>
        <p:txBody>
          <a:bodyPr wrap="square" anchor="t" lIns="0" rIns="0" tIns="0" bIns="0">
            <a:spAutoFit/>
          </a:bodyPr>
          <a:lstStyle/>
          <a:p>
            <a:pPr algn="l">
              <a:lnSpc>
                <a:spcPct val="105000"/>
              </a:lnSpc>
              <a:spcBef>
                <a:spcPts val="400"/>
              </a:spcBef>
              <a:spcAft>
                <a:spcPts val="400"/>
              </a:spcAft>
            </a:pPr>
            <a:r>
              <a:rPr sz="1550" b="1" i="0">
                <a:solidFill>
                  <a:srgbClr val="134074"/>
                </a:solidFill>
                <a:latin typeface="Arial"/>
              </a:rPr>
              <a:t>Why this matters</a:t>
            </a:r>
          </a:p>
          <a:p>
            <a:pPr algn="l">
              <a:lnSpc>
                <a:spcPct val="105000"/>
              </a:lnSpc>
              <a:spcBef>
                <a:spcPts val="300"/>
              </a:spcBef>
              <a:spcAft>
                <a:spcPts val="100"/>
              </a:spcAft>
            </a:pPr>
            <a:r>
              <a:rPr sz="1300" b="0" i="0">
                <a:solidFill>
                  <a:srgbClr val="1A2B3C"/>
                </a:solidFill>
                <a:latin typeface="Arial"/>
              </a:rPr>
              <a:t>–  Every safe-work distance exists because voltage can drive current across air.</a:t>
            </a:r>
          </a:p>
          <a:p>
            <a:pPr algn="l">
              <a:lnSpc>
                <a:spcPct val="105000"/>
              </a:lnSpc>
              <a:spcBef>
                <a:spcPts val="300"/>
              </a:spcBef>
              <a:spcAft>
                <a:spcPts val="100"/>
              </a:spcAft>
            </a:pPr>
            <a:r>
              <a:rPr sz="1300" b="0" i="0">
                <a:solidFill>
                  <a:srgbClr val="1A2B3C"/>
                </a:solidFill>
                <a:latin typeface="Arial"/>
              </a:rPr>
              <a:t>–  “Difference of potential” is the whole game — control it and you control the hazard.</a:t>
            </a:r>
          </a:p>
        </p:txBody>
      </p:sp>
      <p:sp>
        <p:nvSpPr>
          <p:cNvPr id="13" name="Rectangle 12"/>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1 — Electrical Theory</a:t>
            </a:r>
          </a:p>
        </p:txBody>
      </p:sp>
      <p:sp>
        <p:nvSpPr>
          <p:cNvPr id="15" name="TextBox 14"/>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1.4 CURRENT</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Current — The Flow That Hurts You</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783080"/>
            <a:ext cx="6949440" cy="4297680"/>
          </a:xfrm>
          <a:prstGeom prst="rect">
            <a:avLst/>
          </a:prstGeom>
          <a:noFill/>
        </p:spPr>
        <p:txBody>
          <a:bodyPr wrap="square" anchor="t" lIns="0" rIns="0" tIns="0" bIns="0">
            <a:spAutoFit/>
          </a:bodyPr>
          <a:lstStyle/>
          <a:p>
            <a:pPr algn="l">
              <a:lnSpc>
                <a:spcPct val="105000"/>
              </a:lnSpc>
              <a:spcBef>
                <a:spcPts val="700"/>
              </a:spcBef>
              <a:spcAft>
                <a:spcPts val="200"/>
              </a:spcAft>
            </a:pPr>
            <a:r>
              <a:rPr sz="1700" b="0" i="0">
                <a:solidFill>
                  <a:srgbClr val="1A2B3C"/>
                </a:solidFill>
                <a:latin typeface="Arial"/>
              </a:rPr>
              <a:t>■  Current (I) is the rate of charge flow, measured in amperes (amps)</a:t>
            </a:r>
          </a:p>
          <a:p>
            <a:pPr algn="l" lvl="1">
              <a:lnSpc>
                <a:spcPct val="102000"/>
              </a:lnSpc>
              <a:spcBef>
                <a:spcPts val="200"/>
              </a:spcBef>
              <a:spcAft>
                <a:spcPts val="100"/>
              </a:spcAft>
            </a:pPr>
            <a:r>
              <a:rPr sz="1400" b="0" i="0">
                <a:solidFill>
                  <a:srgbClr val="334455"/>
                </a:solidFill>
                <a:latin typeface="Arial"/>
              </a:rPr>
              <a:t>–  Analogy: the volume of water flowing past a point</a:t>
            </a:r>
          </a:p>
          <a:p>
            <a:pPr algn="l">
              <a:lnSpc>
                <a:spcPct val="105000"/>
              </a:lnSpc>
              <a:spcBef>
                <a:spcPts val="700"/>
              </a:spcBef>
              <a:spcAft>
                <a:spcPts val="200"/>
              </a:spcAft>
            </a:pPr>
            <a:r>
              <a:rPr sz="1700" b="0" i="0">
                <a:solidFill>
                  <a:srgbClr val="1A2B3C"/>
                </a:solidFill>
                <a:latin typeface="Arial"/>
              </a:rPr>
              <a:t>■  It is CURRENT through the body — not voltage — that injures and kills</a:t>
            </a:r>
          </a:p>
          <a:p>
            <a:pPr algn="l" lvl="1">
              <a:lnSpc>
                <a:spcPct val="102000"/>
              </a:lnSpc>
              <a:spcBef>
                <a:spcPts val="200"/>
              </a:spcBef>
              <a:spcAft>
                <a:spcPts val="100"/>
              </a:spcAft>
            </a:pPr>
            <a:r>
              <a:rPr sz="1400" b="0" i="0">
                <a:solidFill>
                  <a:srgbClr val="334455"/>
                </a:solidFill>
                <a:latin typeface="Arial"/>
              </a:rPr>
              <a:t>–  Voltage determines how much current will be pushed through your resistance</a:t>
            </a:r>
          </a:p>
          <a:p>
            <a:pPr algn="l">
              <a:lnSpc>
                <a:spcPct val="105000"/>
              </a:lnSpc>
              <a:spcBef>
                <a:spcPts val="700"/>
              </a:spcBef>
              <a:spcAft>
                <a:spcPts val="200"/>
              </a:spcAft>
            </a:pPr>
            <a:r>
              <a:rPr sz="1700" b="0" i="0">
                <a:solidFill>
                  <a:srgbClr val="1A2B3C"/>
                </a:solidFill>
                <a:latin typeface="Arial"/>
              </a:rPr>
              <a:t>■  Even small currents across the chest can stop the heart</a:t>
            </a:r>
          </a:p>
          <a:p>
            <a:pPr algn="l">
              <a:lnSpc>
                <a:spcPct val="105000"/>
              </a:lnSpc>
              <a:spcBef>
                <a:spcPts val="700"/>
              </a:spcBef>
              <a:spcAft>
                <a:spcPts val="200"/>
              </a:spcAft>
            </a:pPr>
            <a:r>
              <a:rPr sz="1700" b="0" i="0">
                <a:solidFill>
                  <a:srgbClr val="1A2B3C"/>
                </a:solidFill>
                <a:latin typeface="Arial"/>
              </a:rPr>
              <a:t>■  Fault current on distribution/transmission can be thousands of amps</a:t>
            </a:r>
          </a:p>
          <a:p>
            <a:pPr algn="l" lvl="1">
              <a:lnSpc>
                <a:spcPct val="102000"/>
              </a:lnSpc>
              <a:spcBef>
                <a:spcPts val="200"/>
              </a:spcBef>
              <a:spcAft>
                <a:spcPts val="100"/>
              </a:spcAft>
            </a:pPr>
            <a:r>
              <a:rPr sz="1400" b="0" i="0">
                <a:solidFill>
                  <a:srgbClr val="334455"/>
                </a:solidFill>
                <a:latin typeface="Arial"/>
              </a:rPr>
              <a:t>–  Enough to vaporize metal and create an arc-flash explosion</a:t>
            </a:r>
          </a:p>
        </p:txBody>
      </p:sp>
      <p:sp>
        <p:nvSpPr>
          <p:cNvPr id="8" name="Rounded Rectangle 7"/>
          <p:cNvSpPr/>
          <p:nvPr/>
        </p:nvSpPr>
        <p:spPr>
          <a:xfrm>
            <a:off x="7863840" y="1874519"/>
            <a:ext cx="3776472" cy="3931920"/>
          </a:xfrm>
          <a:prstGeom prst="roundRect">
            <a:avLst/>
          </a:prstGeom>
          <a:solidFill>
            <a:srgbClr val="FBEAE7"/>
          </a:solidFill>
          <a:ln w="19050">
            <a:solidFill>
              <a:srgbClr val="D435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863840" y="1874519"/>
            <a:ext cx="3776472" cy="548640"/>
          </a:xfrm>
          <a:prstGeom prst="roundRect">
            <a:avLst/>
          </a:prstGeom>
          <a:solidFill>
            <a:srgbClr val="D43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63840" y="2148839"/>
            <a:ext cx="3776472" cy="274320"/>
          </a:xfrm>
          <a:prstGeom prst="rect">
            <a:avLst/>
          </a:prstGeom>
          <a:solidFill>
            <a:srgbClr val="D43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92440" y="1920239"/>
            <a:ext cx="3319272" cy="475488"/>
          </a:xfrm>
          <a:prstGeom prst="rect">
            <a:avLst/>
          </a:prstGeom>
          <a:noFill/>
        </p:spPr>
        <p:txBody>
          <a:bodyPr wrap="square" anchor="ctr" lIns="0" rIns="0" tIns="0" bIns="0">
            <a:spAutoFit/>
          </a:bodyPr>
          <a:lstStyle/>
          <a:p>
            <a:pPr algn="l">
              <a:lnSpc>
                <a:spcPct val="105000"/>
              </a:lnSpc>
              <a:spcBef>
                <a:spcPts val="400"/>
              </a:spcBef>
              <a:spcAft>
                <a:spcPts val="400"/>
              </a:spcAft>
            </a:pPr>
            <a:r>
              <a:rPr sz="1400" b="1" i="0">
                <a:solidFill>
                  <a:srgbClr val="FFFFFF"/>
                </a:solidFill>
                <a:latin typeface="Arial"/>
              </a:rPr>
              <a:t>DANGER  ⚠</a:t>
            </a:r>
          </a:p>
        </p:txBody>
      </p:sp>
      <p:sp>
        <p:nvSpPr>
          <p:cNvPr id="12" name="TextBox 11"/>
          <p:cNvSpPr txBox="1"/>
          <p:nvPr/>
        </p:nvSpPr>
        <p:spPr>
          <a:xfrm>
            <a:off x="8138160" y="2587752"/>
            <a:ext cx="3227832" cy="3063239"/>
          </a:xfrm>
          <a:prstGeom prst="rect">
            <a:avLst/>
          </a:prstGeom>
          <a:noFill/>
        </p:spPr>
        <p:txBody>
          <a:bodyPr wrap="square" anchor="t" lIns="0" rIns="0" tIns="0" bIns="0">
            <a:spAutoFit/>
          </a:bodyPr>
          <a:lstStyle/>
          <a:p>
            <a:pPr algn="l">
              <a:lnSpc>
                <a:spcPct val="105000"/>
              </a:lnSpc>
              <a:spcBef>
                <a:spcPts val="400"/>
              </a:spcBef>
              <a:spcAft>
                <a:spcPts val="400"/>
              </a:spcAft>
            </a:pPr>
            <a:r>
              <a:rPr sz="1550" b="1" i="0">
                <a:solidFill>
                  <a:srgbClr val="D4351A"/>
                </a:solidFill>
                <a:latin typeface="Arial"/>
              </a:rPr>
              <a:t>Remember</a:t>
            </a:r>
          </a:p>
          <a:p>
            <a:pPr algn="l">
              <a:lnSpc>
                <a:spcPct val="105000"/>
              </a:lnSpc>
              <a:spcBef>
                <a:spcPts val="300"/>
              </a:spcBef>
              <a:spcAft>
                <a:spcPts val="100"/>
              </a:spcAft>
            </a:pPr>
            <a:r>
              <a:rPr sz="1300" b="0" i="0">
                <a:solidFill>
                  <a:srgbClr val="1A2B3C"/>
                </a:solidFill>
                <a:latin typeface="Arial"/>
              </a:rPr>
              <a:t>–  It takes surprisingly little current to be fatal.</a:t>
            </a:r>
          </a:p>
          <a:p>
            <a:pPr algn="l">
              <a:lnSpc>
                <a:spcPct val="105000"/>
              </a:lnSpc>
              <a:spcBef>
                <a:spcPts val="300"/>
              </a:spcBef>
              <a:spcAft>
                <a:spcPts val="100"/>
              </a:spcAft>
            </a:pPr>
            <a:r>
              <a:rPr sz="1300" b="0" i="0">
                <a:solidFill>
                  <a:srgbClr val="1A2B3C"/>
                </a:solidFill>
                <a:latin typeface="Arial"/>
              </a:rPr>
              <a:t>–  Milliamps through the heart — not amps — are deadly.</a:t>
            </a:r>
          </a:p>
          <a:p>
            <a:pPr algn="l">
              <a:lnSpc>
                <a:spcPct val="105000"/>
              </a:lnSpc>
              <a:spcBef>
                <a:spcPts val="300"/>
              </a:spcBef>
              <a:spcAft>
                <a:spcPts val="100"/>
              </a:spcAft>
            </a:pPr>
            <a:r>
              <a:rPr sz="1300" b="0" i="0">
                <a:solidFill>
                  <a:srgbClr val="1A2B3C"/>
                </a:solidFill>
                <a:latin typeface="Arial"/>
              </a:rPr>
              <a:t>–  Protect against the current by removing the path and the potential difference.</a:t>
            </a:r>
          </a:p>
        </p:txBody>
      </p:sp>
      <p:sp>
        <p:nvSpPr>
          <p:cNvPr id="13" name="Rectangle 12"/>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1 — Electrical Theory</a:t>
            </a:r>
          </a:p>
        </p:txBody>
      </p:sp>
      <p:sp>
        <p:nvSpPr>
          <p:cNvPr id="15" name="TextBox 14"/>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1.5 OHM'S LAW</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Resistance, Ohm's Law &amp; Power</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27632"/>
            <a:ext cx="10881360" cy="548640"/>
          </a:xfrm>
          <a:prstGeom prst="rect">
            <a:avLst/>
          </a:prstGeom>
          <a:noFill/>
        </p:spPr>
        <p:txBody>
          <a:bodyPr wrap="square" anchor="t" lIns="0" rIns="0" tIns="0" bIns="0">
            <a:spAutoFit/>
          </a:bodyPr>
          <a:lstStyle/>
          <a:p>
            <a:pPr algn="l">
              <a:lnSpc>
                <a:spcPct val="105000"/>
              </a:lnSpc>
              <a:spcBef>
                <a:spcPts val="400"/>
              </a:spcBef>
              <a:spcAft>
                <a:spcPts val="400"/>
              </a:spcAft>
            </a:pPr>
            <a:r>
              <a:rPr sz="1550" b="0" i="1">
                <a:solidFill>
                  <a:srgbClr val="5B6B7B"/>
                </a:solidFill>
                <a:latin typeface="Arial"/>
              </a:rPr>
              <a:t>Three quantities, one relationship — the most useful equation you will ever memorize.</a:t>
            </a:r>
          </a:p>
        </p:txBody>
      </p:sp>
      <p:sp>
        <p:nvSpPr>
          <p:cNvPr id="8" name="TextBox 7"/>
          <p:cNvSpPr txBox="1"/>
          <p:nvPr/>
        </p:nvSpPr>
        <p:spPr>
          <a:xfrm>
            <a:off x="658368" y="2240280"/>
            <a:ext cx="10927080" cy="3703320"/>
          </a:xfrm>
          <a:prstGeom prst="rect">
            <a:avLst/>
          </a:prstGeom>
          <a:noFill/>
        </p:spPr>
        <p:txBody>
          <a:bodyPr wrap="square" anchor="t" lIns="0" rIns="0" tIns="0" bIns="0">
            <a:spAutoFit/>
          </a:bodyPr>
          <a:lstStyle/>
          <a:p>
            <a:pPr algn="l">
              <a:lnSpc>
                <a:spcPct val="105000"/>
              </a:lnSpc>
              <a:spcBef>
                <a:spcPts val="700"/>
              </a:spcBef>
              <a:spcAft>
                <a:spcPts val="200"/>
              </a:spcAft>
            </a:pPr>
            <a:r>
              <a:rPr sz="1800" b="0" i="0">
                <a:solidFill>
                  <a:srgbClr val="1A2B3C"/>
                </a:solidFill>
                <a:latin typeface="Arial"/>
              </a:rPr>
              <a:t>■  Resistance (R) opposes current flow — measured in ohms (Ω)</a:t>
            </a:r>
          </a:p>
          <a:p>
            <a:pPr algn="l" lvl="1">
              <a:lnSpc>
                <a:spcPct val="103000"/>
              </a:lnSpc>
              <a:spcBef>
                <a:spcPts val="200"/>
              </a:spcBef>
              <a:spcAft>
                <a:spcPts val="200"/>
              </a:spcAft>
            </a:pPr>
            <a:r>
              <a:rPr sz="1500" b="0" i="0">
                <a:solidFill>
                  <a:srgbClr val="334455"/>
                </a:solidFill>
                <a:latin typeface="Arial"/>
              </a:rPr>
              <a:t>–  Conductors = low R; insulators = high R; your skin's R drops sharply when wet</a:t>
            </a:r>
          </a:p>
          <a:p>
            <a:pPr algn="l">
              <a:lnSpc>
                <a:spcPct val="105000"/>
              </a:lnSpc>
              <a:spcBef>
                <a:spcPts val="700"/>
              </a:spcBef>
              <a:spcAft>
                <a:spcPts val="200"/>
              </a:spcAft>
            </a:pPr>
            <a:r>
              <a:rPr sz="1800" b="0" i="0">
                <a:solidFill>
                  <a:srgbClr val="1A2B3C"/>
                </a:solidFill>
                <a:latin typeface="Arial"/>
              </a:rPr>
              <a:t>■  Ohm's Law ties the three together:  V = I × R</a:t>
            </a:r>
          </a:p>
          <a:p>
            <a:pPr algn="l" lvl="1">
              <a:lnSpc>
                <a:spcPct val="103000"/>
              </a:lnSpc>
              <a:spcBef>
                <a:spcPts val="200"/>
              </a:spcBef>
              <a:spcAft>
                <a:spcPts val="200"/>
              </a:spcAft>
            </a:pPr>
            <a:r>
              <a:rPr sz="1500" b="0" i="0">
                <a:solidFill>
                  <a:srgbClr val="334455"/>
                </a:solidFill>
                <a:latin typeface="Arial"/>
              </a:rPr>
              <a:t>–  Current I = V / R   →  same voltage + lower body resistance = MORE current through you</a:t>
            </a:r>
          </a:p>
          <a:p>
            <a:pPr algn="l" lvl="1">
              <a:lnSpc>
                <a:spcPct val="103000"/>
              </a:lnSpc>
              <a:spcBef>
                <a:spcPts val="200"/>
              </a:spcBef>
              <a:spcAft>
                <a:spcPts val="200"/>
              </a:spcAft>
            </a:pPr>
            <a:r>
              <a:rPr sz="1500" b="0" i="0">
                <a:solidFill>
                  <a:srgbClr val="334455"/>
                </a:solidFill>
                <a:latin typeface="Arial"/>
              </a:rPr>
              <a:t>–  This is why sweat, water, and broken skin make a shock far more dangerous</a:t>
            </a:r>
          </a:p>
          <a:p>
            <a:pPr algn="l">
              <a:lnSpc>
                <a:spcPct val="105000"/>
              </a:lnSpc>
              <a:spcBef>
                <a:spcPts val="700"/>
              </a:spcBef>
              <a:spcAft>
                <a:spcPts val="200"/>
              </a:spcAft>
            </a:pPr>
            <a:r>
              <a:rPr sz="1800" b="0" i="0">
                <a:solidFill>
                  <a:srgbClr val="1A2B3C"/>
                </a:solidFill>
                <a:latin typeface="Arial"/>
              </a:rPr>
              <a:t>■  Power is the rate of doing work — measured in watts:  P = V × I</a:t>
            </a:r>
          </a:p>
          <a:p>
            <a:pPr algn="l" lvl="1">
              <a:lnSpc>
                <a:spcPct val="103000"/>
              </a:lnSpc>
              <a:spcBef>
                <a:spcPts val="200"/>
              </a:spcBef>
              <a:spcAft>
                <a:spcPts val="200"/>
              </a:spcAft>
            </a:pPr>
            <a:r>
              <a:rPr sz="1500" b="0" i="0">
                <a:solidFill>
                  <a:srgbClr val="334455"/>
                </a:solidFill>
                <a:latin typeface="Arial"/>
              </a:rPr>
              <a:t>–  Also P = I² × R  —  heat in a fault rises with the SQUARE of current</a:t>
            </a:r>
          </a:p>
          <a:p>
            <a:pPr algn="l" lvl="1">
              <a:lnSpc>
                <a:spcPct val="103000"/>
              </a:lnSpc>
              <a:spcBef>
                <a:spcPts val="200"/>
              </a:spcBef>
              <a:spcAft>
                <a:spcPts val="200"/>
              </a:spcAft>
            </a:pPr>
            <a:r>
              <a:rPr sz="1500" b="0" i="0">
                <a:solidFill>
                  <a:srgbClr val="334455"/>
                </a:solidFill>
                <a:latin typeface="Arial"/>
              </a:rPr>
              <a:t>–  That heat is what drives burns and arc-flash energy</a:t>
            </a:r>
          </a:p>
          <a:p>
            <a:pPr algn="l">
              <a:lnSpc>
                <a:spcPct val="105000"/>
              </a:lnSpc>
              <a:spcBef>
                <a:spcPts val="700"/>
              </a:spcBef>
              <a:spcAft>
                <a:spcPts val="200"/>
              </a:spcAft>
            </a:pPr>
            <a:r>
              <a:rPr sz="1800" b="0" i="0">
                <a:solidFill>
                  <a:srgbClr val="1A2B3C"/>
                </a:solidFill>
                <a:latin typeface="Arial"/>
              </a:rPr>
              <a:t>■  Utilities sell energy in kilowatt-hours (kWh): power used over time</a:t>
            </a:r>
          </a:p>
        </p:txBody>
      </p:sp>
      <p:sp>
        <p:nvSpPr>
          <p:cNvPr id="9" name="Rectangle 8"/>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1 — Electrical Theory</a:t>
            </a:r>
          </a:p>
        </p:txBody>
      </p:sp>
      <p:sp>
        <p:nvSpPr>
          <p:cNvPr id="11" name="TextBox 10"/>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1.5 REFERENCE</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The Ohm's Law / Power Wheel — Quick Reference</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640080" y="1828800"/>
          <a:ext cx="10908790" cy="2980944"/>
        </p:xfrm>
        <a:graphic>
          <a:graphicData uri="http://schemas.openxmlformats.org/drawingml/2006/table">
            <a:tbl>
              <a:tblPr firstRow="1" bandRow="1">
                <a:tableStyleId>{5C22544A-7EE6-4342-B048-85BDC9FD1C3A}</a:tableStyleId>
              </a:tblPr>
              <a:tblGrid>
                <a:gridCol w="2424176"/>
                <a:gridCol w="3232234"/>
                <a:gridCol w="3232234"/>
                <a:gridCol w="2020146"/>
              </a:tblGrid>
              <a:tr h="425849">
                <a:tc>
                  <a:txBody>
                    <a:bodyPr wrap="square"/>
                    <a:lstStyle/>
                    <a:p>
                      <a:pPr algn="l"/>
                      <a:r>
                        <a:rPr sz="1300" b="1">
                          <a:solidFill>
                            <a:srgbClr val="FFFFFF"/>
                          </a:solidFill>
                          <a:latin typeface="Arial"/>
                        </a:rPr>
                        <a:t>To find</a:t>
                      </a:r>
                    </a:p>
                  </a:txBody>
                  <a:tcPr anchor="ctr" marL="91440" marR="73152" marT="36576" marB="36576">
                    <a:solidFill>
                      <a:srgbClr val="0B2545"/>
                    </a:solidFill>
                  </a:tcPr>
                </a:tc>
                <a:tc>
                  <a:txBody>
                    <a:bodyPr wrap="square"/>
                    <a:lstStyle/>
                    <a:p>
                      <a:pPr algn="l"/>
                      <a:r>
                        <a:rPr sz="1300" b="1">
                          <a:solidFill>
                            <a:srgbClr val="FFFFFF"/>
                          </a:solidFill>
                          <a:latin typeface="Arial"/>
                        </a:rPr>
                        <a:t>If you know</a:t>
                      </a:r>
                    </a:p>
                  </a:txBody>
                  <a:tcPr anchor="ctr" marL="91440" marR="73152" marT="36576" marB="36576">
                    <a:solidFill>
                      <a:srgbClr val="0B2545"/>
                    </a:solidFill>
                  </a:tcPr>
                </a:tc>
                <a:tc>
                  <a:txBody>
                    <a:bodyPr wrap="square"/>
                    <a:lstStyle/>
                    <a:p>
                      <a:pPr algn="l"/>
                      <a:r>
                        <a:rPr sz="1300" b="1">
                          <a:solidFill>
                            <a:srgbClr val="FFFFFF"/>
                          </a:solidFill>
                          <a:latin typeface="Arial"/>
                        </a:rPr>
                        <a:t>Use the formula</a:t>
                      </a:r>
                    </a:p>
                  </a:txBody>
                  <a:tcPr anchor="ctr" marL="91440" marR="73152" marT="36576" marB="36576">
                    <a:solidFill>
                      <a:srgbClr val="0B2545"/>
                    </a:solidFill>
                  </a:tcPr>
                </a:tc>
                <a:tc>
                  <a:txBody>
                    <a:bodyPr wrap="square"/>
                    <a:lstStyle/>
                    <a:p>
                      <a:pPr algn="l"/>
                      <a:r>
                        <a:rPr sz="1300" b="1">
                          <a:solidFill>
                            <a:srgbClr val="FFFFFF"/>
                          </a:solidFill>
                          <a:latin typeface="Arial"/>
                        </a:rPr>
                        <a:t>Units</a:t>
                      </a:r>
                    </a:p>
                  </a:txBody>
                  <a:tcPr anchor="ctr" marL="91440" marR="73152" marT="36576" marB="36576">
                    <a:solidFill>
                      <a:srgbClr val="0B2545"/>
                    </a:solidFill>
                  </a:tcPr>
                </a:tc>
              </a:tr>
              <a:tr h="425849">
                <a:tc>
                  <a:txBody>
                    <a:bodyPr wrap="square"/>
                    <a:lstStyle/>
                    <a:p>
                      <a:pPr algn="l"/>
                      <a:r>
                        <a:rPr sz="1250" b="1">
                          <a:solidFill>
                            <a:srgbClr val="0B2545"/>
                          </a:solidFill>
                          <a:latin typeface="Arial"/>
                        </a:rPr>
                        <a:t>Voltage (E)</a:t>
                      </a:r>
                    </a:p>
                  </a:txBody>
                  <a:tcPr anchor="ctr" marL="91440" marR="73152" marT="27432" marB="27432">
                    <a:solidFill>
                      <a:srgbClr val="FFFFFF"/>
                    </a:solidFill>
                  </a:tcPr>
                </a:tc>
                <a:tc>
                  <a:txBody>
                    <a:bodyPr wrap="square"/>
                    <a:lstStyle/>
                    <a:p>
                      <a:pPr algn="l"/>
                      <a:r>
                        <a:rPr sz="1250" b="0">
                          <a:solidFill>
                            <a:srgbClr val="1A2B3C"/>
                          </a:solidFill>
                          <a:latin typeface="Arial"/>
                        </a:rPr>
                        <a:t>Current &amp; Resistance</a:t>
                      </a:r>
                    </a:p>
                  </a:txBody>
                  <a:tcPr anchor="ctr" marL="91440" marR="73152" marT="27432" marB="27432">
                    <a:solidFill>
                      <a:srgbClr val="FFFFFF"/>
                    </a:solidFill>
                  </a:tcPr>
                </a:tc>
                <a:tc>
                  <a:txBody>
                    <a:bodyPr wrap="square"/>
                    <a:lstStyle/>
                    <a:p>
                      <a:pPr algn="l"/>
                      <a:r>
                        <a:rPr sz="1250" b="0">
                          <a:solidFill>
                            <a:srgbClr val="1A2B3C"/>
                          </a:solidFill>
                          <a:latin typeface="Arial"/>
                        </a:rPr>
                        <a:t>E = I × R</a:t>
                      </a:r>
                    </a:p>
                  </a:txBody>
                  <a:tcPr anchor="ctr" marL="91440" marR="73152" marT="27432" marB="27432">
                    <a:solidFill>
                      <a:srgbClr val="FFFFFF"/>
                    </a:solidFill>
                  </a:tcPr>
                </a:tc>
                <a:tc>
                  <a:txBody>
                    <a:bodyPr wrap="square"/>
                    <a:lstStyle/>
                    <a:p>
                      <a:pPr algn="l"/>
                      <a:r>
                        <a:rPr sz="1250" b="0">
                          <a:solidFill>
                            <a:srgbClr val="1A2B3C"/>
                          </a:solidFill>
                          <a:latin typeface="Arial"/>
                        </a:rPr>
                        <a:t>Volts (V)</a:t>
                      </a:r>
                    </a:p>
                  </a:txBody>
                  <a:tcPr anchor="ctr" marL="91440" marR="73152" marT="27432" marB="27432">
                    <a:solidFill>
                      <a:srgbClr val="FFFFFF"/>
                    </a:solidFill>
                  </a:tcPr>
                </a:tc>
              </a:tr>
              <a:tr h="425849">
                <a:tc>
                  <a:txBody>
                    <a:bodyPr wrap="square"/>
                    <a:lstStyle/>
                    <a:p>
                      <a:pPr algn="l"/>
                      <a:r>
                        <a:rPr sz="1250" b="1">
                          <a:solidFill>
                            <a:srgbClr val="0B2545"/>
                          </a:solidFill>
                          <a:latin typeface="Arial"/>
                        </a:rPr>
                        <a:t>Current (I)</a:t>
                      </a:r>
                    </a:p>
                  </a:txBody>
                  <a:tcPr anchor="ctr" marL="91440" marR="73152" marT="27432" marB="27432">
                    <a:solidFill>
                      <a:srgbClr val="EEF2F7"/>
                    </a:solidFill>
                  </a:tcPr>
                </a:tc>
                <a:tc>
                  <a:txBody>
                    <a:bodyPr wrap="square"/>
                    <a:lstStyle/>
                    <a:p>
                      <a:pPr algn="l"/>
                      <a:r>
                        <a:rPr sz="1250" b="0">
                          <a:solidFill>
                            <a:srgbClr val="1A2B3C"/>
                          </a:solidFill>
                          <a:latin typeface="Arial"/>
                        </a:rPr>
                        <a:t>Voltage &amp; Resistance</a:t>
                      </a:r>
                    </a:p>
                  </a:txBody>
                  <a:tcPr anchor="ctr" marL="91440" marR="73152" marT="27432" marB="27432">
                    <a:solidFill>
                      <a:srgbClr val="EEF2F7"/>
                    </a:solidFill>
                  </a:tcPr>
                </a:tc>
                <a:tc>
                  <a:txBody>
                    <a:bodyPr wrap="square"/>
                    <a:lstStyle/>
                    <a:p>
                      <a:pPr algn="l"/>
                      <a:r>
                        <a:rPr sz="1250" b="0">
                          <a:solidFill>
                            <a:srgbClr val="1A2B3C"/>
                          </a:solidFill>
                          <a:latin typeface="Arial"/>
                        </a:rPr>
                        <a:t>I = E ÷ R</a:t>
                      </a:r>
                    </a:p>
                  </a:txBody>
                  <a:tcPr anchor="ctr" marL="91440" marR="73152" marT="27432" marB="27432">
                    <a:solidFill>
                      <a:srgbClr val="EEF2F7"/>
                    </a:solidFill>
                  </a:tcPr>
                </a:tc>
                <a:tc>
                  <a:txBody>
                    <a:bodyPr wrap="square"/>
                    <a:lstStyle/>
                    <a:p>
                      <a:pPr algn="l"/>
                      <a:r>
                        <a:rPr sz="1250" b="0">
                          <a:solidFill>
                            <a:srgbClr val="1A2B3C"/>
                          </a:solidFill>
                          <a:latin typeface="Arial"/>
                        </a:rPr>
                        <a:t>Amperes (A)</a:t>
                      </a:r>
                    </a:p>
                  </a:txBody>
                  <a:tcPr anchor="ctr" marL="91440" marR="73152" marT="27432" marB="27432">
                    <a:solidFill>
                      <a:srgbClr val="EEF2F7"/>
                    </a:solidFill>
                  </a:tcPr>
                </a:tc>
              </a:tr>
              <a:tr h="425849">
                <a:tc>
                  <a:txBody>
                    <a:bodyPr wrap="square"/>
                    <a:lstStyle/>
                    <a:p>
                      <a:pPr algn="l"/>
                      <a:r>
                        <a:rPr sz="1250" b="1">
                          <a:solidFill>
                            <a:srgbClr val="0B2545"/>
                          </a:solidFill>
                          <a:latin typeface="Arial"/>
                        </a:rPr>
                        <a:t>Resistance (R)</a:t>
                      </a:r>
                    </a:p>
                  </a:txBody>
                  <a:tcPr anchor="ctr" marL="91440" marR="73152" marT="27432" marB="27432">
                    <a:solidFill>
                      <a:srgbClr val="FFFFFF"/>
                    </a:solidFill>
                  </a:tcPr>
                </a:tc>
                <a:tc>
                  <a:txBody>
                    <a:bodyPr wrap="square"/>
                    <a:lstStyle/>
                    <a:p>
                      <a:pPr algn="l"/>
                      <a:r>
                        <a:rPr sz="1250" b="0">
                          <a:solidFill>
                            <a:srgbClr val="1A2B3C"/>
                          </a:solidFill>
                          <a:latin typeface="Arial"/>
                        </a:rPr>
                        <a:t>Voltage &amp; Current</a:t>
                      </a:r>
                    </a:p>
                  </a:txBody>
                  <a:tcPr anchor="ctr" marL="91440" marR="73152" marT="27432" marB="27432">
                    <a:solidFill>
                      <a:srgbClr val="FFFFFF"/>
                    </a:solidFill>
                  </a:tcPr>
                </a:tc>
                <a:tc>
                  <a:txBody>
                    <a:bodyPr wrap="square"/>
                    <a:lstStyle/>
                    <a:p>
                      <a:pPr algn="l"/>
                      <a:r>
                        <a:rPr sz="1250" b="0">
                          <a:solidFill>
                            <a:srgbClr val="1A2B3C"/>
                          </a:solidFill>
                          <a:latin typeface="Arial"/>
                        </a:rPr>
                        <a:t>R = E ÷ I</a:t>
                      </a:r>
                    </a:p>
                  </a:txBody>
                  <a:tcPr anchor="ctr" marL="91440" marR="73152" marT="27432" marB="27432">
                    <a:solidFill>
                      <a:srgbClr val="FFFFFF"/>
                    </a:solidFill>
                  </a:tcPr>
                </a:tc>
                <a:tc>
                  <a:txBody>
                    <a:bodyPr wrap="square"/>
                    <a:lstStyle/>
                    <a:p>
                      <a:pPr algn="l"/>
                      <a:r>
                        <a:rPr sz="1250" b="0">
                          <a:solidFill>
                            <a:srgbClr val="1A2B3C"/>
                          </a:solidFill>
                          <a:latin typeface="Arial"/>
                        </a:rPr>
                        <a:t>Ohms (Ω)</a:t>
                      </a:r>
                    </a:p>
                  </a:txBody>
                  <a:tcPr anchor="ctr" marL="91440" marR="73152" marT="27432" marB="27432">
                    <a:solidFill>
                      <a:srgbClr val="FFFFFF"/>
                    </a:solidFill>
                  </a:tcPr>
                </a:tc>
              </a:tr>
              <a:tr h="425849">
                <a:tc>
                  <a:txBody>
                    <a:bodyPr wrap="square"/>
                    <a:lstStyle/>
                    <a:p>
                      <a:pPr algn="l"/>
                      <a:r>
                        <a:rPr sz="1250" b="1">
                          <a:solidFill>
                            <a:srgbClr val="0B2545"/>
                          </a:solidFill>
                          <a:latin typeface="Arial"/>
                        </a:rPr>
                        <a:t>Power (P)</a:t>
                      </a:r>
                    </a:p>
                  </a:txBody>
                  <a:tcPr anchor="ctr" marL="91440" marR="73152" marT="27432" marB="27432">
                    <a:solidFill>
                      <a:srgbClr val="EEF2F7"/>
                    </a:solidFill>
                  </a:tcPr>
                </a:tc>
                <a:tc>
                  <a:txBody>
                    <a:bodyPr wrap="square"/>
                    <a:lstStyle/>
                    <a:p>
                      <a:pPr algn="l"/>
                      <a:r>
                        <a:rPr sz="1250" b="0">
                          <a:solidFill>
                            <a:srgbClr val="1A2B3C"/>
                          </a:solidFill>
                          <a:latin typeface="Arial"/>
                        </a:rPr>
                        <a:t>Voltage &amp; Current</a:t>
                      </a:r>
                    </a:p>
                  </a:txBody>
                  <a:tcPr anchor="ctr" marL="91440" marR="73152" marT="27432" marB="27432">
                    <a:solidFill>
                      <a:srgbClr val="EEF2F7"/>
                    </a:solidFill>
                  </a:tcPr>
                </a:tc>
                <a:tc>
                  <a:txBody>
                    <a:bodyPr wrap="square"/>
                    <a:lstStyle/>
                    <a:p>
                      <a:pPr algn="l"/>
                      <a:r>
                        <a:rPr sz="1250" b="0">
                          <a:solidFill>
                            <a:srgbClr val="1A2B3C"/>
                          </a:solidFill>
                          <a:latin typeface="Arial"/>
                        </a:rPr>
                        <a:t>P = E × I</a:t>
                      </a:r>
                    </a:p>
                  </a:txBody>
                  <a:tcPr anchor="ctr" marL="91440" marR="73152" marT="27432" marB="27432">
                    <a:solidFill>
                      <a:srgbClr val="EEF2F7"/>
                    </a:solidFill>
                  </a:tcPr>
                </a:tc>
                <a:tc>
                  <a:txBody>
                    <a:bodyPr wrap="square"/>
                    <a:lstStyle/>
                    <a:p>
                      <a:pPr algn="l"/>
                      <a:r>
                        <a:rPr sz="1250" b="0">
                          <a:solidFill>
                            <a:srgbClr val="1A2B3C"/>
                          </a:solidFill>
                          <a:latin typeface="Arial"/>
                        </a:rPr>
                        <a:t>Watts (W)</a:t>
                      </a:r>
                    </a:p>
                  </a:txBody>
                  <a:tcPr anchor="ctr" marL="91440" marR="73152" marT="27432" marB="27432">
                    <a:solidFill>
                      <a:srgbClr val="EEF2F7"/>
                    </a:solidFill>
                  </a:tcPr>
                </a:tc>
              </a:tr>
              <a:tr h="425849">
                <a:tc>
                  <a:txBody>
                    <a:bodyPr wrap="square"/>
                    <a:lstStyle/>
                    <a:p>
                      <a:pPr algn="l"/>
                      <a:r>
                        <a:rPr sz="1250" b="1">
                          <a:solidFill>
                            <a:srgbClr val="0B2545"/>
                          </a:solidFill>
                          <a:latin typeface="Arial"/>
                        </a:rPr>
                        <a:t>Power (P)</a:t>
                      </a:r>
                    </a:p>
                  </a:txBody>
                  <a:tcPr anchor="ctr" marL="91440" marR="73152" marT="27432" marB="27432">
                    <a:solidFill>
                      <a:srgbClr val="FFFFFF"/>
                    </a:solidFill>
                  </a:tcPr>
                </a:tc>
                <a:tc>
                  <a:txBody>
                    <a:bodyPr wrap="square"/>
                    <a:lstStyle/>
                    <a:p>
                      <a:pPr algn="l"/>
                      <a:r>
                        <a:rPr sz="1250" b="0">
                          <a:solidFill>
                            <a:srgbClr val="1A2B3C"/>
                          </a:solidFill>
                          <a:latin typeface="Arial"/>
                        </a:rPr>
                        <a:t>Current &amp; Resistance</a:t>
                      </a:r>
                    </a:p>
                  </a:txBody>
                  <a:tcPr anchor="ctr" marL="91440" marR="73152" marT="27432" marB="27432">
                    <a:solidFill>
                      <a:srgbClr val="FFFFFF"/>
                    </a:solidFill>
                  </a:tcPr>
                </a:tc>
                <a:tc>
                  <a:txBody>
                    <a:bodyPr wrap="square"/>
                    <a:lstStyle/>
                    <a:p>
                      <a:pPr algn="l"/>
                      <a:r>
                        <a:rPr sz="1250" b="0">
                          <a:solidFill>
                            <a:srgbClr val="1A2B3C"/>
                          </a:solidFill>
                          <a:latin typeface="Arial"/>
                        </a:rPr>
                        <a:t>P = I² × R</a:t>
                      </a:r>
                    </a:p>
                  </a:txBody>
                  <a:tcPr anchor="ctr" marL="91440" marR="73152" marT="27432" marB="27432">
                    <a:solidFill>
                      <a:srgbClr val="FFFFFF"/>
                    </a:solidFill>
                  </a:tcPr>
                </a:tc>
                <a:tc>
                  <a:txBody>
                    <a:bodyPr wrap="square"/>
                    <a:lstStyle/>
                    <a:p>
                      <a:pPr algn="l"/>
                      <a:r>
                        <a:rPr sz="1250" b="0">
                          <a:solidFill>
                            <a:srgbClr val="1A2B3C"/>
                          </a:solidFill>
                          <a:latin typeface="Arial"/>
                        </a:rPr>
                        <a:t>Watts (W)</a:t>
                      </a:r>
                    </a:p>
                  </a:txBody>
                  <a:tcPr anchor="ctr" marL="91440" marR="73152" marT="27432" marB="27432">
                    <a:solidFill>
                      <a:srgbClr val="FFFFFF"/>
                    </a:solidFill>
                  </a:tcPr>
                </a:tc>
              </a:tr>
              <a:tr h="425850">
                <a:tc>
                  <a:txBody>
                    <a:bodyPr wrap="square"/>
                    <a:lstStyle/>
                    <a:p>
                      <a:pPr algn="l"/>
                      <a:r>
                        <a:rPr sz="1250" b="1">
                          <a:solidFill>
                            <a:srgbClr val="0B2545"/>
                          </a:solidFill>
                          <a:latin typeface="Arial"/>
                        </a:rPr>
                        <a:t>Power (P)</a:t>
                      </a:r>
                    </a:p>
                  </a:txBody>
                  <a:tcPr anchor="ctr" marL="91440" marR="73152" marT="27432" marB="27432">
                    <a:solidFill>
                      <a:srgbClr val="EEF2F7"/>
                    </a:solidFill>
                  </a:tcPr>
                </a:tc>
                <a:tc>
                  <a:txBody>
                    <a:bodyPr wrap="square"/>
                    <a:lstStyle/>
                    <a:p>
                      <a:pPr algn="l"/>
                      <a:r>
                        <a:rPr sz="1250" b="0">
                          <a:solidFill>
                            <a:srgbClr val="1A2B3C"/>
                          </a:solidFill>
                          <a:latin typeface="Arial"/>
                        </a:rPr>
                        <a:t>Voltage &amp; Resistance</a:t>
                      </a:r>
                    </a:p>
                  </a:txBody>
                  <a:tcPr anchor="ctr" marL="91440" marR="73152" marT="27432" marB="27432">
                    <a:solidFill>
                      <a:srgbClr val="EEF2F7"/>
                    </a:solidFill>
                  </a:tcPr>
                </a:tc>
                <a:tc>
                  <a:txBody>
                    <a:bodyPr wrap="square"/>
                    <a:lstStyle/>
                    <a:p>
                      <a:pPr algn="l"/>
                      <a:r>
                        <a:rPr sz="1250" b="0">
                          <a:solidFill>
                            <a:srgbClr val="1A2B3C"/>
                          </a:solidFill>
                          <a:latin typeface="Arial"/>
                        </a:rPr>
                        <a:t>P = E² ÷ R</a:t>
                      </a:r>
                    </a:p>
                  </a:txBody>
                  <a:tcPr anchor="ctr" marL="91440" marR="73152" marT="27432" marB="27432">
                    <a:solidFill>
                      <a:srgbClr val="EEF2F7"/>
                    </a:solidFill>
                  </a:tcPr>
                </a:tc>
                <a:tc>
                  <a:txBody>
                    <a:bodyPr wrap="square"/>
                    <a:lstStyle/>
                    <a:p>
                      <a:pPr algn="l"/>
                      <a:r>
                        <a:rPr sz="1250" b="0">
                          <a:solidFill>
                            <a:srgbClr val="1A2B3C"/>
                          </a:solidFill>
                          <a:latin typeface="Arial"/>
                        </a:rPr>
                        <a:t>Watts (W)</a:t>
                      </a:r>
                    </a:p>
                  </a:txBody>
                  <a:tcPr anchor="ctr" marL="91440" marR="73152" marT="27432" marB="27432">
                    <a:solidFill>
                      <a:srgbClr val="EEF2F7"/>
                    </a:solidFill>
                  </a:tcPr>
                </a:tc>
              </a:tr>
            </a:tbl>
          </a:graphicData>
        </a:graphic>
      </p:graphicFrame>
      <p:sp>
        <p:nvSpPr>
          <p:cNvPr id="8" name="TextBox 7"/>
          <p:cNvSpPr txBox="1"/>
          <p:nvPr/>
        </p:nvSpPr>
        <p:spPr>
          <a:xfrm>
            <a:off x="658368" y="4974336"/>
            <a:ext cx="10881360" cy="822960"/>
          </a:xfrm>
          <a:prstGeom prst="rect">
            <a:avLst/>
          </a:prstGeom>
          <a:noFill/>
        </p:spPr>
        <p:txBody>
          <a:bodyPr wrap="square" anchor="t" lIns="0" rIns="0" tIns="0" bIns="0">
            <a:spAutoFit/>
          </a:bodyPr>
          <a:lstStyle/>
          <a:p>
            <a:pPr algn="l">
              <a:lnSpc>
                <a:spcPct val="110000"/>
              </a:lnSpc>
              <a:spcBef>
                <a:spcPts val="400"/>
              </a:spcBef>
              <a:spcAft>
                <a:spcPts val="400"/>
              </a:spcAft>
            </a:pPr>
            <a:r>
              <a:rPr sz="1200" b="0" i="1">
                <a:solidFill>
                  <a:srgbClr val="5B6B7B"/>
                </a:solidFill>
                <a:latin typeface="Arial"/>
              </a:rPr>
              <a:t>Tip: cover the value you want in the V / I / R triangle and the remaining two show you the operation. Power = the rate energy is delivered — and the source of heat and arc energy.</a:t>
            </a:r>
          </a:p>
        </p:txBody>
      </p:sp>
      <p:sp>
        <p:nvSpPr>
          <p:cNvPr id="9" name="Rectangle 8"/>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1 — Electrical Theory</a:t>
            </a:r>
          </a:p>
        </p:txBody>
      </p:sp>
      <p:sp>
        <p:nvSpPr>
          <p:cNvPr id="11" name="TextBox 10"/>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1.6 WAVEFORMS</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AC vs DC</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783080"/>
            <a:ext cx="5349240" cy="4297680"/>
          </a:xfrm>
          <a:prstGeom prst="roundRect">
            <a:avLst/>
          </a:prstGeom>
          <a:solidFill>
            <a:srgbClr val="EEF2F7"/>
          </a:solidFill>
          <a:ln w="12700">
            <a:solidFill>
              <a:srgbClr val="CF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40080" y="1783080"/>
            <a:ext cx="5349240" cy="566928"/>
          </a:xfrm>
          <a:prstGeom prst="roundRect">
            <a:avLst/>
          </a:prstGeom>
          <a:solidFill>
            <a:srgbClr val="3A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2066543"/>
            <a:ext cx="5349240" cy="283464"/>
          </a:xfrm>
          <a:prstGeom prst="rect">
            <a:avLst/>
          </a:prstGeom>
          <a:solidFill>
            <a:srgbClr val="3A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1837943"/>
            <a:ext cx="4892040" cy="475488"/>
          </a:xfrm>
          <a:prstGeom prst="rect">
            <a:avLst/>
          </a:prstGeom>
          <a:noFill/>
        </p:spPr>
        <p:txBody>
          <a:bodyPr wrap="square" anchor="ctr" lIns="0" rIns="0" tIns="0" bIns="0">
            <a:spAutoFit/>
          </a:bodyPr>
          <a:lstStyle/>
          <a:p>
            <a:pPr algn="l">
              <a:lnSpc>
                <a:spcPct val="105000"/>
              </a:lnSpc>
              <a:spcBef>
                <a:spcPts val="400"/>
              </a:spcBef>
              <a:spcAft>
                <a:spcPts val="400"/>
              </a:spcAft>
            </a:pPr>
            <a:r>
              <a:rPr sz="1600" b="1" i="0">
                <a:solidFill>
                  <a:srgbClr val="FFFFFF"/>
                </a:solidFill>
                <a:latin typeface="Arial"/>
              </a:rPr>
              <a:t>Direct Current (DC)</a:t>
            </a:r>
          </a:p>
        </p:txBody>
      </p:sp>
      <p:sp>
        <p:nvSpPr>
          <p:cNvPr id="11" name="TextBox 10"/>
          <p:cNvSpPr txBox="1"/>
          <p:nvPr/>
        </p:nvSpPr>
        <p:spPr>
          <a:xfrm>
            <a:off x="914400" y="2514600"/>
            <a:ext cx="4800600" cy="3383280"/>
          </a:xfrm>
          <a:prstGeom prst="rect">
            <a:avLst/>
          </a:prstGeom>
          <a:noFill/>
        </p:spPr>
        <p:txBody>
          <a:bodyPr wrap="square" anchor="t" lIns="0" rIns="0" tIns="0" bIns="0">
            <a:spAutoFit/>
          </a:bodyPr>
          <a:lstStyle/>
          <a:p>
            <a:pPr algn="l">
              <a:lnSpc>
                <a:spcPct val="103000"/>
              </a:lnSpc>
              <a:spcBef>
                <a:spcPts val="500"/>
              </a:spcBef>
              <a:spcAft>
                <a:spcPts val="200"/>
              </a:spcAft>
            </a:pPr>
            <a:r>
              <a:rPr sz="1400" b="0" i="0">
                <a:solidFill>
                  <a:srgbClr val="1A2B3C"/>
                </a:solidFill>
                <a:latin typeface="Arial"/>
              </a:rPr>
              <a:t>■  Electrons flow one direction only</a:t>
            </a:r>
          </a:p>
          <a:p>
            <a:pPr algn="l">
              <a:lnSpc>
                <a:spcPct val="103000"/>
              </a:lnSpc>
              <a:spcBef>
                <a:spcPts val="500"/>
              </a:spcBef>
              <a:spcAft>
                <a:spcPts val="200"/>
              </a:spcAft>
            </a:pPr>
            <a:r>
              <a:rPr sz="1400" b="0" i="0">
                <a:solidFill>
                  <a:srgbClr val="1A2B3C"/>
                </a:solidFill>
                <a:latin typeface="Arial"/>
              </a:rPr>
              <a:t>■  Batteries, solar arrays, some traction &amp; HVDC systems</a:t>
            </a:r>
          </a:p>
          <a:p>
            <a:pPr algn="l">
              <a:lnSpc>
                <a:spcPct val="103000"/>
              </a:lnSpc>
              <a:spcBef>
                <a:spcPts val="500"/>
              </a:spcBef>
              <a:spcAft>
                <a:spcPts val="200"/>
              </a:spcAft>
            </a:pPr>
            <a:r>
              <a:rPr sz="1400" b="0" i="0">
                <a:solidFill>
                  <a:srgbClr val="1A2B3C"/>
                </a:solidFill>
                <a:latin typeface="Arial"/>
              </a:rPr>
              <a:t>■  Steady polarity — + and – stay fixed</a:t>
            </a:r>
          </a:p>
          <a:p>
            <a:pPr algn="l">
              <a:lnSpc>
                <a:spcPct val="103000"/>
              </a:lnSpc>
              <a:spcBef>
                <a:spcPts val="500"/>
              </a:spcBef>
              <a:spcAft>
                <a:spcPts val="200"/>
              </a:spcAft>
            </a:pPr>
            <a:r>
              <a:rPr sz="1400" b="0" i="0">
                <a:solidFill>
                  <a:srgbClr val="1A2B3C"/>
                </a:solidFill>
                <a:latin typeface="Arial"/>
              </a:rPr>
              <a:t>■  Cannot be easily transformed up/down in voltage</a:t>
            </a:r>
          </a:p>
          <a:p>
            <a:pPr algn="l">
              <a:lnSpc>
                <a:spcPct val="103000"/>
              </a:lnSpc>
              <a:spcBef>
                <a:spcPts val="500"/>
              </a:spcBef>
              <a:spcAft>
                <a:spcPts val="200"/>
              </a:spcAft>
            </a:pPr>
            <a:r>
              <a:rPr sz="1400" b="0" i="0">
                <a:solidFill>
                  <a:srgbClr val="1A2B3C"/>
                </a:solidFill>
                <a:latin typeface="Arial"/>
              </a:rPr>
              <a:t>■  DC can cause sustained muscle 'lock-on'</a:t>
            </a:r>
          </a:p>
        </p:txBody>
      </p:sp>
      <p:sp>
        <p:nvSpPr>
          <p:cNvPr id="12" name="Rounded Rectangle 11"/>
          <p:cNvSpPr/>
          <p:nvPr/>
        </p:nvSpPr>
        <p:spPr>
          <a:xfrm>
            <a:off x="6309359" y="1783080"/>
            <a:ext cx="5349240" cy="4297680"/>
          </a:xfrm>
          <a:prstGeom prst="roundRect">
            <a:avLst/>
          </a:prstGeom>
          <a:solidFill>
            <a:srgbClr val="EEF2F7"/>
          </a:solidFill>
          <a:ln w="12700">
            <a:solidFill>
              <a:srgbClr val="CF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09359" y="1783080"/>
            <a:ext cx="5349240" cy="566928"/>
          </a:xfrm>
          <a:prstGeom prst="roundRect">
            <a:avLst/>
          </a:prstGeom>
          <a:solidFill>
            <a:srgbClr val="1340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59" y="2066543"/>
            <a:ext cx="5349240" cy="283464"/>
          </a:xfrm>
          <a:prstGeom prst="rect">
            <a:avLst/>
          </a:prstGeom>
          <a:solidFill>
            <a:srgbClr val="1340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37959" y="1837943"/>
            <a:ext cx="4892040" cy="475488"/>
          </a:xfrm>
          <a:prstGeom prst="rect">
            <a:avLst/>
          </a:prstGeom>
          <a:noFill/>
        </p:spPr>
        <p:txBody>
          <a:bodyPr wrap="square" anchor="ctr" lIns="0" rIns="0" tIns="0" bIns="0">
            <a:spAutoFit/>
          </a:bodyPr>
          <a:lstStyle/>
          <a:p>
            <a:pPr algn="l">
              <a:lnSpc>
                <a:spcPct val="105000"/>
              </a:lnSpc>
              <a:spcBef>
                <a:spcPts val="400"/>
              </a:spcBef>
              <a:spcAft>
                <a:spcPts val="400"/>
              </a:spcAft>
            </a:pPr>
            <a:r>
              <a:rPr sz="1600" b="1" i="0">
                <a:solidFill>
                  <a:srgbClr val="FFFFFF"/>
                </a:solidFill>
                <a:latin typeface="Arial"/>
              </a:rPr>
              <a:t>Alternating Current (AC)</a:t>
            </a:r>
          </a:p>
        </p:txBody>
      </p:sp>
      <p:sp>
        <p:nvSpPr>
          <p:cNvPr id="16" name="TextBox 15"/>
          <p:cNvSpPr txBox="1"/>
          <p:nvPr/>
        </p:nvSpPr>
        <p:spPr>
          <a:xfrm>
            <a:off x="6583679" y="2514600"/>
            <a:ext cx="4800600" cy="3383280"/>
          </a:xfrm>
          <a:prstGeom prst="rect">
            <a:avLst/>
          </a:prstGeom>
          <a:noFill/>
        </p:spPr>
        <p:txBody>
          <a:bodyPr wrap="square" anchor="t" lIns="0" rIns="0" tIns="0" bIns="0">
            <a:spAutoFit/>
          </a:bodyPr>
          <a:lstStyle/>
          <a:p>
            <a:pPr algn="l">
              <a:lnSpc>
                <a:spcPct val="103000"/>
              </a:lnSpc>
              <a:spcBef>
                <a:spcPts val="500"/>
              </a:spcBef>
              <a:spcAft>
                <a:spcPts val="200"/>
              </a:spcAft>
            </a:pPr>
            <a:r>
              <a:rPr sz="1400" b="0" i="0">
                <a:solidFill>
                  <a:srgbClr val="1A2B3C"/>
                </a:solidFill>
                <a:latin typeface="Arial"/>
              </a:rPr>
              <a:t>■  Electrons reverse direction cyclically</a:t>
            </a:r>
          </a:p>
          <a:p>
            <a:pPr algn="l">
              <a:lnSpc>
                <a:spcPct val="103000"/>
              </a:lnSpc>
              <a:spcBef>
                <a:spcPts val="500"/>
              </a:spcBef>
              <a:spcAft>
                <a:spcPts val="200"/>
              </a:spcAft>
            </a:pPr>
            <a:r>
              <a:rPr sz="1400" b="0" i="0">
                <a:solidFill>
                  <a:srgbClr val="1A2B3C"/>
                </a:solidFill>
                <a:latin typeface="Arial"/>
              </a:rPr>
              <a:t>■  60 Hz in North America = 60 cycles per second</a:t>
            </a:r>
          </a:p>
          <a:p>
            <a:pPr algn="l">
              <a:lnSpc>
                <a:spcPct val="103000"/>
              </a:lnSpc>
              <a:spcBef>
                <a:spcPts val="500"/>
              </a:spcBef>
              <a:spcAft>
                <a:spcPts val="200"/>
              </a:spcAft>
            </a:pPr>
            <a:r>
              <a:rPr sz="1400" b="0" i="0">
                <a:solidFill>
                  <a:srgbClr val="1A2B3C"/>
                </a:solidFill>
                <a:latin typeface="Arial"/>
              </a:rPr>
              <a:t>■  Polarity and magnitude change continuously (a sine wave)</a:t>
            </a:r>
          </a:p>
          <a:p>
            <a:pPr algn="l">
              <a:lnSpc>
                <a:spcPct val="103000"/>
              </a:lnSpc>
              <a:spcBef>
                <a:spcPts val="500"/>
              </a:spcBef>
              <a:spcAft>
                <a:spcPts val="200"/>
              </a:spcAft>
            </a:pPr>
            <a:r>
              <a:rPr sz="1400" b="0" i="0">
                <a:solidFill>
                  <a:srgbClr val="1A2B3C"/>
                </a:solidFill>
                <a:latin typeface="Arial"/>
              </a:rPr>
              <a:t>■  Easily stepped up/down by transformers — why the grid uses it</a:t>
            </a:r>
          </a:p>
          <a:p>
            <a:pPr algn="l">
              <a:lnSpc>
                <a:spcPct val="103000"/>
              </a:lnSpc>
              <a:spcBef>
                <a:spcPts val="500"/>
              </a:spcBef>
              <a:spcAft>
                <a:spcPts val="200"/>
              </a:spcAft>
            </a:pPr>
            <a:r>
              <a:rPr sz="1400" b="0" i="0">
                <a:solidFill>
                  <a:srgbClr val="1A2B3C"/>
                </a:solidFill>
                <a:latin typeface="Arial"/>
              </a:rPr>
              <a:t>■  Crosses zero 120×/sec, but is still lethal — never assume 'off'</a:t>
            </a:r>
          </a:p>
        </p:txBody>
      </p:sp>
      <p:sp>
        <p:nvSpPr>
          <p:cNvPr id="17" name="Rectangle 16"/>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1 — Electrical Theory</a:t>
            </a:r>
          </a:p>
        </p:txBody>
      </p:sp>
      <p:sp>
        <p:nvSpPr>
          <p:cNvPr id="19" name="TextBox 18"/>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1.6 AC BEHAVIOR</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AC Details: Frequency, Peak &amp; RMS</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783080"/>
            <a:ext cx="10927080" cy="4160520"/>
          </a:xfrm>
          <a:prstGeom prst="rect">
            <a:avLst/>
          </a:prstGeom>
          <a:noFill/>
        </p:spPr>
        <p:txBody>
          <a:bodyPr wrap="square" anchor="t" lIns="0" rIns="0" tIns="0" bIns="0">
            <a:spAutoFit/>
          </a:bodyPr>
          <a:lstStyle/>
          <a:p>
            <a:pPr algn="l">
              <a:lnSpc>
                <a:spcPct val="105000"/>
              </a:lnSpc>
              <a:spcBef>
                <a:spcPts val="700"/>
              </a:spcBef>
              <a:spcAft>
                <a:spcPts val="200"/>
              </a:spcAft>
            </a:pPr>
            <a:r>
              <a:rPr sz="1800" b="0" i="0">
                <a:solidFill>
                  <a:srgbClr val="1A2B3C"/>
                </a:solidFill>
                <a:latin typeface="Arial"/>
              </a:rPr>
              <a:t>■  One full cycle = one complete positive + negative swing of the sine wave</a:t>
            </a:r>
          </a:p>
          <a:p>
            <a:pPr algn="l">
              <a:lnSpc>
                <a:spcPct val="105000"/>
              </a:lnSpc>
              <a:spcBef>
                <a:spcPts val="700"/>
              </a:spcBef>
              <a:spcAft>
                <a:spcPts val="200"/>
              </a:spcAft>
            </a:pPr>
            <a:r>
              <a:rPr sz="1800" b="0" i="0">
                <a:solidFill>
                  <a:srgbClr val="1A2B3C"/>
                </a:solidFill>
                <a:latin typeface="Arial"/>
              </a:rPr>
              <a:t>■  Frequency = cycles per second, measured in hertz (Hz); 60 Hz in the U.S./Canada</a:t>
            </a:r>
          </a:p>
          <a:p>
            <a:pPr algn="l">
              <a:lnSpc>
                <a:spcPct val="105000"/>
              </a:lnSpc>
              <a:spcBef>
                <a:spcPts val="700"/>
              </a:spcBef>
              <a:spcAft>
                <a:spcPts val="200"/>
              </a:spcAft>
            </a:pPr>
            <a:r>
              <a:rPr sz="1800" b="0" i="0">
                <a:solidFill>
                  <a:srgbClr val="1A2B3C"/>
                </a:solidFill>
                <a:latin typeface="Arial"/>
              </a:rPr>
              <a:t>■  Peak voltage is the maximum the wave reaches; the average useful value is the RMS</a:t>
            </a:r>
          </a:p>
          <a:p>
            <a:pPr algn="l" lvl="1">
              <a:lnSpc>
                <a:spcPct val="103000"/>
              </a:lnSpc>
              <a:spcBef>
                <a:spcPts val="200"/>
              </a:spcBef>
              <a:spcAft>
                <a:spcPts val="200"/>
              </a:spcAft>
            </a:pPr>
            <a:r>
              <a:rPr sz="1500" b="0" i="0">
                <a:solidFill>
                  <a:srgbClr val="334455"/>
                </a:solidFill>
                <a:latin typeface="Arial"/>
              </a:rPr>
              <a:t>–  RMS (root-mean-square) is the 'DC-equivalent' value — it does the same work</a:t>
            </a:r>
          </a:p>
          <a:p>
            <a:pPr algn="l" lvl="1">
              <a:lnSpc>
                <a:spcPct val="103000"/>
              </a:lnSpc>
              <a:spcBef>
                <a:spcPts val="200"/>
              </a:spcBef>
              <a:spcAft>
                <a:spcPts val="200"/>
              </a:spcAft>
            </a:pPr>
            <a:r>
              <a:rPr sz="1500" b="0" i="0">
                <a:solidFill>
                  <a:srgbClr val="334455"/>
                </a:solidFill>
                <a:latin typeface="Arial"/>
              </a:rPr>
              <a:t>–  When we say 120 V or 7,200 V, we mean RMS; peak is ~1.414× higher</a:t>
            </a:r>
          </a:p>
          <a:p>
            <a:pPr algn="l">
              <a:lnSpc>
                <a:spcPct val="105000"/>
              </a:lnSpc>
              <a:spcBef>
                <a:spcPts val="700"/>
              </a:spcBef>
              <a:spcAft>
                <a:spcPts val="200"/>
              </a:spcAft>
            </a:pPr>
            <a:r>
              <a:rPr sz="1800" b="0" i="0">
                <a:solidFill>
                  <a:srgbClr val="1A2B3C"/>
                </a:solidFill>
                <a:latin typeface="Arial"/>
              </a:rPr>
              <a:t>■  Phase describes where two AC waveforms are in their cycle relative to each other</a:t>
            </a:r>
          </a:p>
          <a:p>
            <a:pPr algn="l" lvl="1">
              <a:lnSpc>
                <a:spcPct val="103000"/>
              </a:lnSpc>
              <a:spcBef>
                <a:spcPts val="200"/>
              </a:spcBef>
              <a:spcAft>
                <a:spcPts val="200"/>
              </a:spcAft>
            </a:pPr>
            <a:r>
              <a:rPr sz="1500" b="0" i="0">
                <a:solidFill>
                  <a:srgbClr val="334455"/>
                </a:solidFill>
                <a:latin typeface="Arial"/>
              </a:rPr>
              <a:t>–  Critical for three-phase systems and for paralleling sources</a:t>
            </a:r>
          </a:p>
          <a:p>
            <a:pPr algn="l">
              <a:lnSpc>
                <a:spcPct val="105000"/>
              </a:lnSpc>
              <a:spcBef>
                <a:spcPts val="700"/>
              </a:spcBef>
              <a:spcAft>
                <a:spcPts val="200"/>
              </a:spcAft>
            </a:pPr>
            <a:r>
              <a:rPr sz="1800" b="0" i="0">
                <a:solidFill>
                  <a:srgbClr val="1A2B3C"/>
                </a:solidFill>
                <a:latin typeface="Arial"/>
              </a:rPr>
              <a:t>■  Inductance and capacitance on lines cause current and voltage to shift out of step</a:t>
            </a:r>
          </a:p>
          <a:p>
            <a:pPr algn="l" lvl="1">
              <a:lnSpc>
                <a:spcPct val="103000"/>
              </a:lnSpc>
              <a:spcBef>
                <a:spcPts val="200"/>
              </a:spcBef>
              <a:spcAft>
                <a:spcPts val="200"/>
              </a:spcAft>
            </a:pPr>
            <a:r>
              <a:rPr sz="1500" b="0" i="0">
                <a:solidFill>
                  <a:srgbClr val="334455"/>
                </a:solidFill>
                <a:latin typeface="Arial"/>
              </a:rPr>
              <a:t>–  This is the source of INDUCED voltage on de-energized parallel circuits (Module 3)</a:t>
            </a:r>
          </a:p>
        </p:txBody>
      </p:sp>
      <p:sp>
        <p:nvSpPr>
          <p:cNvPr id="8" name="Rectangle 7"/>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1 — Electrical Theory</a:t>
            </a:r>
          </a:p>
        </p:txBody>
      </p:sp>
      <p:sp>
        <p:nvSpPr>
          <p:cNvPr id="10" name="TextBox 9"/>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1.7 PHASES</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Single-Phase vs Three-Phase</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783080"/>
            <a:ext cx="5349240" cy="4297680"/>
          </a:xfrm>
          <a:prstGeom prst="roundRect">
            <a:avLst/>
          </a:prstGeom>
          <a:solidFill>
            <a:srgbClr val="EEF2F7"/>
          </a:solidFill>
          <a:ln w="12700">
            <a:solidFill>
              <a:srgbClr val="CF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40080" y="1783080"/>
            <a:ext cx="5349240" cy="566928"/>
          </a:xfrm>
          <a:prstGeom prst="roundRect">
            <a:avLst/>
          </a:prstGeom>
          <a:solidFill>
            <a:srgbClr val="3A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2066543"/>
            <a:ext cx="5349240" cy="283464"/>
          </a:xfrm>
          <a:prstGeom prst="rect">
            <a:avLst/>
          </a:prstGeom>
          <a:solidFill>
            <a:srgbClr val="3A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1837943"/>
            <a:ext cx="4892040" cy="475488"/>
          </a:xfrm>
          <a:prstGeom prst="rect">
            <a:avLst/>
          </a:prstGeom>
          <a:noFill/>
        </p:spPr>
        <p:txBody>
          <a:bodyPr wrap="square" anchor="ctr" lIns="0" rIns="0" tIns="0" bIns="0">
            <a:spAutoFit/>
          </a:bodyPr>
          <a:lstStyle/>
          <a:p>
            <a:pPr algn="l">
              <a:lnSpc>
                <a:spcPct val="105000"/>
              </a:lnSpc>
              <a:spcBef>
                <a:spcPts val="400"/>
              </a:spcBef>
              <a:spcAft>
                <a:spcPts val="400"/>
              </a:spcAft>
            </a:pPr>
            <a:r>
              <a:rPr sz="1600" b="1" i="0">
                <a:solidFill>
                  <a:srgbClr val="FFFFFF"/>
                </a:solidFill>
                <a:latin typeface="Arial"/>
              </a:rPr>
              <a:t>Single-Phase</a:t>
            </a:r>
          </a:p>
        </p:txBody>
      </p:sp>
      <p:sp>
        <p:nvSpPr>
          <p:cNvPr id="11" name="TextBox 10"/>
          <p:cNvSpPr txBox="1"/>
          <p:nvPr/>
        </p:nvSpPr>
        <p:spPr>
          <a:xfrm>
            <a:off x="914400" y="2514600"/>
            <a:ext cx="4800600" cy="3383280"/>
          </a:xfrm>
          <a:prstGeom prst="rect">
            <a:avLst/>
          </a:prstGeom>
          <a:noFill/>
        </p:spPr>
        <p:txBody>
          <a:bodyPr wrap="square" anchor="t" lIns="0" rIns="0" tIns="0" bIns="0">
            <a:spAutoFit/>
          </a:bodyPr>
          <a:lstStyle/>
          <a:p>
            <a:pPr algn="l">
              <a:lnSpc>
                <a:spcPct val="103000"/>
              </a:lnSpc>
              <a:spcBef>
                <a:spcPts val="500"/>
              </a:spcBef>
              <a:spcAft>
                <a:spcPts val="200"/>
              </a:spcAft>
            </a:pPr>
            <a:r>
              <a:rPr sz="1400" b="0" i="0">
                <a:solidFill>
                  <a:srgbClr val="1A2B3C"/>
                </a:solidFill>
                <a:latin typeface="Arial"/>
              </a:rPr>
              <a:t>■  One AC voltage waveform (with neutral)</a:t>
            </a:r>
          </a:p>
          <a:p>
            <a:pPr algn="l">
              <a:lnSpc>
                <a:spcPct val="103000"/>
              </a:lnSpc>
              <a:spcBef>
                <a:spcPts val="500"/>
              </a:spcBef>
              <a:spcAft>
                <a:spcPts val="200"/>
              </a:spcAft>
            </a:pPr>
            <a:r>
              <a:rPr sz="1400" b="0" i="0">
                <a:solidFill>
                  <a:srgbClr val="1A2B3C"/>
                </a:solidFill>
                <a:latin typeface="Arial"/>
              </a:rPr>
              <a:t>■  Typical residential service: 120/240 V</a:t>
            </a:r>
          </a:p>
          <a:p>
            <a:pPr algn="l">
              <a:lnSpc>
                <a:spcPct val="103000"/>
              </a:lnSpc>
              <a:spcBef>
                <a:spcPts val="500"/>
              </a:spcBef>
              <a:spcAft>
                <a:spcPts val="200"/>
              </a:spcAft>
            </a:pPr>
            <a:r>
              <a:rPr sz="1400" b="0" i="0">
                <a:solidFill>
                  <a:srgbClr val="1A2B3C"/>
                </a:solidFill>
                <a:latin typeface="Arial"/>
              </a:rPr>
              <a:t>■  Simple loads — lighting, receptacles, small motors</a:t>
            </a:r>
          </a:p>
          <a:p>
            <a:pPr algn="l">
              <a:lnSpc>
                <a:spcPct val="103000"/>
              </a:lnSpc>
              <a:spcBef>
                <a:spcPts val="500"/>
              </a:spcBef>
              <a:spcAft>
                <a:spcPts val="200"/>
              </a:spcAft>
            </a:pPr>
            <a:r>
              <a:rPr sz="1400" b="0" i="0">
                <a:solidFill>
                  <a:srgbClr val="1A2B3C"/>
                </a:solidFill>
                <a:latin typeface="Arial"/>
              </a:rPr>
              <a:t>■  Power delivery pulses (crosses zero each half-cycle)</a:t>
            </a:r>
          </a:p>
        </p:txBody>
      </p:sp>
      <p:sp>
        <p:nvSpPr>
          <p:cNvPr id="12" name="Rounded Rectangle 11"/>
          <p:cNvSpPr/>
          <p:nvPr/>
        </p:nvSpPr>
        <p:spPr>
          <a:xfrm>
            <a:off x="6309359" y="1783080"/>
            <a:ext cx="5349240" cy="4297680"/>
          </a:xfrm>
          <a:prstGeom prst="roundRect">
            <a:avLst/>
          </a:prstGeom>
          <a:solidFill>
            <a:srgbClr val="EEF2F7"/>
          </a:solidFill>
          <a:ln w="12700">
            <a:solidFill>
              <a:srgbClr val="CF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09359" y="1783080"/>
            <a:ext cx="5349240" cy="566928"/>
          </a:xfrm>
          <a:prstGeom prst="roundRect">
            <a:avLst/>
          </a:prstGeom>
          <a:solidFill>
            <a:srgbClr val="1340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59" y="2066543"/>
            <a:ext cx="5349240" cy="283464"/>
          </a:xfrm>
          <a:prstGeom prst="rect">
            <a:avLst/>
          </a:prstGeom>
          <a:solidFill>
            <a:srgbClr val="1340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37959" y="1837943"/>
            <a:ext cx="4892040" cy="475488"/>
          </a:xfrm>
          <a:prstGeom prst="rect">
            <a:avLst/>
          </a:prstGeom>
          <a:noFill/>
        </p:spPr>
        <p:txBody>
          <a:bodyPr wrap="square" anchor="ctr" lIns="0" rIns="0" tIns="0" bIns="0">
            <a:spAutoFit/>
          </a:bodyPr>
          <a:lstStyle/>
          <a:p>
            <a:pPr algn="l">
              <a:lnSpc>
                <a:spcPct val="105000"/>
              </a:lnSpc>
              <a:spcBef>
                <a:spcPts val="400"/>
              </a:spcBef>
              <a:spcAft>
                <a:spcPts val="400"/>
              </a:spcAft>
            </a:pPr>
            <a:r>
              <a:rPr sz="1600" b="1" i="0">
                <a:solidFill>
                  <a:srgbClr val="FFFFFF"/>
                </a:solidFill>
                <a:latin typeface="Arial"/>
              </a:rPr>
              <a:t>Three-Phase</a:t>
            </a:r>
          </a:p>
        </p:txBody>
      </p:sp>
      <p:sp>
        <p:nvSpPr>
          <p:cNvPr id="16" name="TextBox 15"/>
          <p:cNvSpPr txBox="1"/>
          <p:nvPr/>
        </p:nvSpPr>
        <p:spPr>
          <a:xfrm>
            <a:off x="6583679" y="2514600"/>
            <a:ext cx="4800600" cy="3383280"/>
          </a:xfrm>
          <a:prstGeom prst="rect">
            <a:avLst/>
          </a:prstGeom>
          <a:noFill/>
        </p:spPr>
        <p:txBody>
          <a:bodyPr wrap="square" anchor="t" lIns="0" rIns="0" tIns="0" bIns="0">
            <a:spAutoFit/>
          </a:bodyPr>
          <a:lstStyle/>
          <a:p>
            <a:pPr algn="l">
              <a:lnSpc>
                <a:spcPct val="103000"/>
              </a:lnSpc>
              <a:spcBef>
                <a:spcPts val="500"/>
              </a:spcBef>
              <a:spcAft>
                <a:spcPts val="200"/>
              </a:spcAft>
            </a:pPr>
            <a:r>
              <a:rPr sz="1400" b="0" i="0">
                <a:solidFill>
                  <a:srgbClr val="1A2B3C"/>
                </a:solidFill>
                <a:latin typeface="Arial"/>
              </a:rPr>
              <a:t>■  Three waveforms 120° apart — A, B, C phases</a:t>
            </a:r>
          </a:p>
          <a:p>
            <a:pPr algn="l">
              <a:lnSpc>
                <a:spcPct val="103000"/>
              </a:lnSpc>
              <a:spcBef>
                <a:spcPts val="500"/>
              </a:spcBef>
              <a:spcAft>
                <a:spcPts val="200"/>
              </a:spcAft>
            </a:pPr>
            <a:r>
              <a:rPr sz="1400" b="0" i="0">
                <a:solidFill>
                  <a:srgbClr val="1A2B3C"/>
                </a:solidFill>
                <a:latin typeface="Arial"/>
              </a:rPr>
              <a:t>■  Backbone of transmission, distribution &amp; industrial power</a:t>
            </a:r>
          </a:p>
          <a:p>
            <a:pPr algn="l">
              <a:lnSpc>
                <a:spcPct val="103000"/>
              </a:lnSpc>
              <a:spcBef>
                <a:spcPts val="500"/>
              </a:spcBef>
              <a:spcAft>
                <a:spcPts val="200"/>
              </a:spcAft>
            </a:pPr>
            <a:r>
              <a:rPr sz="1400" b="0" i="0">
                <a:solidFill>
                  <a:srgbClr val="1A2B3C"/>
                </a:solidFill>
                <a:latin typeface="Arial"/>
              </a:rPr>
              <a:t>■  Smooth, continuous power — efficient for large motors</a:t>
            </a:r>
          </a:p>
          <a:p>
            <a:pPr algn="l">
              <a:lnSpc>
                <a:spcPct val="103000"/>
              </a:lnSpc>
              <a:spcBef>
                <a:spcPts val="500"/>
              </a:spcBef>
              <a:spcAft>
                <a:spcPts val="200"/>
              </a:spcAft>
            </a:pPr>
            <a:r>
              <a:rPr sz="1400" b="0" i="0">
                <a:solidFill>
                  <a:srgbClr val="1A2B3C"/>
                </a:solidFill>
                <a:latin typeface="Arial"/>
              </a:rPr>
              <a:t>■  More power in less conductor than single-phase</a:t>
            </a:r>
          </a:p>
          <a:p>
            <a:pPr algn="l">
              <a:lnSpc>
                <a:spcPct val="103000"/>
              </a:lnSpc>
              <a:spcBef>
                <a:spcPts val="500"/>
              </a:spcBef>
              <a:spcAft>
                <a:spcPts val="200"/>
              </a:spcAft>
            </a:pPr>
            <a:r>
              <a:rPr sz="1400" b="0" i="0">
                <a:solidFill>
                  <a:srgbClr val="1A2B3C"/>
                </a:solidFill>
                <a:latin typeface="Arial"/>
              </a:rPr>
              <a:t>■  Phase-to-phase voltage = √3 (1.732) × phase-to-neutral</a:t>
            </a:r>
          </a:p>
        </p:txBody>
      </p:sp>
      <p:sp>
        <p:nvSpPr>
          <p:cNvPr id="17" name="Rectangle 16"/>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1 — Electrical Theory</a:t>
            </a:r>
          </a:p>
        </p:txBody>
      </p:sp>
      <p:sp>
        <p:nvSpPr>
          <p:cNvPr id="19" name="TextBox 18"/>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1.8 TRANSFORMERS</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Transformers — Stepping Voltage Up &amp; Down</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27632"/>
            <a:ext cx="10881360" cy="548640"/>
          </a:xfrm>
          <a:prstGeom prst="rect">
            <a:avLst/>
          </a:prstGeom>
          <a:noFill/>
        </p:spPr>
        <p:txBody>
          <a:bodyPr wrap="square" anchor="t" lIns="0" rIns="0" tIns="0" bIns="0">
            <a:spAutoFit/>
          </a:bodyPr>
          <a:lstStyle/>
          <a:p>
            <a:pPr algn="l">
              <a:lnSpc>
                <a:spcPct val="105000"/>
              </a:lnSpc>
              <a:spcBef>
                <a:spcPts val="400"/>
              </a:spcBef>
              <a:spcAft>
                <a:spcPts val="400"/>
              </a:spcAft>
            </a:pPr>
            <a:r>
              <a:rPr sz="1550" b="0" i="1">
                <a:solidFill>
                  <a:srgbClr val="5B6B7B"/>
                </a:solidFill>
                <a:latin typeface="Arial"/>
              </a:rPr>
              <a:t>The single reason the grid runs on AC — voltage can be transformed efficiently.</a:t>
            </a:r>
          </a:p>
        </p:txBody>
      </p:sp>
      <p:sp>
        <p:nvSpPr>
          <p:cNvPr id="8" name="TextBox 7"/>
          <p:cNvSpPr txBox="1"/>
          <p:nvPr/>
        </p:nvSpPr>
        <p:spPr>
          <a:xfrm>
            <a:off x="658368" y="2240280"/>
            <a:ext cx="10927080" cy="3703320"/>
          </a:xfrm>
          <a:prstGeom prst="rect">
            <a:avLst/>
          </a:prstGeom>
          <a:noFill/>
        </p:spPr>
        <p:txBody>
          <a:bodyPr wrap="square" anchor="t" lIns="0" rIns="0" tIns="0" bIns="0">
            <a:spAutoFit/>
          </a:bodyPr>
          <a:lstStyle/>
          <a:p>
            <a:pPr algn="l">
              <a:lnSpc>
                <a:spcPct val="105000"/>
              </a:lnSpc>
              <a:spcBef>
                <a:spcPts val="700"/>
              </a:spcBef>
              <a:spcAft>
                <a:spcPts val="200"/>
              </a:spcAft>
            </a:pPr>
            <a:r>
              <a:rPr sz="1800" b="0" i="0">
                <a:solidFill>
                  <a:srgbClr val="1A2B3C"/>
                </a:solidFill>
                <a:latin typeface="Arial"/>
              </a:rPr>
              <a:t>■  A transformer changes AC voltage using two coils linked by a magnetic core</a:t>
            </a:r>
          </a:p>
          <a:p>
            <a:pPr algn="l" lvl="1">
              <a:lnSpc>
                <a:spcPct val="103000"/>
              </a:lnSpc>
              <a:spcBef>
                <a:spcPts val="200"/>
              </a:spcBef>
              <a:spcAft>
                <a:spcPts val="200"/>
              </a:spcAft>
            </a:pPr>
            <a:r>
              <a:rPr sz="1500" b="0" i="0">
                <a:solidFill>
                  <a:srgbClr val="334455"/>
                </a:solidFill>
                <a:latin typeface="Arial"/>
              </a:rPr>
              <a:t>–  No direct electrical connection — energy crosses by induction</a:t>
            </a:r>
          </a:p>
          <a:p>
            <a:pPr algn="l">
              <a:lnSpc>
                <a:spcPct val="105000"/>
              </a:lnSpc>
              <a:spcBef>
                <a:spcPts val="700"/>
              </a:spcBef>
              <a:spcAft>
                <a:spcPts val="200"/>
              </a:spcAft>
            </a:pPr>
            <a:r>
              <a:rPr sz="1800" b="0" i="0">
                <a:solidFill>
                  <a:srgbClr val="1A2B3C"/>
                </a:solidFill>
                <a:latin typeface="Arial"/>
              </a:rPr>
              <a:t>■  Turns ratio sets the voltage ratio:  more secondary turns → higher voltage</a:t>
            </a:r>
          </a:p>
          <a:p>
            <a:pPr algn="l" lvl="1">
              <a:lnSpc>
                <a:spcPct val="103000"/>
              </a:lnSpc>
              <a:spcBef>
                <a:spcPts val="200"/>
              </a:spcBef>
              <a:spcAft>
                <a:spcPts val="200"/>
              </a:spcAft>
            </a:pPr>
            <a:r>
              <a:rPr sz="1500" b="0" i="0">
                <a:solidFill>
                  <a:srgbClr val="334455"/>
                </a:solidFill>
                <a:latin typeface="Arial"/>
              </a:rPr>
              <a:t>–  Step UP: raise voltage for transmission (less current = less line loss)</a:t>
            </a:r>
          </a:p>
          <a:p>
            <a:pPr algn="l" lvl="1">
              <a:lnSpc>
                <a:spcPct val="103000"/>
              </a:lnSpc>
              <a:spcBef>
                <a:spcPts val="200"/>
              </a:spcBef>
              <a:spcAft>
                <a:spcPts val="200"/>
              </a:spcAft>
            </a:pPr>
            <a:r>
              <a:rPr sz="1500" b="0" i="0">
                <a:solidFill>
                  <a:srgbClr val="334455"/>
                </a:solidFill>
                <a:latin typeface="Arial"/>
              </a:rPr>
              <a:t>–  Step DOWN: lower voltage for distribution and the customer</a:t>
            </a:r>
          </a:p>
          <a:p>
            <a:pPr algn="l">
              <a:lnSpc>
                <a:spcPct val="105000"/>
              </a:lnSpc>
              <a:spcBef>
                <a:spcPts val="700"/>
              </a:spcBef>
              <a:spcAft>
                <a:spcPts val="200"/>
              </a:spcAft>
            </a:pPr>
            <a:r>
              <a:rPr sz="1800" b="0" i="0">
                <a:solidFill>
                  <a:srgbClr val="1A2B3C"/>
                </a:solidFill>
                <a:latin typeface="Arial"/>
              </a:rPr>
              <a:t>■  Power in ≈ power out, so when voltage goes UP, current goes DOWN (and vice-versa)</a:t>
            </a:r>
          </a:p>
          <a:p>
            <a:pPr algn="l" lvl="1">
              <a:lnSpc>
                <a:spcPct val="103000"/>
              </a:lnSpc>
              <a:spcBef>
                <a:spcPts val="200"/>
              </a:spcBef>
              <a:spcAft>
                <a:spcPts val="200"/>
              </a:spcAft>
            </a:pPr>
            <a:r>
              <a:rPr sz="1500" b="0" i="0">
                <a:solidFill>
                  <a:srgbClr val="334455"/>
                </a:solidFill>
                <a:latin typeface="Arial"/>
              </a:rPr>
              <a:t>–  P = V × I — this is WHY we transmit at high voltage: to cut I²R losses</a:t>
            </a:r>
          </a:p>
          <a:p>
            <a:pPr algn="l">
              <a:lnSpc>
                <a:spcPct val="105000"/>
              </a:lnSpc>
              <a:spcBef>
                <a:spcPts val="700"/>
              </a:spcBef>
              <a:spcAft>
                <a:spcPts val="200"/>
              </a:spcAft>
            </a:pPr>
            <a:r>
              <a:rPr sz="1800" b="0" i="0">
                <a:solidFill>
                  <a:srgbClr val="1A2B3C"/>
                </a:solidFill>
                <a:latin typeface="Arial"/>
              </a:rPr>
              <a:t>■  Distribution transformers on the pole/pad drop primary (e.g., 7,200 V) to 120/240 V</a:t>
            </a:r>
          </a:p>
          <a:p>
            <a:pPr algn="l">
              <a:lnSpc>
                <a:spcPct val="105000"/>
              </a:lnSpc>
              <a:spcBef>
                <a:spcPts val="700"/>
              </a:spcBef>
              <a:spcAft>
                <a:spcPts val="200"/>
              </a:spcAft>
            </a:pPr>
            <a:r>
              <a:rPr sz="1800" b="0" i="0">
                <a:solidFill>
                  <a:srgbClr val="1A2B3C"/>
                </a:solidFill>
                <a:latin typeface="Arial"/>
              </a:rPr>
              <a:t>■  WARNING: a de-energized secondary can be BACK-FED from the customer side — generators!</a:t>
            </a:r>
          </a:p>
        </p:txBody>
      </p:sp>
      <p:sp>
        <p:nvSpPr>
          <p:cNvPr id="9" name="Rectangle 8"/>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1 — Electrical Theory</a:t>
            </a:r>
          </a:p>
        </p:txBody>
      </p:sp>
      <p:sp>
        <p:nvSpPr>
          <p:cNvPr id="11" name="TextBox 10"/>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1.9 THE SYSTEM</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The Grid: From Generation to Your Service</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27632"/>
            <a:ext cx="10881360" cy="502920"/>
          </a:xfrm>
          <a:prstGeom prst="rect">
            <a:avLst/>
          </a:prstGeom>
          <a:noFill/>
        </p:spPr>
        <p:txBody>
          <a:bodyPr wrap="square" anchor="t" lIns="0" rIns="0" tIns="0" bIns="0">
            <a:spAutoFit/>
          </a:bodyPr>
          <a:lstStyle/>
          <a:p>
            <a:pPr algn="l">
              <a:lnSpc>
                <a:spcPct val="105000"/>
              </a:lnSpc>
              <a:spcBef>
                <a:spcPts val="400"/>
              </a:spcBef>
              <a:spcAft>
                <a:spcPts val="400"/>
              </a:spcAft>
            </a:pPr>
            <a:r>
              <a:rPr sz="1500" b="0" i="1">
                <a:solidFill>
                  <a:srgbClr val="5B6B7B"/>
                </a:solidFill>
                <a:latin typeface="Arial"/>
              </a:rPr>
              <a:t>Know where you are on this chain — it tells you the voltage, the fault energy, and the controls you need.</a:t>
            </a:r>
          </a:p>
        </p:txBody>
      </p:sp>
      <p:sp>
        <p:nvSpPr>
          <p:cNvPr id="8" name="Oval 7"/>
          <p:cNvSpPr/>
          <p:nvPr/>
        </p:nvSpPr>
        <p:spPr>
          <a:xfrm>
            <a:off x="640080" y="2194560"/>
            <a:ext cx="515111" cy="515111"/>
          </a:xfrm>
          <a:prstGeom prst="ellipse">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2194560"/>
            <a:ext cx="515111" cy="515111"/>
          </a:xfrm>
          <a:prstGeom prst="rect">
            <a:avLst/>
          </a:prstGeom>
          <a:noFill/>
        </p:spPr>
        <p:txBody>
          <a:bodyPr wrap="square" anchor="ctr" lIns="0" rIns="0" tIns="0" bIns="0">
            <a:spAutoFit/>
          </a:bodyPr>
          <a:lstStyle/>
          <a:p>
            <a:pPr algn="ctr">
              <a:lnSpc>
                <a:spcPct val="105000"/>
              </a:lnSpc>
              <a:spcBef>
                <a:spcPts val="400"/>
              </a:spcBef>
              <a:spcAft>
                <a:spcPts val="400"/>
              </a:spcAft>
            </a:pPr>
            <a:r>
              <a:rPr sz="2000" b="1" i="0">
                <a:solidFill>
                  <a:srgbClr val="0B2545"/>
                </a:solidFill>
                <a:latin typeface="Arial"/>
              </a:rPr>
              <a:t>1</a:t>
            </a:r>
          </a:p>
        </p:txBody>
      </p:sp>
      <p:sp>
        <p:nvSpPr>
          <p:cNvPr id="10" name="TextBox 9"/>
          <p:cNvSpPr txBox="1"/>
          <p:nvPr/>
        </p:nvSpPr>
        <p:spPr>
          <a:xfrm>
            <a:off x="1310640" y="2176272"/>
            <a:ext cx="10058400" cy="624839"/>
          </a:xfrm>
          <a:prstGeom prst="rect">
            <a:avLst/>
          </a:prstGeom>
          <a:noFill/>
        </p:spPr>
        <p:txBody>
          <a:bodyPr wrap="square" anchor="ctr" lIns="0" rIns="0" tIns="0" bIns="0">
            <a:spAutoFit/>
          </a:bodyPr>
          <a:lstStyle/>
          <a:p>
            <a:pPr algn="l">
              <a:lnSpc>
                <a:spcPct val="100000"/>
              </a:lnSpc>
              <a:spcBef>
                <a:spcPts val="400"/>
              </a:spcBef>
              <a:spcAft>
                <a:spcPts val="100"/>
              </a:spcAft>
            </a:pPr>
            <a:r>
              <a:rPr sz="1550" b="1" i="0">
                <a:solidFill>
                  <a:srgbClr val="0B2545"/>
                </a:solidFill>
                <a:latin typeface="Arial"/>
              </a:rPr>
              <a:t>1. Generation</a:t>
            </a:r>
          </a:p>
          <a:p>
            <a:pPr algn="l">
              <a:lnSpc>
                <a:spcPct val="100000"/>
              </a:lnSpc>
              <a:spcBef>
                <a:spcPts val="0"/>
              </a:spcBef>
              <a:spcAft>
                <a:spcPts val="400"/>
              </a:spcAft>
            </a:pPr>
            <a:r>
              <a:rPr sz="1250" b="0" i="0">
                <a:solidFill>
                  <a:srgbClr val="5B6B7B"/>
                </a:solidFill>
                <a:latin typeface="Arial"/>
              </a:rPr>
              <a:t>Power plants (gas, hydro, nuclear, wind, solar) produce AC, typically at medium voltage.</a:t>
            </a:r>
          </a:p>
        </p:txBody>
      </p:sp>
      <p:sp>
        <p:nvSpPr>
          <p:cNvPr id="11" name="Oval 10"/>
          <p:cNvSpPr/>
          <p:nvPr/>
        </p:nvSpPr>
        <p:spPr>
          <a:xfrm>
            <a:off x="640080" y="2874264"/>
            <a:ext cx="515111" cy="515111"/>
          </a:xfrm>
          <a:prstGeom prst="ellipse">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874264"/>
            <a:ext cx="515111" cy="515111"/>
          </a:xfrm>
          <a:prstGeom prst="rect">
            <a:avLst/>
          </a:prstGeom>
          <a:noFill/>
        </p:spPr>
        <p:txBody>
          <a:bodyPr wrap="square" anchor="ctr" lIns="0" rIns="0" tIns="0" bIns="0">
            <a:spAutoFit/>
          </a:bodyPr>
          <a:lstStyle/>
          <a:p>
            <a:pPr algn="ctr">
              <a:lnSpc>
                <a:spcPct val="105000"/>
              </a:lnSpc>
              <a:spcBef>
                <a:spcPts val="400"/>
              </a:spcBef>
              <a:spcAft>
                <a:spcPts val="400"/>
              </a:spcAft>
            </a:pPr>
            <a:r>
              <a:rPr sz="2000" b="1" i="0">
                <a:solidFill>
                  <a:srgbClr val="0B2545"/>
                </a:solidFill>
                <a:latin typeface="Arial"/>
              </a:rPr>
              <a:t>2</a:t>
            </a:r>
          </a:p>
        </p:txBody>
      </p:sp>
      <p:sp>
        <p:nvSpPr>
          <p:cNvPr id="13" name="TextBox 12"/>
          <p:cNvSpPr txBox="1"/>
          <p:nvPr/>
        </p:nvSpPr>
        <p:spPr>
          <a:xfrm>
            <a:off x="1310640" y="2855975"/>
            <a:ext cx="10058400" cy="624839"/>
          </a:xfrm>
          <a:prstGeom prst="rect">
            <a:avLst/>
          </a:prstGeom>
          <a:noFill/>
        </p:spPr>
        <p:txBody>
          <a:bodyPr wrap="square" anchor="ctr" lIns="0" rIns="0" tIns="0" bIns="0">
            <a:spAutoFit/>
          </a:bodyPr>
          <a:lstStyle/>
          <a:p>
            <a:pPr algn="l">
              <a:lnSpc>
                <a:spcPct val="100000"/>
              </a:lnSpc>
              <a:spcBef>
                <a:spcPts val="400"/>
              </a:spcBef>
              <a:spcAft>
                <a:spcPts val="100"/>
              </a:spcAft>
            </a:pPr>
            <a:r>
              <a:rPr sz="1550" b="1" i="0">
                <a:solidFill>
                  <a:srgbClr val="0B2545"/>
                </a:solidFill>
                <a:latin typeface="Arial"/>
              </a:rPr>
              <a:t>2. Step-Up Substation</a:t>
            </a:r>
          </a:p>
          <a:p>
            <a:pPr algn="l">
              <a:lnSpc>
                <a:spcPct val="100000"/>
              </a:lnSpc>
              <a:spcBef>
                <a:spcPts val="0"/>
              </a:spcBef>
              <a:spcAft>
                <a:spcPts val="400"/>
              </a:spcAft>
            </a:pPr>
            <a:r>
              <a:rPr sz="1250" b="0" i="0">
                <a:solidFill>
                  <a:srgbClr val="5B6B7B"/>
                </a:solidFill>
                <a:latin typeface="Arial"/>
              </a:rPr>
              <a:t>Transformers raise voltage to transmission levels (69 kV up to 765 kV) to move power far with low loss.</a:t>
            </a:r>
          </a:p>
        </p:txBody>
      </p:sp>
      <p:sp>
        <p:nvSpPr>
          <p:cNvPr id="14" name="Oval 13"/>
          <p:cNvSpPr/>
          <p:nvPr/>
        </p:nvSpPr>
        <p:spPr>
          <a:xfrm>
            <a:off x="640080" y="3553967"/>
            <a:ext cx="515111" cy="515111"/>
          </a:xfrm>
          <a:prstGeom prst="ellipse">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3553967"/>
            <a:ext cx="515111" cy="515111"/>
          </a:xfrm>
          <a:prstGeom prst="rect">
            <a:avLst/>
          </a:prstGeom>
          <a:noFill/>
        </p:spPr>
        <p:txBody>
          <a:bodyPr wrap="square" anchor="ctr" lIns="0" rIns="0" tIns="0" bIns="0">
            <a:spAutoFit/>
          </a:bodyPr>
          <a:lstStyle/>
          <a:p>
            <a:pPr algn="ctr">
              <a:lnSpc>
                <a:spcPct val="105000"/>
              </a:lnSpc>
              <a:spcBef>
                <a:spcPts val="400"/>
              </a:spcBef>
              <a:spcAft>
                <a:spcPts val="400"/>
              </a:spcAft>
            </a:pPr>
            <a:r>
              <a:rPr sz="2000" b="1" i="0">
                <a:solidFill>
                  <a:srgbClr val="0B2545"/>
                </a:solidFill>
                <a:latin typeface="Arial"/>
              </a:rPr>
              <a:t>3</a:t>
            </a:r>
          </a:p>
        </p:txBody>
      </p:sp>
      <p:sp>
        <p:nvSpPr>
          <p:cNvPr id="16" name="TextBox 15"/>
          <p:cNvSpPr txBox="1"/>
          <p:nvPr/>
        </p:nvSpPr>
        <p:spPr>
          <a:xfrm>
            <a:off x="1310640" y="3535679"/>
            <a:ext cx="10058400" cy="624839"/>
          </a:xfrm>
          <a:prstGeom prst="rect">
            <a:avLst/>
          </a:prstGeom>
          <a:noFill/>
        </p:spPr>
        <p:txBody>
          <a:bodyPr wrap="square" anchor="ctr" lIns="0" rIns="0" tIns="0" bIns="0">
            <a:spAutoFit/>
          </a:bodyPr>
          <a:lstStyle/>
          <a:p>
            <a:pPr algn="l">
              <a:lnSpc>
                <a:spcPct val="100000"/>
              </a:lnSpc>
              <a:spcBef>
                <a:spcPts val="400"/>
              </a:spcBef>
              <a:spcAft>
                <a:spcPts val="100"/>
              </a:spcAft>
            </a:pPr>
            <a:r>
              <a:rPr sz="1550" b="1" i="0">
                <a:solidFill>
                  <a:srgbClr val="0B2545"/>
                </a:solidFill>
                <a:latin typeface="Arial"/>
              </a:rPr>
              <a:t>3. Transmission Lines</a:t>
            </a:r>
          </a:p>
          <a:p>
            <a:pPr algn="l">
              <a:lnSpc>
                <a:spcPct val="100000"/>
              </a:lnSpc>
              <a:spcBef>
                <a:spcPts val="0"/>
              </a:spcBef>
              <a:spcAft>
                <a:spcPts val="400"/>
              </a:spcAft>
            </a:pPr>
            <a:r>
              <a:rPr sz="1250" b="0" i="0">
                <a:solidFill>
                  <a:srgbClr val="5B6B7B"/>
                </a:solidFill>
                <a:latin typeface="Arial"/>
              </a:rPr>
              <a:t>High-voltage lines on large towers carry bulk power across regions.</a:t>
            </a:r>
          </a:p>
        </p:txBody>
      </p:sp>
      <p:sp>
        <p:nvSpPr>
          <p:cNvPr id="17" name="Oval 16"/>
          <p:cNvSpPr/>
          <p:nvPr/>
        </p:nvSpPr>
        <p:spPr>
          <a:xfrm>
            <a:off x="640080" y="4233671"/>
            <a:ext cx="515111" cy="515111"/>
          </a:xfrm>
          <a:prstGeom prst="ellipse">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4233671"/>
            <a:ext cx="515111" cy="515111"/>
          </a:xfrm>
          <a:prstGeom prst="rect">
            <a:avLst/>
          </a:prstGeom>
          <a:noFill/>
        </p:spPr>
        <p:txBody>
          <a:bodyPr wrap="square" anchor="ctr" lIns="0" rIns="0" tIns="0" bIns="0">
            <a:spAutoFit/>
          </a:bodyPr>
          <a:lstStyle/>
          <a:p>
            <a:pPr algn="ctr">
              <a:lnSpc>
                <a:spcPct val="105000"/>
              </a:lnSpc>
              <a:spcBef>
                <a:spcPts val="400"/>
              </a:spcBef>
              <a:spcAft>
                <a:spcPts val="400"/>
              </a:spcAft>
            </a:pPr>
            <a:r>
              <a:rPr sz="2000" b="1" i="0">
                <a:solidFill>
                  <a:srgbClr val="0B2545"/>
                </a:solidFill>
                <a:latin typeface="Arial"/>
              </a:rPr>
              <a:t>4</a:t>
            </a:r>
          </a:p>
        </p:txBody>
      </p:sp>
      <p:sp>
        <p:nvSpPr>
          <p:cNvPr id="19" name="TextBox 18"/>
          <p:cNvSpPr txBox="1"/>
          <p:nvPr/>
        </p:nvSpPr>
        <p:spPr>
          <a:xfrm>
            <a:off x="1310640" y="4215383"/>
            <a:ext cx="10058400" cy="624839"/>
          </a:xfrm>
          <a:prstGeom prst="rect">
            <a:avLst/>
          </a:prstGeom>
          <a:noFill/>
        </p:spPr>
        <p:txBody>
          <a:bodyPr wrap="square" anchor="ctr" lIns="0" rIns="0" tIns="0" bIns="0">
            <a:spAutoFit/>
          </a:bodyPr>
          <a:lstStyle/>
          <a:p>
            <a:pPr algn="l">
              <a:lnSpc>
                <a:spcPct val="100000"/>
              </a:lnSpc>
              <a:spcBef>
                <a:spcPts val="400"/>
              </a:spcBef>
              <a:spcAft>
                <a:spcPts val="100"/>
              </a:spcAft>
            </a:pPr>
            <a:r>
              <a:rPr sz="1550" b="1" i="0">
                <a:solidFill>
                  <a:srgbClr val="0B2545"/>
                </a:solidFill>
                <a:latin typeface="Arial"/>
              </a:rPr>
              <a:t>4. Step-Down / Distribution Substation</a:t>
            </a:r>
          </a:p>
          <a:p>
            <a:pPr algn="l">
              <a:lnSpc>
                <a:spcPct val="100000"/>
              </a:lnSpc>
              <a:spcBef>
                <a:spcPts val="0"/>
              </a:spcBef>
              <a:spcAft>
                <a:spcPts val="400"/>
              </a:spcAft>
            </a:pPr>
            <a:r>
              <a:rPr sz="1250" b="0" i="0">
                <a:solidFill>
                  <a:srgbClr val="5B6B7B"/>
                </a:solidFill>
                <a:latin typeface="Arial"/>
              </a:rPr>
              <a:t>Voltage is reduced to distribution levels (typically 4 kV–35 kV).</a:t>
            </a:r>
          </a:p>
        </p:txBody>
      </p:sp>
      <p:sp>
        <p:nvSpPr>
          <p:cNvPr id="20" name="Oval 19"/>
          <p:cNvSpPr/>
          <p:nvPr/>
        </p:nvSpPr>
        <p:spPr>
          <a:xfrm>
            <a:off x="640080" y="4913375"/>
            <a:ext cx="515111" cy="515111"/>
          </a:xfrm>
          <a:prstGeom prst="ellipse">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4913375"/>
            <a:ext cx="515111" cy="515111"/>
          </a:xfrm>
          <a:prstGeom prst="rect">
            <a:avLst/>
          </a:prstGeom>
          <a:noFill/>
        </p:spPr>
        <p:txBody>
          <a:bodyPr wrap="square" anchor="ctr" lIns="0" rIns="0" tIns="0" bIns="0">
            <a:spAutoFit/>
          </a:bodyPr>
          <a:lstStyle/>
          <a:p>
            <a:pPr algn="ctr">
              <a:lnSpc>
                <a:spcPct val="105000"/>
              </a:lnSpc>
              <a:spcBef>
                <a:spcPts val="400"/>
              </a:spcBef>
              <a:spcAft>
                <a:spcPts val="400"/>
              </a:spcAft>
            </a:pPr>
            <a:r>
              <a:rPr sz="2000" b="1" i="0">
                <a:solidFill>
                  <a:srgbClr val="0B2545"/>
                </a:solidFill>
                <a:latin typeface="Arial"/>
              </a:rPr>
              <a:t>5</a:t>
            </a:r>
          </a:p>
        </p:txBody>
      </p:sp>
      <p:sp>
        <p:nvSpPr>
          <p:cNvPr id="22" name="TextBox 21"/>
          <p:cNvSpPr txBox="1"/>
          <p:nvPr/>
        </p:nvSpPr>
        <p:spPr>
          <a:xfrm>
            <a:off x="1310640" y="4895087"/>
            <a:ext cx="10058400" cy="624839"/>
          </a:xfrm>
          <a:prstGeom prst="rect">
            <a:avLst/>
          </a:prstGeom>
          <a:noFill/>
        </p:spPr>
        <p:txBody>
          <a:bodyPr wrap="square" anchor="ctr" lIns="0" rIns="0" tIns="0" bIns="0">
            <a:spAutoFit/>
          </a:bodyPr>
          <a:lstStyle/>
          <a:p>
            <a:pPr algn="l">
              <a:lnSpc>
                <a:spcPct val="100000"/>
              </a:lnSpc>
              <a:spcBef>
                <a:spcPts val="400"/>
              </a:spcBef>
              <a:spcAft>
                <a:spcPts val="100"/>
              </a:spcAft>
            </a:pPr>
            <a:r>
              <a:rPr sz="1550" b="1" i="0">
                <a:solidFill>
                  <a:srgbClr val="0B2545"/>
                </a:solidFill>
                <a:latin typeface="Arial"/>
              </a:rPr>
              <a:t>5. Distribution Feeders</a:t>
            </a:r>
          </a:p>
          <a:p>
            <a:pPr algn="l">
              <a:lnSpc>
                <a:spcPct val="100000"/>
              </a:lnSpc>
              <a:spcBef>
                <a:spcPts val="0"/>
              </a:spcBef>
              <a:spcAft>
                <a:spcPts val="400"/>
              </a:spcAft>
            </a:pPr>
            <a:r>
              <a:rPr sz="1250" b="0" i="0">
                <a:solidFill>
                  <a:srgbClr val="5B6B7B"/>
                </a:solidFill>
                <a:latin typeface="Arial"/>
              </a:rPr>
              <a:t>Primary lines on poles carry power through neighborhoods; reclosers &amp; fuses protect them.</a:t>
            </a:r>
          </a:p>
        </p:txBody>
      </p:sp>
      <p:sp>
        <p:nvSpPr>
          <p:cNvPr id="23" name="Oval 22"/>
          <p:cNvSpPr/>
          <p:nvPr/>
        </p:nvSpPr>
        <p:spPr>
          <a:xfrm>
            <a:off x="640080" y="5593079"/>
            <a:ext cx="515111" cy="515111"/>
          </a:xfrm>
          <a:prstGeom prst="ellipse">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5593079"/>
            <a:ext cx="515111" cy="515111"/>
          </a:xfrm>
          <a:prstGeom prst="rect">
            <a:avLst/>
          </a:prstGeom>
          <a:noFill/>
        </p:spPr>
        <p:txBody>
          <a:bodyPr wrap="square" anchor="ctr" lIns="0" rIns="0" tIns="0" bIns="0">
            <a:spAutoFit/>
          </a:bodyPr>
          <a:lstStyle/>
          <a:p>
            <a:pPr algn="ctr">
              <a:lnSpc>
                <a:spcPct val="105000"/>
              </a:lnSpc>
              <a:spcBef>
                <a:spcPts val="400"/>
              </a:spcBef>
              <a:spcAft>
                <a:spcPts val="400"/>
              </a:spcAft>
            </a:pPr>
            <a:r>
              <a:rPr sz="2000" b="1" i="0">
                <a:solidFill>
                  <a:srgbClr val="0B2545"/>
                </a:solidFill>
                <a:latin typeface="Arial"/>
              </a:rPr>
              <a:t>6</a:t>
            </a:r>
          </a:p>
        </p:txBody>
      </p:sp>
      <p:sp>
        <p:nvSpPr>
          <p:cNvPr id="25" name="TextBox 24"/>
          <p:cNvSpPr txBox="1"/>
          <p:nvPr/>
        </p:nvSpPr>
        <p:spPr>
          <a:xfrm>
            <a:off x="1310640" y="5574791"/>
            <a:ext cx="10058400" cy="624839"/>
          </a:xfrm>
          <a:prstGeom prst="rect">
            <a:avLst/>
          </a:prstGeom>
          <a:noFill/>
        </p:spPr>
        <p:txBody>
          <a:bodyPr wrap="square" anchor="ctr" lIns="0" rIns="0" tIns="0" bIns="0">
            <a:spAutoFit/>
          </a:bodyPr>
          <a:lstStyle/>
          <a:p>
            <a:pPr algn="l">
              <a:lnSpc>
                <a:spcPct val="100000"/>
              </a:lnSpc>
              <a:spcBef>
                <a:spcPts val="400"/>
              </a:spcBef>
              <a:spcAft>
                <a:spcPts val="100"/>
              </a:spcAft>
            </a:pPr>
            <a:r>
              <a:rPr sz="1550" b="1" i="0">
                <a:solidFill>
                  <a:srgbClr val="0B2545"/>
                </a:solidFill>
                <a:latin typeface="Arial"/>
              </a:rPr>
              <a:t>6. Service Transformer &amp; Customer</a:t>
            </a:r>
          </a:p>
          <a:p>
            <a:pPr algn="l">
              <a:lnSpc>
                <a:spcPct val="100000"/>
              </a:lnSpc>
              <a:spcBef>
                <a:spcPts val="0"/>
              </a:spcBef>
              <a:spcAft>
                <a:spcPts val="400"/>
              </a:spcAft>
            </a:pPr>
            <a:r>
              <a:rPr sz="1250" b="0" i="0">
                <a:solidFill>
                  <a:srgbClr val="5B6B7B"/>
                </a:solidFill>
                <a:latin typeface="Arial"/>
              </a:rPr>
              <a:t>Final step-down to 120/240 V (residential) or higher for commercial/industrial.</a:t>
            </a:r>
          </a:p>
        </p:txBody>
      </p:sp>
      <p:sp>
        <p:nvSpPr>
          <p:cNvPr id="26" name="Rectangle 25"/>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1 — Electrical Theory</a:t>
            </a:r>
          </a:p>
        </p:txBody>
      </p:sp>
      <p:sp>
        <p:nvSpPr>
          <p:cNvPr id="28" name="TextBox 27"/>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1.10 VOLTAGE CLASSES</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Voltage Classes You Will Work Around</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640080" y="1828800"/>
          <a:ext cx="10908790" cy="2560320"/>
        </p:xfrm>
        <a:graphic>
          <a:graphicData uri="http://schemas.openxmlformats.org/drawingml/2006/table">
            <a:tbl>
              <a:tblPr firstRow="1" bandRow="1">
                <a:tableStyleId>{5C22544A-7EE6-4342-B048-85BDC9FD1C3A}</a:tableStyleId>
              </a:tblPr>
              <a:tblGrid>
                <a:gridCol w="2682489"/>
                <a:gridCol w="2145991"/>
                <a:gridCol w="3040155"/>
                <a:gridCol w="3040155"/>
              </a:tblGrid>
              <a:tr h="426720">
                <a:tc>
                  <a:txBody>
                    <a:bodyPr wrap="square"/>
                    <a:lstStyle/>
                    <a:p>
                      <a:pPr algn="l"/>
                      <a:r>
                        <a:rPr sz="1300" b="1">
                          <a:solidFill>
                            <a:srgbClr val="FFFFFF"/>
                          </a:solidFill>
                          <a:latin typeface="Arial"/>
                        </a:rPr>
                        <a:t>Class</a:t>
                      </a:r>
                    </a:p>
                  </a:txBody>
                  <a:tcPr anchor="ctr" marL="91440" marR="73152" marT="36576" marB="36576">
                    <a:solidFill>
                      <a:srgbClr val="0B2545"/>
                    </a:solidFill>
                  </a:tcPr>
                </a:tc>
                <a:tc>
                  <a:txBody>
                    <a:bodyPr wrap="square"/>
                    <a:lstStyle/>
                    <a:p>
                      <a:pPr algn="l"/>
                      <a:r>
                        <a:rPr sz="1300" b="1">
                          <a:solidFill>
                            <a:srgbClr val="FFFFFF"/>
                          </a:solidFill>
                          <a:latin typeface="Arial"/>
                        </a:rPr>
                        <a:t>Typical Range</a:t>
                      </a:r>
                    </a:p>
                  </a:txBody>
                  <a:tcPr anchor="ctr" marL="91440" marR="73152" marT="36576" marB="36576">
                    <a:solidFill>
                      <a:srgbClr val="0B2545"/>
                    </a:solidFill>
                  </a:tcPr>
                </a:tc>
                <a:tc>
                  <a:txBody>
                    <a:bodyPr wrap="square"/>
                    <a:lstStyle/>
                    <a:p>
                      <a:pPr algn="l"/>
                      <a:r>
                        <a:rPr sz="1300" b="1">
                          <a:solidFill>
                            <a:srgbClr val="FFFFFF"/>
                          </a:solidFill>
                          <a:latin typeface="Arial"/>
                        </a:rPr>
                        <a:t>Where you see it</a:t>
                      </a:r>
                    </a:p>
                  </a:txBody>
                  <a:tcPr anchor="ctr" marL="91440" marR="73152" marT="36576" marB="36576">
                    <a:solidFill>
                      <a:srgbClr val="0B2545"/>
                    </a:solidFill>
                  </a:tcPr>
                </a:tc>
                <a:tc>
                  <a:txBody>
                    <a:bodyPr wrap="square"/>
                    <a:lstStyle/>
                    <a:p>
                      <a:pPr algn="l"/>
                      <a:r>
                        <a:rPr sz="1300" b="1">
                          <a:solidFill>
                            <a:srgbClr val="FFFFFF"/>
                          </a:solidFill>
                          <a:latin typeface="Arial"/>
                        </a:rPr>
                        <a:t>Note</a:t>
                      </a:r>
                    </a:p>
                  </a:txBody>
                  <a:tcPr anchor="ctr" marL="91440" marR="73152" marT="36576" marB="36576">
                    <a:solidFill>
                      <a:srgbClr val="0B2545"/>
                    </a:solidFill>
                  </a:tcPr>
                </a:tc>
              </a:tr>
              <a:tr h="426720">
                <a:tc>
                  <a:txBody>
                    <a:bodyPr wrap="square"/>
                    <a:lstStyle/>
                    <a:p>
                      <a:pPr algn="l"/>
                      <a:r>
                        <a:rPr sz="1250" b="1">
                          <a:solidFill>
                            <a:srgbClr val="0B2545"/>
                          </a:solidFill>
                          <a:latin typeface="Arial"/>
                        </a:rPr>
                        <a:t>Low voltage</a:t>
                      </a:r>
                    </a:p>
                  </a:txBody>
                  <a:tcPr anchor="ctr" marL="91440" marR="73152" marT="27432" marB="27432">
                    <a:solidFill>
                      <a:srgbClr val="FFFFFF"/>
                    </a:solidFill>
                  </a:tcPr>
                </a:tc>
                <a:tc>
                  <a:txBody>
                    <a:bodyPr wrap="square"/>
                    <a:lstStyle/>
                    <a:p>
                      <a:pPr algn="l"/>
                      <a:r>
                        <a:rPr sz="1250" b="0">
                          <a:solidFill>
                            <a:srgbClr val="1A2B3C"/>
                          </a:solidFill>
                          <a:latin typeface="Arial"/>
                        </a:rPr>
                        <a:t>&lt; 600 V</a:t>
                      </a:r>
                    </a:p>
                  </a:txBody>
                  <a:tcPr anchor="ctr" marL="91440" marR="73152" marT="27432" marB="27432">
                    <a:solidFill>
                      <a:srgbClr val="FFFFFF"/>
                    </a:solidFill>
                  </a:tcPr>
                </a:tc>
                <a:tc>
                  <a:txBody>
                    <a:bodyPr wrap="square"/>
                    <a:lstStyle/>
                    <a:p>
                      <a:pPr algn="l"/>
                      <a:r>
                        <a:rPr sz="1250" b="0">
                          <a:solidFill>
                            <a:srgbClr val="1A2B3C"/>
                          </a:solidFill>
                          <a:latin typeface="Arial"/>
                        </a:rPr>
                        <a:t>Services, secondary, street light</a:t>
                      </a:r>
                    </a:p>
                  </a:txBody>
                  <a:tcPr anchor="ctr" marL="91440" marR="73152" marT="27432" marB="27432">
                    <a:solidFill>
                      <a:srgbClr val="FFFFFF"/>
                    </a:solidFill>
                  </a:tcPr>
                </a:tc>
                <a:tc>
                  <a:txBody>
                    <a:bodyPr wrap="square"/>
                    <a:lstStyle/>
                    <a:p>
                      <a:pPr algn="l"/>
                      <a:r>
                        <a:rPr sz="1250" b="0">
                          <a:solidFill>
                            <a:srgbClr val="1A2B3C"/>
                          </a:solidFill>
                          <a:latin typeface="Arial"/>
                        </a:rPr>
                        <a:t>Still deadly — most contacts happen here</a:t>
                      </a:r>
                    </a:p>
                  </a:txBody>
                  <a:tcPr anchor="ctr" marL="91440" marR="73152" marT="27432" marB="27432">
                    <a:solidFill>
                      <a:srgbClr val="FFFFFF"/>
                    </a:solidFill>
                  </a:tcPr>
                </a:tc>
              </a:tr>
              <a:tr h="426720">
                <a:tc>
                  <a:txBody>
                    <a:bodyPr wrap="square"/>
                    <a:lstStyle/>
                    <a:p>
                      <a:pPr algn="l"/>
                      <a:r>
                        <a:rPr sz="1250" b="1">
                          <a:solidFill>
                            <a:srgbClr val="0B2545"/>
                          </a:solidFill>
                          <a:latin typeface="Arial"/>
                        </a:rPr>
                        <a:t>Medium voltage (Distribution)</a:t>
                      </a:r>
                    </a:p>
                  </a:txBody>
                  <a:tcPr anchor="ctr" marL="91440" marR="73152" marT="27432" marB="27432">
                    <a:solidFill>
                      <a:srgbClr val="EEF2F7"/>
                    </a:solidFill>
                  </a:tcPr>
                </a:tc>
                <a:tc>
                  <a:txBody>
                    <a:bodyPr wrap="square"/>
                    <a:lstStyle/>
                    <a:p>
                      <a:pPr algn="l"/>
                      <a:r>
                        <a:rPr sz="1250" b="0">
                          <a:solidFill>
                            <a:srgbClr val="1A2B3C"/>
                          </a:solidFill>
                          <a:latin typeface="Arial"/>
                        </a:rPr>
                        <a:t>600 V – 35 kV</a:t>
                      </a:r>
                    </a:p>
                  </a:txBody>
                  <a:tcPr anchor="ctr" marL="91440" marR="73152" marT="27432" marB="27432">
                    <a:solidFill>
                      <a:srgbClr val="EEF2F7"/>
                    </a:solidFill>
                  </a:tcPr>
                </a:tc>
                <a:tc>
                  <a:txBody>
                    <a:bodyPr wrap="square"/>
                    <a:lstStyle/>
                    <a:p>
                      <a:pPr algn="l"/>
                      <a:r>
                        <a:rPr sz="1250" b="0">
                          <a:solidFill>
                            <a:srgbClr val="1A2B3C"/>
                          </a:solidFill>
                          <a:latin typeface="Arial"/>
                        </a:rPr>
                        <a:t>Primary feeders, urban/rural lines</a:t>
                      </a:r>
                    </a:p>
                  </a:txBody>
                  <a:tcPr anchor="ctr" marL="91440" marR="73152" marT="27432" marB="27432">
                    <a:solidFill>
                      <a:srgbClr val="EEF2F7"/>
                    </a:solidFill>
                  </a:tcPr>
                </a:tc>
                <a:tc>
                  <a:txBody>
                    <a:bodyPr wrap="square"/>
                    <a:lstStyle/>
                    <a:p>
                      <a:pPr algn="l"/>
                      <a:r>
                        <a:rPr sz="1250" b="0">
                          <a:solidFill>
                            <a:srgbClr val="1A2B3C"/>
                          </a:solidFill>
                          <a:latin typeface="Arial"/>
                        </a:rPr>
                        <a:t>Common lineworker environment</a:t>
                      </a:r>
                    </a:p>
                  </a:txBody>
                  <a:tcPr anchor="ctr" marL="91440" marR="73152" marT="27432" marB="27432">
                    <a:solidFill>
                      <a:srgbClr val="EEF2F7"/>
                    </a:solidFill>
                  </a:tcPr>
                </a:tc>
              </a:tr>
              <a:tr h="426720">
                <a:tc>
                  <a:txBody>
                    <a:bodyPr wrap="square"/>
                    <a:lstStyle/>
                    <a:p>
                      <a:pPr algn="l"/>
                      <a:r>
                        <a:rPr sz="1250" b="1">
                          <a:solidFill>
                            <a:srgbClr val="0B2545"/>
                          </a:solidFill>
                          <a:latin typeface="Arial"/>
                        </a:rPr>
                        <a:t>High voltage (Sub-transmission/Transmission)</a:t>
                      </a:r>
                    </a:p>
                  </a:txBody>
                  <a:tcPr anchor="ctr" marL="91440" marR="73152" marT="27432" marB="27432">
                    <a:solidFill>
                      <a:srgbClr val="FFFFFF"/>
                    </a:solidFill>
                  </a:tcPr>
                </a:tc>
                <a:tc>
                  <a:txBody>
                    <a:bodyPr wrap="square"/>
                    <a:lstStyle/>
                    <a:p>
                      <a:pPr algn="l"/>
                      <a:r>
                        <a:rPr sz="1250" b="0">
                          <a:solidFill>
                            <a:srgbClr val="1A2B3C"/>
                          </a:solidFill>
                          <a:latin typeface="Arial"/>
                        </a:rPr>
                        <a:t>35 kV – 230 kV</a:t>
                      </a:r>
                    </a:p>
                  </a:txBody>
                  <a:tcPr anchor="ctr" marL="91440" marR="73152" marT="27432" marB="27432">
                    <a:solidFill>
                      <a:srgbClr val="FFFFFF"/>
                    </a:solidFill>
                  </a:tcPr>
                </a:tc>
                <a:tc>
                  <a:txBody>
                    <a:bodyPr wrap="square"/>
                    <a:lstStyle/>
                    <a:p>
                      <a:pPr algn="l"/>
                      <a:r>
                        <a:rPr sz="1250" b="0">
                          <a:solidFill>
                            <a:srgbClr val="1A2B3C"/>
                          </a:solidFill>
                          <a:latin typeface="Arial"/>
                        </a:rPr>
                        <a:t>Towers, large substations</a:t>
                      </a:r>
                    </a:p>
                  </a:txBody>
                  <a:tcPr anchor="ctr" marL="91440" marR="73152" marT="27432" marB="27432">
                    <a:solidFill>
                      <a:srgbClr val="FFFFFF"/>
                    </a:solidFill>
                  </a:tcPr>
                </a:tc>
                <a:tc>
                  <a:txBody>
                    <a:bodyPr wrap="square"/>
                    <a:lstStyle/>
                    <a:p>
                      <a:pPr algn="l"/>
                      <a:r>
                        <a:rPr sz="1250" b="0">
                          <a:solidFill>
                            <a:srgbClr val="1A2B3C"/>
                          </a:solidFill>
                          <a:latin typeface="Arial"/>
                        </a:rPr>
                        <a:t>Larger MAD; arc &amp; induction hazards grow</a:t>
                      </a:r>
                    </a:p>
                  </a:txBody>
                  <a:tcPr anchor="ctr" marL="91440" marR="73152" marT="27432" marB="27432">
                    <a:solidFill>
                      <a:srgbClr val="FFFFFF"/>
                    </a:solidFill>
                  </a:tcPr>
                </a:tc>
              </a:tr>
              <a:tr h="426720">
                <a:tc>
                  <a:txBody>
                    <a:bodyPr wrap="square"/>
                    <a:lstStyle/>
                    <a:p>
                      <a:pPr algn="l"/>
                      <a:r>
                        <a:rPr sz="1250" b="1">
                          <a:solidFill>
                            <a:srgbClr val="0B2545"/>
                          </a:solidFill>
                          <a:latin typeface="Arial"/>
                        </a:rPr>
                        <a:t>Extra-high voltage (EHV)</a:t>
                      </a:r>
                    </a:p>
                  </a:txBody>
                  <a:tcPr anchor="ctr" marL="91440" marR="73152" marT="27432" marB="27432">
                    <a:solidFill>
                      <a:srgbClr val="EEF2F7"/>
                    </a:solidFill>
                  </a:tcPr>
                </a:tc>
                <a:tc>
                  <a:txBody>
                    <a:bodyPr wrap="square"/>
                    <a:lstStyle/>
                    <a:p>
                      <a:pPr algn="l"/>
                      <a:r>
                        <a:rPr sz="1250" b="0">
                          <a:solidFill>
                            <a:srgbClr val="1A2B3C"/>
                          </a:solidFill>
                          <a:latin typeface="Arial"/>
                        </a:rPr>
                        <a:t>230 kV – 765 kV</a:t>
                      </a:r>
                    </a:p>
                  </a:txBody>
                  <a:tcPr anchor="ctr" marL="91440" marR="73152" marT="27432" marB="27432">
                    <a:solidFill>
                      <a:srgbClr val="EEF2F7"/>
                    </a:solidFill>
                  </a:tcPr>
                </a:tc>
                <a:tc>
                  <a:txBody>
                    <a:bodyPr wrap="square"/>
                    <a:lstStyle/>
                    <a:p>
                      <a:pPr algn="l"/>
                      <a:r>
                        <a:rPr sz="1250" b="0">
                          <a:solidFill>
                            <a:srgbClr val="1A2B3C"/>
                          </a:solidFill>
                          <a:latin typeface="Arial"/>
                        </a:rPr>
                        <a:t>Bulk transmission</a:t>
                      </a:r>
                    </a:p>
                  </a:txBody>
                  <a:tcPr anchor="ctr" marL="91440" marR="73152" marT="27432" marB="27432">
                    <a:solidFill>
                      <a:srgbClr val="EEF2F7"/>
                    </a:solidFill>
                  </a:tcPr>
                </a:tc>
                <a:tc>
                  <a:txBody>
                    <a:bodyPr wrap="square"/>
                    <a:lstStyle/>
                    <a:p>
                      <a:pPr algn="l"/>
                      <a:r>
                        <a:rPr sz="1250" b="0">
                          <a:solidFill>
                            <a:srgbClr val="1A2B3C"/>
                          </a:solidFill>
                          <a:latin typeface="Arial"/>
                        </a:rPr>
                        <a:t>Specialized live-line methods, large clearances</a:t>
                      </a:r>
                    </a:p>
                  </a:txBody>
                  <a:tcPr anchor="ctr" marL="91440" marR="73152" marT="27432" marB="27432">
                    <a:solidFill>
                      <a:srgbClr val="EEF2F7"/>
                    </a:solidFill>
                  </a:tcPr>
                </a:tc>
              </a:tr>
              <a:tr h="426720">
                <a:tc>
                  <a:txBody>
                    <a:bodyPr wrap="square"/>
                    <a:lstStyle/>
                    <a:p>
                      <a:pPr algn="l"/>
                      <a:r>
                        <a:rPr sz="1250" b="1">
                          <a:solidFill>
                            <a:srgbClr val="0B2545"/>
                          </a:solidFill>
                          <a:latin typeface="Arial"/>
                        </a:rPr>
                        <a:t>Ultra-high voltage (UHV)</a:t>
                      </a:r>
                    </a:p>
                  </a:txBody>
                  <a:tcPr anchor="ctr" marL="91440" marR="73152" marT="27432" marB="27432">
                    <a:solidFill>
                      <a:srgbClr val="FFFFFF"/>
                    </a:solidFill>
                  </a:tcPr>
                </a:tc>
                <a:tc>
                  <a:txBody>
                    <a:bodyPr wrap="square"/>
                    <a:lstStyle/>
                    <a:p>
                      <a:pPr algn="l"/>
                      <a:r>
                        <a:rPr sz="1250" b="0">
                          <a:solidFill>
                            <a:srgbClr val="1A2B3C"/>
                          </a:solidFill>
                          <a:latin typeface="Arial"/>
                        </a:rPr>
                        <a:t>&gt; 765 kV</a:t>
                      </a:r>
                    </a:p>
                  </a:txBody>
                  <a:tcPr anchor="ctr" marL="91440" marR="73152" marT="27432" marB="27432">
                    <a:solidFill>
                      <a:srgbClr val="FFFFFF"/>
                    </a:solidFill>
                  </a:tcPr>
                </a:tc>
                <a:tc>
                  <a:txBody>
                    <a:bodyPr wrap="square"/>
                    <a:lstStyle/>
                    <a:p>
                      <a:pPr algn="l"/>
                      <a:r>
                        <a:rPr sz="1250" b="0">
                          <a:solidFill>
                            <a:srgbClr val="1A2B3C"/>
                          </a:solidFill>
                          <a:latin typeface="Arial"/>
                        </a:rPr>
                        <a:t>Long-distance bulk corridors</a:t>
                      </a:r>
                    </a:p>
                  </a:txBody>
                  <a:tcPr anchor="ctr" marL="91440" marR="73152" marT="27432" marB="27432">
                    <a:solidFill>
                      <a:srgbClr val="FFFFFF"/>
                    </a:solidFill>
                  </a:tcPr>
                </a:tc>
                <a:tc>
                  <a:txBody>
                    <a:bodyPr wrap="square"/>
                    <a:lstStyle/>
                    <a:p>
                      <a:pPr algn="l"/>
                      <a:r>
                        <a:rPr sz="1250" b="0">
                          <a:solidFill>
                            <a:srgbClr val="1A2B3C"/>
                          </a:solidFill>
                          <a:latin typeface="Arial"/>
                        </a:rPr>
                        <a:t>Rare; highly specialized work</a:t>
                      </a:r>
                    </a:p>
                  </a:txBody>
                  <a:tcPr anchor="ctr" marL="91440" marR="73152" marT="27432" marB="27432">
                    <a:solidFill>
                      <a:srgbClr val="FFFFFF"/>
                    </a:solidFill>
                  </a:tcPr>
                </a:tc>
              </a:tr>
            </a:tbl>
          </a:graphicData>
        </a:graphic>
      </p:graphicFrame>
      <p:sp>
        <p:nvSpPr>
          <p:cNvPr id="8" name="TextBox 7"/>
          <p:cNvSpPr txBox="1"/>
          <p:nvPr/>
        </p:nvSpPr>
        <p:spPr>
          <a:xfrm>
            <a:off x="658368" y="4553712"/>
            <a:ext cx="10881360" cy="822960"/>
          </a:xfrm>
          <a:prstGeom prst="rect">
            <a:avLst/>
          </a:prstGeom>
          <a:noFill/>
        </p:spPr>
        <p:txBody>
          <a:bodyPr wrap="square" anchor="t" lIns="0" rIns="0" tIns="0" bIns="0">
            <a:spAutoFit/>
          </a:bodyPr>
          <a:lstStyle/>
          <a:p>
            <a:pPr algn="l">
              <a:lnSpc>
                <a:spcPct val="110000"/>
              </a:lnSpc>
              <a:spcBef>
                <a:spcPts val="400"/>
              </a:spcBef>
              <a:spcAft>
                <a:spcPts val="400"/>
              </a:spcAft>
            </a:pPr>
            <a:r>
              <a:rPr sz="1200" b="0" i="1">
                <a:solidFill>
                  <a:srgbClr val="5B6B7B"/>
                </a:solidFill>
                <a:latin typeface="Arial"/>
              </a:rPr>
              <a:t>Exact class boundaries vary by utility and standard (NESC/IEEE). What never changes: higher voltage = larger required clearances and greater fault energy.</a:t>
            </a:r>
          </a:p>
        </p:txBody>
      </p:sp>
      <p:sp>
        <p:nvSpPr>
          <p:cNvPr id="9" name="Rectangle 8"/>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1 — Electrical Theory</a:t>
            </a:r>
          </a:p>
        </p:txBody>
      </p:sp>
      <p:sp>
        <p:nvSpPr>
          <p:cNvPr id="11" name="TextBox 10"/>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ILLUSTRATED</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How Electricity Flows</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ig_atom.png"/>
          <p:cNvPicPr>
            <a:picLocks noChangeAspect="1"/>
          </p:cNvPicPr>
          <p:nvPr/>
        </p:nvPicPr>
        <p:blipFill>
          <a:blip r:embed="rId2"/>
          <a:stretch>
            <a:fillRect/>
          </a:stretch>
        </p:blipFill>
        <p:spPr>
          <a:xfrm>
            <a:off x="3573305" y="1783080"/>
            <a:ext cx="5042341" cy="3703320"/>
          </a:xfrm>
          <a:prstGeom prst="rect">
            <a:avLst/>
          </a:prstGeom>
        </p:spPr>
      </p:pic>
      <p:sp>
        <p:nvSpPr>
          <p:cNvPr id="8" name="TextBox 7"/>
          <p:cNvSpPr txBox="1"/>
          <p:nvPr/>
        </p:nvSpPr>
        <p:spPr>
          <a:xfrm>
            <a:off x="822960" y="5650992"/>
            <a:ext cx="10515600" cy="640080"/>
          </a:xfrm>
          <a:prstGeom prst="rect">
            <a:avLst/>
          </a:prstGeom>
          <a:noFill/>
        </p:spPr>
        <p:txBody>
          <a:bodyPr wrap="square" anchor="t" lIns="0" rIns="0" tIns="0" bIns="0">
            <a:spAutoFit/>
          </a:bodyPr>
          <a:lstStyle/>
          <a:p>
            <a:pPr algn="ctr">
              <a:lnSpc>
                <a:spcPct val="118000"/>
              </a:lnSpc>
              <a:spcBef>
                <a:spcPts val="400"/>
              </a:spcBef>
              <a:spcAft>
                <a:spcPts val="400"/>
              </a:spcAft>
            </a:pPr>
            <a:r>
              <a:rPr sz="1300" b="0" i="1">
                <a:solidFill>
                  <a:srgbClr val="5B6B7B"/>
                </a:solidFill>
                <a:latin typeface="Arial"/>
              </a:rPr>
              <a:t>Electrons drifting from atom to atom — driven by a difference in charge — are electric current.</a:t>
            </a:r>
          </a:p>
        </p:txBody>
      </p:sp>
      <p:sp>
        <p:nvSpPr>
          <p:cNvPr id="9" name="Rectangle 8"/>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1 — Electrical Theory</a:t>
            </a:r>
          </a:p>
        </p:txBody>
      </p:sp>
      <p:sp>
        <p:nvSpPr>
          <p:cNvPr id="11" name="TextBox 10"/>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ILLUSTRATED</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Conductors vs Insulators</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ig_conductor.png"/>
          <p:cNvPicPr>
            <a:picLocks noChangeAspect="1"/>
          </p:cNvPicPr>
          <p:nvPr/>
        </p:nvPicPr>
        <p:blipFill>
          <a:blip r:embed="rId2"/>
          <a:stretch>
            <a:fillRect/>
          </a:stretch>
        </p:blipFill>
        <p:spPr>
          <a:xfrm>
            <a:off x="3573305" y="1783080"/>
            <a:ext cx="5042341" cy="3703320"/>
          </a:xfrm>
          <a:prstGeom prst="rect">
            <a:avLst/>
          </a:prstGeom>
        </p:spPr>
      </p:pic>
      <p:sp>
        <p:nvSpPr>
          <p:cNvPr id="8" name="TextBox 7"/>
          <p:cNvSpPr txBox="1"/>
          <p:nvPr/>
        </p:nvSpPr>
        <p:spPr>
          <a:xfrm>
            <a:off x="822960" y="5650992"/>
            <a:ext cx="10515600" cy="640080"/>
          </a:xfrm>
          <a:prstGeom prst="rect">
            <a:avLst/>
          </a:prstGeom>
          <a:noFill/>
        </p:spPr>
        <p:txBody>
          <a:bodyPr wrap="square" anchor="t" lIns="0" rIns="0" tIns="0" bIns="0">
            <a:spAutoFit/>
          </a:bodyPr>
          <a:lstStyle/>
          <a:p>
            <a:pPr algn="ctr">
              <a:lnSpc>
                <a:spcPct val="118000"/>
              </a:lnSpc>
              <a:spcBef>
                <a:spcPts val="400"/>
              </a:spcBef>
              <a:spcAft>
                <a:spcPts val="400"/>
              </a:spcAft>
            </a:pPr>
            <a:r>
              <a:rPr sz="1300" b="0" i="1">
                <a:solidFill>
                  <a:srgbClr val="5B6B7B"/>
                </a:solidFill>
                <a:latin typeface="Arial"/>
              </a:rPr>
              <a:t>Conductors let electrons pass (low resistance); insulators bind them (high resistance).</a:t>
            </a:r>
          </a:p>
        </p:txBody>
      </p:sp>
      <p:sp>
        <p:nvSpPr>
          <p:cNvPr id="9" name="Rectangle 8"/>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1 — Electrical Theory</a:t>
            </a:r>
          </a:p>
        </p:txBody>
      </p:sp>
      <p:sp>
        <p:nvSpPr>
          <p:cNvPr id="11" name="TextBox 10"/>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ILLUSTRATED</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The Water Analogy</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ig_water.png"/>
          <p:cNvPicPr>
            <a:picLocks noChangeAspect="1"/>
          </p:cNvPicPr>
          <p:nvPr/>
        </p:nvPicPr>
        <p:blipFill>
          <a:blip r:embed="rId2"/>
          <a:stretch>
            <a:fillRect/>
          </a:stretch>
        </p:blipFill>
        <p:spPr>
          <a:xfrm>
            <a:off x="3573305" y="1783080"/>
            <a:ext cx="5042341" cy="3703320"/>
          </a:xfrm>
          <a:prstGeom prst="rect">
            <a:avLst/>
          </a:prstGeom>
        </p:spPr>
      </p:pic>
      <p:sp>
        <p:nvSpPr>
          <p:cNvPr id="8" name="TextBox 7"/>
          <p:cNvSpPr txBox="1"/>
          <p:nvPr/>
        </p:nvSpPr>
        <p:spPr>
          <a:xfrm>
            <a:off x="822960" y="5650992"/>
            <a:ext cx="10515600" cy="640080"/>
          </a:xfrm>
          <a:prstGeom prst="rect">
            <a:avLst/>
          </a:prstGeom>
          <a:noFill/>
        </p:spPr>
        <p:txBody>
          <a:bodyPr wrap="square" anchor="t" lIns="0" rIns="0" tIns="0" bIns="0">
            <a:spAutoFit/>
          </a:bodyPr>
          <a:lstStyle/>
          <a:p>
            <a:pPr algn="ctr">
              <a:lnSpc>
                <a:spcPct val="118000"/>
              </a:lnSpc>
              <a:spcBef>
                <a:spcPts val="400"/>
              </a:spcBef>
              <a:spcAft>
                <a:spcPts val="400"/>
              </a:spcAft>
            </a:pPr>
            <a:r>
              <a:rPr sz="1300" b="0" i="1">
                <a:solidFill>
                  <a:srgbClr val="5B6B7B"/>
                </a:solidFill>
                <a:latin typeface="Arial"/>
              </a:rPr>
              <a:t>Voltage is pressure, current is flow, resistance is the restriction:  I = V ÷ R.</a:t>
            </a:r>
          </a:p>
        </p:txBody>
      </p:sp>
      <p:sp>
        <p:nvSpPr>
          <p:cNvPr id="9" name="Rectangle 8"/>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1 — Electrical Theory</a:t>
            </a:r>
          </a:p>
        </p:txBody>
      </p:sp>
      <p:sp>
        <p:nvSpPr>
          <p:cNvPr id="11" name="TextBox 10"/>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ILLUSTRATED</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Why Voltage Needs Two Points</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ig_bird.png"/>
          <p:cNvPicPr>
            <a:picLocks noChangeAspect="1"/>
          </p:cNvPicPr>
          <p:nvPr/>
        </p:nvPicPr>
        <p:blipFill>
          <a:blip r:embed="rId2"/>
          <a:stretch>
            <a:fillRect/>
          </a:stretch>
        </p:blipFill>
        <p:spPr>
          <a:xfrm>
            <a:off x="3573305" y="1783080"/>
            <a:ext cx="5042341" cy="3703320"/>
          </a:xfrm>
          <a:prstGeom prst="rect">
            <a:avLst/>
          </a:prstGeom>
        </p:spPr>
      </p:pic>
      <p:sp>
        <p:nvSpPr>
          <p:cNvPr id="8" name="TextBox 7"/>
          <p:cNvSpPr txBox="1"/>
          <p:nvPr/>
        </p:nvSpPr>
        <p:spPr>
          <a:xfrm>
            <a:off x="822960" y="5650992"/>
            <a:ext cx="10515600" cy="640080"/>
          </a:xfrm>
          <a:prstGeom prst="rect">
            <a:avLst/>
          </a:prstGeom>
          <a:noFill/>
        </p:spPr>
        <p:txBody>
          <a:bodyPr wrap="square" anchor="t" lIns="0" rIns="0" tIns="0" bIns="0">
            <a:spAutoFit/>
          </a:bodyPr>
          <a:lstStyle/>
          <a:p>
            <a:pPr algn="ctr">
              <a:lnSpc>
                <a:spcPct val="118000"/>
              </a:lnSpc>
              <a:spcBef>
                <a:spcPts val="400"/>
              </a:spcBef>
              <a:spcAft>
                <a:spcPts val="400"/>
              </a:spcAft>
            </a:pPr>
            <a:r>
              <a:rPr sz="1300" b="0" i="1">
                <a:solidFill>
                  <a:srgbClr val="5B6B7B"/>
                </a:solidFill>
                <a:latin typeface="Arial"/>
              </a:rPr>
              <a:t>One potential is safe; bridging two different potentials drives current through you.</a:t>
            </a:r>
          </a:p>
        </p:txBody>
      </p:sp>
      <p:sp>
        <p:nvSpPr>
          <p:cNvPr id="9" name="Rectangle 8"/>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1 — Electrical Theory</a:t>
            </a:r>
          </a:p>
        </p:txBody>
      </p:sp>
      <p:sp>
        <p:nvSpPr>
          <p:cNvPr id="11" name="TextBox 10"/>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ILLUSTRATED</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The Ohm's Law &amp; Power Wheel</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ig_ohm.png"/>
          <p:cNvPicPr>
            <a:picLocks noChangeAspect="1"/>
          </p:cNvPicPr>
          <p:nvPr/>
        </p:nvPicPr>
        <p:blipFill>
          <a:blip r:embed="rId2"/>
          <a:stretch>
            <a:fillRect/>
          </a:stretch>
        </p:blipFill>
        <p:spPr>
          <a:xfrm>
            <a:off x="3573305" y="1783080"/>
            <a:ext cx="5042341" cy="3703320"/>
          </a:xfrm>
          <a:prstGeom prst="rect">
            <a:avLst/>
          </a:prstGeom>
        </p:spPr>
      </p:pic>
      <p:sp>
        <p:nvSpPr>
          <p:cNvPr id="8" name="TextBox 7"/>
          <p:cNvSpPr txBox="1"/>
          <p:nvPr/>
        </p:nvSpPr>
        <p:spPr>
          <a:xfrm>
            <a:off x="822960" y="5650992"/>
            <a:ext cx="10515600" cy="640080"/>
          </a:xfrm>
          <a:prstGeom prst="rect">
            <a:avLst/>
          </a:prstGeom>
          <a:noFill/>
        </p:spPr>
        <p:txBody>
          <a:bodyPr wrap="square" anchor="t" lIns="0" rIns="0" tIns="0" bIns="0">
            <a:spAutoFit/>
          </a:bodyPr>
          <a:lstStyle/>
          <a:p>
            <a:pPr algn="ctr">
              <a:lnSpc>
                <a:spcPct val="118000"/>
              </a:lnSpc>
              <a:spcBef>
                <a:spcPts val="400"/>
              </a:spcBef>
              <a:spcAft>
                <a:spcPts val="400"/>
              </a:spcAft>
            </a:pPr>
            <a:r>
              <a:rPr sz="1300" b="0" i="1">
                <a:solidFill>
                  <a:srgbClr val="5B6B7B"/>
                </a:solidFill>
                <a:latin typeface="Arial"/>
              </a:rPr>
              <a:t>Cover the unknown in the V / I / R triangle. Power P = V×I = I²R — heat rises with current squared.</a:t>
            </a:r>
          </a:p>
        </p:txBody>
      </p:sp>
      <p:sp>
        <p:nvSpPr>
          <p:cNvPr id="9" name="Rectangle 8"/>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1 — Electrical Theory</a:t>
            </a:r>
          </a:p>
        </p:txBody>
      </p:sp>
      <p:sp>
        <p:nvSpPr>
          <p:cNvPr id="11" name="TextBox 10"/>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ILLUSTRATED</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AC vs DC Waveforms</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ig_acdc.png"/>
          <p:cNvPicPr>
            <a:picLocks noChangeAspect="1"/>
          </p:cNvPicPr>
          <p:nvPr/>
        </p:nvPicPr>
        <p:blipFill>
          <a:blip r:embed="rId2"/>
          <a:stretch>
            <a:fillRect/>
          </a:stretch>
        </p:blipFill>
        <p:spPr>
          <a:xfrm>
            <a:off x="1013701" y="1783080"/>
            <a:ext cx="10161548" cy="3703320"/>
          </a:xfrm>
          <a:prstGeom prst="rect">
            <a:avLst/>
          </a:prstGeom>
        </p:spPr>
      </p:pic>
      <p:sp>
        <p:nvSpPr>
          <p:cNvPr id="8" name="TextBox 7"/>
          <p:cNvSpPr txBox="1"/>
          <p:nvPr/>
        </p:nvSpPr>
        <p:spPr>
          <a:xfrm>
            <a:off x="822960" y="5650992"/>
            <a:ext cx="10515600" cy="640080"/>
          </a:xfrm>
          <a:prstGeom prst="rect">
            <a:avLst/>
          </a:prstGeom>
          <a:noFill/>
        </p:spPr>
        <p:txBody>
          <a:bodyPr wrap="square" anchor="t" lIns="0" rIns="0" tIns="0" bIns="0">
            <a:spAutoFit/>
          </a:bodyPr>
          <a:lstStyle/>
          <a:p>
            <a:pPr algn="ctr">
              <a:lnSpc>
                <a:spcPct val="118000"/>
              </a:lnSpc>
              <a:spcBef>
                <a:spcPts val="400"/>
              </a:spcBef>
              <a:spcAft>
                <a:spcPts val="400"/>
              </a:spcAft>
            </a:pPr>
            <a:r>
              <a:rPr sz="1300" b="0" i="1">
                <a:solidFill>
                  <a:srgbClr val="5B6B7B"/>
                </a:solidFill>
                <a:latin typeface="Arial"/>
              </a:rPr>
              <a:t>DC flows one way at a steady level; AC reverses 60×/sec, which lets transformers change its voltage.</a:t>
            </a:r>
          </a:p>
        </p:txBody>
      </p:sp>
      <p:sp>
        <p:nvSpPr>
          <p:cNvPr id="9" name="Rectangle 8"/>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1 — Electrical Theory</a:t>
            </a:r>
          </a:p>
        </p:txBody>
      </p:sp>
      <p:sp>
        <p:nvSpPr>
          <p:cNvPr id="11" name="TextBox 10"/>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ILLUSTRATED</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Three-Phase Power</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ig_threephase.png"/>
          <p:cNvPicPr>
            <a:picLocks noChangeAspect="1"/>
          </p:cNvPicPr>
          <p:nvPr/>
        </p:nvPicPr>
        <p:blipFill>
          <a:blip r:embed="rId2"/>
          <a:stretch>
            <a:fillRect/>
          </a:stretch>
        </p:blipFill>
        <p:spPr>
          <a:xfrm>
            <a:off x="1013701" y="1783080"/>
            <a:ext cx="10161548" cy="3703320"/>
          </a:xfrm>
          <a:prstGeom prst="rect">
            <a:avLst/>
          </a:prstGeom>
        </p:spPr>
      </p:pic>
      <p:sp>
        <p:nvSpPr>
          <p:cNvPr id="8" name="TextBox 7"/>
          <p:cNvSpPr txBox="1"/>
          <p:nvPr/>
        </p:nvSpPr>
        <p:spPr>
          <a:xfrm>
            <a:off x="822960" y="5650992"/>
            <a:ext cx="10515600" cy="640080"/>
          </a:xfrm>
          <a:prstGeom prst="rect">
            <a:avLst/>
          </a:prstGeom>
          <a:noFill/>
        </p:spPr>
        <p:txBody>
          <a:bodyPr wrap="square" anchor="t" lIns="0" rIns="0" tIns="0" bIns="0">
            <a:spAutoFit/>
          </a:bodyPr>
          <a:lstStyle/>
          <a:p>
            <a:pPr algn="ctr">
              <a:lnSpc>
                <a:spcPct val="118000"/>
              </a:lnSpc>
              <a:spcBef>
                <a:spcPts val="400"/>
              </a:spcBef>
              <a:spcAft>
                <a:spcPts val="400"/>
              </a:spcAft>
            </a:pPr>
            <a:r>
              <a:rPr sz="1300" b="0" i="1">
                <a:solidFill>
                  <a:srgbClr val="5B6B7B"/>
                </a:solidFill>
                <a:latin typeface="Arial"/>
              </a:rPr>
              <a:t>Three waveforms 120° apart deliver smooth, continuous power — the backbone of the grid.</a:t>
            </a:r>
          </a:p>
        </p:txBody>
      </p:sp>
      <p:sp>
        <p:nvSpPr>
          <p:cNvPr id="9" name="Rectangle 8"/>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1 — Electrical Theory</a:t>
            </a:r>
          </a:p>
        </p:txBody>
      </p:sp>
      <p:sp>
        <p:nvSpPr>
          <p:cNvPr id="11" name="TextBox 10"/>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ILLUSTRATED</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How a Transformer Works</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ig_transformer.png"/>
          <p:cNvPicPr>
            <a:picLocks noChangeAspect="1"/>
          </p:cNvPicPr>
          <p:nvPr/>
        </p:nvPicPr>
        <p:blipFill>
          <a:blip r:embed="rId2"/>
          <a:stretch>
            <a:fillRect/>
          </a:stretch>
        </p:blipFill>
        <p:spPr>
          <a:xfrm>
            <a:off x="3573305" y="1783080"/>
            <a:ext cx="5042341" cy="3703320"/>
          </a:xfrm>
          <a:prstGeom prst="rect">
            <a:avLst/>
          </a:prstGeom>
        </p:spPr>
      </p:pic>
      <p:sp>
        <p:nvSpPr>
          <p:cNvPr id="8" name="TextBox 7"/>
          <p:cNvSpPr txBox="1"/>
          <p:nvPr/>
        </p:nvSpPr>
        <p:spPr>
          <a:xfrm>
            <a:off x="822960" y="5650992"/>
            <a:ext cx="10515600" cy="640080"/>
          </a:xfrm>
          <a:prstGeom prst="rect">
            <a:avLst/>
          </a:prstGeom>
          <a:noFill/>
        </p:spPr>
        <p:txBody>
          <a:bodyPr wrap="square" anchor="t" lIns="0" rIns="0" tIns="0" bIns="0">
            <a:spAutoFit/>
          </a:bodyPr>
          <a:lstStyle/>
          <a:p>
            <a:pPr algn="ctr">
              <a:lnSpc>
                <a:spcPct val="118000"/>
              </a:lnSpc>
              <a:spcBef>
                <a:spcPts val="400"/>
              </a:spcBef>
              <a:spcAft>
                <a:spcPts val="400"/>
              </a:spcAft>
            </a:pPr>
            <a:r>
              <a:rPr sz="1300" b="0" i="1">
                <a:solidFill>
                  <a:srgbClr val="5B6B7B"/>
                </a:solidFill>
                <a:latin typeface="Arial"/>
              </a:rPr>
              <a:t>Two coils on a magnetic core: the turns ratio sets the voltage ratio; power in ≈ power out.</a:t>
            </a:r>
          </a:p>
        </p:txBody>
      </p:sp>
      <p:sp>
        <p:nvSpPr>
          <p:cNvPr id="9" name="Rectangle 8"/>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1 — Electrical Theory</a:t>
            </a:r>
          </a:p>
        </p:txBody>
      </p:sp>
      <p:sp>
        <p:nvSpPr>
          <p:cNvPr id="11" name="TextBox 10"/>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ILLUSTRATED</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The Grid, End to End</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ig_grid.png"/>
          <p:cNvPicPr>
            <a:picLocks noChangeAspect="1"/>
          </p:cNvPicPr>
          <p:nvPr/>
        </p:nvPicPr>
        <p:blipFill>
          <a:blip r:embed="rId2"/>
          <a:stretch>
            <a:fillRect/>
          </a:stretch>
        </p:blipFill>
        <p:spPr>
          <a:xfrm>
            <a:off x="1013701" y="1783080"/>
            <a:ext cx="10161548" cy="3703320"/>
          </a:xfrm>
          <a:prstGeom prst="rect">
            <a:avLst/>
          </a:prstGeom>
        </p:spPr>
      </p:pic>
      <p:sp>
        <p:nvSpPr>
          <p:cNvPr id="8" name="TextBox 7"/>
          <p:cNvSpPr txBox="1"/>
          <p:nvPr/>
        </p:nvSpPr>
        <p:spPr>
          <a:xfrm>
            <a:off x="822960" y="5650992"/>
            <a:ext cx="10515600" cy="640080"/>
          </a:xfrm>
          <a:prstGeom prst="rect">
            <a:avLst/>
          </a:prstGeom>
          <a:noFill/>
        </p:spPr>
        <p:txBody>
          <a:bodyPr wrap="square" anchor="t" lIns="0" rIns="0" tIns="0" bIns="0">
            <a:spAutoFit/>
          </a:bodyPr>
          <a:lstStyle/>
          <a:p>
            <a:pPr algn="ctr">
              <a:lnSpc>
                <a:spcPct val="118000"/>
              </a:lnSpc>
              <a:spcBef>
                <a:spcPts val="400"/>
              </a:spcBef>
              <a:spcAft>
                <a:spcPts val="400"/>
              </a:spcAft>
            </a:pPr>
            <a:r>
              <a:rPr sz="1300" b="0" i="1">
                <a:solidFill>
                  <a:srgbClr val="5B6B7B"/>
                </a:solidFill>
                <a:latin typeface="Arial"/>
              </a:rPr>
              <a:t>Voltage is stepped up for transmission, then down in stages until it is safe for the customer.</a:t>
            </a:r>
          </a:p>
        </p:txBody>
      </p:sp>
      <p:sp>
        <p:nvSpPr>
          <p:cNvPr id="9" name="Rectangle 8"/>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1 — Electrical Theory</a:t>
            </a:r>
          </a:p>
        </p:txBody>
      </p:sp>
      <p:sp>
        <p:nvSpPr>
          <p:cNvPr id="11" name="TextBox 10"/>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MODULE 1 RECAP</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Module 1 — Key Takeaways</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783080"/>
            <a:ext cx="10927080" cy="4160520"/>
          </a:xfrm>
          <a:prstGeom prst="rect">
            <a:avLst/>
          </a:prstGeom>
          <a:noFill/>
        </p:spPr>
        <p:txBody>
          <a:bodyPr wrap="square" anchor="t" lIns="0" rIns="0" tIns="0" bIns="0">
            <a:spAutoFit/>
          </a:bodyPr>
          <a:lstStyle/>
          <a:p>
            <a:pPr algn="l">
              <a:lnSpc>
                <a:spcPct val="105000"/>
              </a:lnSpc>
              <a:spcBef>
                <a:spcPts val="700"/>
              </a:spcBef>
              <a:spcAft>
                <a:spcPts val="200"/>
              </a:spcAft>
            </a:pPr>
            <a:r>
              <a:rPr sz="1800" b="0" i="0">
                <a:solidFill>
                  <a:srgbClr val="1A2B3C"/>
                </a:solidFill>
                <a:latin typeface="Arial"/>
              </a:rPr>
              <a:t>■  Electricity is the flow of charge that always wants to return to its source via every path</a:t>
            </a:r>
          </a:p>
          <a:p>
            <a:pPr algn="l">
              <a:lnSpc>
                <a:spcPct val="105000"/>
              </a:lnSpc>
              <a:spcBef>
                <a:spcPts val="700"/>
              </a:spcBef>
              <a:spcAft>
                <a:spcPts val="200"/>
              </a:spcAft>
            </a:pPr>
            <a:r>
              <a:rPr sz="1800" b="0" i="0">
                <a:solidFill>
                  <a:srgbClr val="1A2B3C"/>
                </a:solidFill>
                <a:latin typeface="Arial"/>
              </a:rPr>
              <a:t>■  Voltage pushes; current flows; resistance opposes — V = I × R ties them together</a:t>
            </a:r>
          </a:p>
          <a:p>
            <a:pPr algn="l">
              <a:lnSpc>
                <a:spcPct val="105000"/>
              </a:lnSpc>
              <a:spcBef>
                <a:spcPts val="700"/>
              </a:spcBef>
              <a:spcAft>
                <a:spcPts val="200"/>
              </a:spcAft>
            </a:pPr>
            <a:r>
              <a:rPr sz="1800" b="0" i="0">
                <a:solidFill>
                  <a:srgbClr val="1A2B3C"/>
                </a:solidFill>
                <a:latin typeface="Arial"/>
              </a:rPr>
              <a:t>■  It is CURRENT through the body that kills, and low body resistance lets more through</a:t>
            </a:r>
          </a:p>
          <a:p>
            <a:pPr algn="l">
              <a:lnSpc>
                <a:spcPct val="105000"/>
              </a:lnSpc>
              <a:spcBef>
                <a:spcPts val="700"/>
              </a:spcBef>
              <a:spcAft>
                <a:spcPts val="200"/>
              </a:spcAft>
            </a:pPr>
            <a:r>
              <a:rPr sz="1800" b="0" i="0">
                <a:solidFill>
                  <a:srgbClr val="1A2B3C"/>
                </a:solidFill>
                <a:latin typeface="Arial"/>
              </a:rPr>
              <a:t>■  AC dominates the grid because transformers let us change voltage efficiently</a:t>
            </a:r>
          </a:p>
          <a:p>
            <a:pPr algn="l">
              <a:lnSpc>
                <a:spcPct val="105000"/>
              </a:lnSpc>
              <a:spcBef>
                <a:spcPts val="700"/>
              </a:spcBef>
              <a:spcAft>
                <a:spcPts val="200"/>
              </a:spcAft>
            </a:pPr>
            <a:r>
              <a:rPr sz="1800" b="0" i="0">
                <a:solidFill>
                  <a:srgbClr val="1A2B3C"/>
                </a:solidFill>
                <a:latin typeface="Arial"/>
              </a:rPr>
              <a:t>■  Transmit high (low current, low loss); distribute and use low (safe for customers)</a:t>
            </a:r>
          </a:p>
          <a:p>
            <a:pPr algn="l">
              <a:lnSpc>
                <a:spcPct val="105000"/>
              </a:lnSpc>
              <a:spcBef>
                <a:spcPts val="700"/>
              </a:spcBef>
              <a:spcAft>
                <a:spcPts val="200"/>
              </a:spcAft>
            </a:pPr>
            <a:r>
              <a:rPr sz="1800" b="0" i="0">
                <a:solidFill>
                  <a:srgbClr val="1A2B3C"/>
                </a:solidFill>
                <a:latin typeface="Arial"/>
              </a:rPr>
              <a:t>■  Know your voltage class — it sets your clearances, fault energy, and controls</a:t>
            </a:r>
          </a:p>
        </p:txBody>
      </p:sp>
      <p:sp>
        <p:nvSpPr>
          <p:cNvPr id="8" name="Rectangle 7"/>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1 — Electrical Theory</a:t>
            </a:r>
          </a:p>
        </p:txBody>
      </p:sp>
      <p:sp>
        <p:nvSpPr>
          <p:cNvPr id="10" name="TextBox 9"/>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a:gsLst>
              <a:gs pos="0">
                <a:srgbClr val="0B2545"/>
              </a:gs>
              <a:gs pos="100000">
                <a:srgbClr val="071830"/>
              </a:gs>
            </a:gsLst>
            <a:lin ang="27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371600"/>
            <a:ext cx="3840480" cy="2926080"/>
          </a:xfrm>
          <a:prstGeom prst="rect">
            <a:avLst/>
          </a:prstGeom>
          <a:noFill/>
        </p:spPr>
        <p:txBody>
          <a:bodyPr wrap="square" anchor="ctr" lIns="0" rIns="0" tIns="0" bIns="0">
            <a:spAutoFit/>
          </a:bodyPr>
          <a:lstStyle/>
          <a:p>
            <a:pPr algn="l">
              <a:lnSpc>
                <a:spcPct val="105000"/>
              </a:lnSpc>
              <a:spcBef>
                <a:spcPts val="400"/>
              </a:spcBef>
              <a:spcAft>
                <a:spcPts val="0"/>
              </a:spcAft>
            </a:pPr>
            <a:r>
              <a:rPr sz="1800" b="1" i="0">
                <a:solidFill>
                  <a:srgbClr val="F5B100"/>
                </a:solidFill>
                <a:latin typeface="Arial"/>
              </a:rPr>
              <a:t>MODULE</a:t>
            </a:r>
          </a:p>
          <a:p>
            <a:pPr algn="l">
              <a:lnSpc>
                <a:spcPct val="90000"/>
              </a:lnSpc>
              <a:spcBef>
                <a:spcPts val="0"/>
              </a:spcBef>
              <a:spcAft>
                <a:spcPts val="400"/>
              </a:spcAft>
            </a:pPr>
            <a:r>
              <a:rPr sz="15000" b="1" i="0">
                <a:solidFill>
                  <a:srgbClr val="FFFFFF"/>
                </a:solidFill>
                <a:latin typeface="Arial"/>
              </a:rPr>
              <a:t>2</a:t>
            </a:r>
          </a:p>
        </p:txBody>
      </p:sp>
      <p:sp>
        <p:nvSpPr>
          <p:cNvPr id="5" name="Rectangle 4"/>
          <p:cNvSpPr/>
          <p:nvPr/>
        </p:nvSpPr>
        <p:spPr>
          <a:xfrm>
            <a:off x="4800600" y="1554480"/>
            <a:ext cx="36576" cy="3657600"/>
          </a:xfrm>
          <a:prstGeom prst="rect">
            <a:avLst/>
          </a:prstGeom>
          <a:solidFill>
            <a:srgbClr val="2A47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12080" y="1691640"/>
            <a:ext cx="6400800" cy="1463040"/>
          </a:xfrm>
          <a:prstGeom prst="rect">
            <a:avLst/>
          </a:prstGeom>
          <a:noFill/>
        </p:spPr>
        <p:txBody>
          <a:bodyPr wrap="square" anchor="t" lIns="0" rIns="0" tIns="0" bIns="0">
            <a:spAutoFit/>
          </a:bodyPr>
          <a:lstStyle/>
          <a:p>
            <a:pPr algn="l">
              <a:lnSpc>
                <a:spcPct val="100000"/>
              </a:lnSpc>
              <a:spcBef>
                <a:spcPts val="400"/>
              </a:spcBef>
              <a:spcAft>
                <a:spcPts val="400"/>
              </a:spcAft>
            </a:pPr>
            <a:r>
              <a:rPr sz="3400" b="1" i="0">
                <a:solidFill>
                  <a:srgbClr val="FFFFFF"/>
                </a:solidFill>
                <a:latin typeface="Arial"/>
              </a:rPr>
              <a:t>Electricity &amp; the Human Body</a:t>
            </a:r>
          </a:p>
        </p:txBody>
      </p:sp>
      <p:sp>
        <p:nvSpPr>
          <p:cNvPr id="7" name="Rectangle 6"/>
          <p:cNvSpPr/>
          <p:nvPr/>
        </p:nvSpPr>
        <p:spPr>
          <a:xfrm>
            <a:off x="5230368" y="3063240"/>
            <a:ext cx="1371600" cy="4572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212080" y="3337560"/>
            <a:ext cx="6400800" cy="2926080"/>
          </a:xfrm>
          <a:prstGeom prst="rect">
            <a:avLst/>
          </a:prstGeom>
          <a:noFill/>
        </p:spPr>
        <p:txBody>
          <a:bodyPr wrap="square" anchor="t" lIns="0" rIns="0" tIns="0" bIns="0">
            <a:spAutoFit/>
          </a:bodyPr>
          <a:lstStyle/>
          <a:p>
            <a:pPr algn="l">
              <a:lnSpc>
                <a:spcPct val="105000"/>
              </a:lnSpc>
              <a:spcBef>
                <a:spcPts val="600"/>
              </a:spcBef>
              <a:spcAft>
                <a:spcPts val="600"/>
              </a:spcAft>
            </a:pPr>
            <a:r>
              <a:rPr sz="1600" b="0" i="0">
                <a:solidFill>
                  <a:srgbClr val="CFDCEC"/>
                </a:solidFill>
                <a:latin typeface="Arial"/>
              </a:rPr>
              <a:t>—  How current injures and kills</a:t>
            </a:r>
          </a:p>
          <a:p>
            <a:pPr algn="l">
              <a:lnSpc>
                <a:spcPct val="105000"/>
              </a:lnSpc>
              <a:spcBef>
                <a:spcPts val="600"/>
              </a:spcBef>
              <a:spcAft>
                <a:spcPts val="600"/>
              </a:spcAft>
            </a:pPr>
            <a:r>
              <a:rPr sz="1600" b="0" i="0">
                <a:solidFill>
                  <a:srgbClr val="CFDCEC"/>
                </a:solidFill>
                <a:latin typeface="Arial"/>
              </a:rPr>
              <a:t>—  Shock thresholds &amp; the heart</a:t>
            </a:r>
          </a:p>
          <a:p>
            <a:pPr algn="l">
              <a:lnSpc>
                <a:spcPct val="105000"/>
              </a:lnSpc>
              <a:spcBef>
                <a:spcPts val="600"/>
              </a:spcBef>
              <a:spcAft>
                <a:spcPts val="600"/>
              </a:spcAft>
            </a:pPr>
            <a:r>
              <a:rPr sz="1600" b="0" i="0">
                <a:solidFill>
                  <a:srgbClr val="CFDCEC"/>
                </a:solidFill>
                <a:latin typeface="Arial"/>
              </a:rPr>
              <a:t>—  Electrical burns</a:t>
            </a:r>
          </a:p>
          <a:p>
            <a:pPr algn="l">
              <a:lnSpc>
                <a:spcPct val="105000"/>
              </a:lnSpc>
              <a:spcBef>
                <a:spcPts val="600"/>
              </a:spcBef>
              <a:spcAft>
                <a:spcPts val="600"/>
              </a:spcAft>
            </a:pPr>
            <a:r>
              <a:rPr sz="1600" b="0" i="0">
                <a:solidFill>
                  <a:srgbClr val="CFDCEC"/>
                </a:solidFill>
                <a:latin typeface="Arial"/>
              </a:rPr>
              <a:t>—  Arc flash and arc blast</a:t>
            </a:r>
          </a:p>
          <a:p>
            <a:pPr algn="l">
              <a:lnSpc>
                <a:spcPct val="105000"/>
              </a:lnSpc>
              <a:spcBef>
                <a:spcPts val="600"/>
              </a:spcBef>
              <a:spcAft>
                <a:spcPts val="600"/>
              </a:spcAft>
            </a:pPr>
            <a:r>
              <a:rPr sz="1600" b="0" i="0">
                <a:solidFill>
                  <a:srgbClr val="CFDCEC"/>
                </a:solidFill>
                <a:latin typeface="Arial"/>
              </a:rPr>
              <a:t>—  Step, touch &amp; ground-gradient potential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2.1 SHOCK PHYSIOLOGY</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How Current Affects the Body</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783080"/>
            <a:ext cx="10927080" cy="4160520"/>
          </a:xfrm>
          <a:prstGeom prst="rect">
            <a:avLst/>
          </a:prstGeom>
          <a:noFill/>
        </p:spPr>
        <p:txBody>
          <a:bodyPr wrap="square" anchor="t" lIns="0" rIns="0" tIns="0" bIns="0">
            <a:spAutoFit/>
          </a:bodyPr>
          <a:lstStyle/>
          <a:p>
            <a:pPr algn="l">
              <a:lnSpc>
                <a:spcPct val="105000"/>
              </a:lnSpc>
              <a:spcBef>
                <a:spcPts val="700"/>
              </a:spcBef>
              <a:spcAft>
                <a:spcPts val="200"/>
              </a:spcAft>
            </a:pPr>
            <a:r>
              <a:rPr sz="1800" b="0" i="0">
                <a:solidFill>
                  <a:srgbClr val="1A2B3C"/>
                </a:solidFill>
                <a:latin typeface="Arial"/>
              </a:rPr>
              <a:t>■  The body is a conductor — nerves and muscles run on tiny electrical signals</a:t>
            </a:r>
          </a:p>
          <a:p>
            <a:pPr algn="l">
              <a:lnSpc>
                <a:spcPct val="105000"/>
              </a:lnSpc>
              <a:spcBef>
                <a:spcPts val="700"/>
              </a:spcBef>
              <a:spcAft>
                <a:spcPts val="200"/>
              </a:spcAft>
            </a:pPr>
            <a:r>
              <a:rPr sz="1800" b="0" i="0">
                <a:solidFill>
                  <a:srgbClr val="1A2B3C"/>
                </a:solidFill>
                <a:latin typeface="Arial"/>
              </a:rPr>
              <a:t>■  External current overrides those signals: muscles clamp, nerves misfire, the heart can fibrillate</a:t>
            </a:r>
          </a:p>
          <a:p>
            <a:pPr algn="l">
              <a:lnSpc>
                <a:spcPct val="105000"/>
              </a:lnSpc>
              <a:spcBef>
                <a:spcPts val="700"/>
              </a:spcBef>
              <a:spcAft>
                <a:spcPts val="200"/>
              </a:spcAft>
            </a:pPr>
            <a:r>
              <a:rPr sz="1800" b="0" i="0">
                <a:solidFill>
                  <a:srgbClr val="1A2B3C"/>
                </a:solidFill>
                <a:latin typeface="Arial"/>
              </a:rPr>
              <a:t>■  Severity depends on:</a:t>
            </a:r>
          </a:p>
          <a:p>
            <a:pPr algn="l" lvl="1">
              <a:lnSpc>
                <a:spcPct val="103000"/>
              </a:lnSpc>
              <a:spcBef>
                <a:spcPts val="200"/>
              </a:spcBef>
              <a:spcAft>
                <a:spcPts val="200"/>
              </a:spcAft>
            </a:pPr>
            <a:r>
              <a:rPr sz="1500" b="0" i="0">
                <a:solidFill>
                  <a:srgbClr val="334455"/>
                </a:solidFill>
                <a:latin typeface="Arial"/>
              </a:rPr>
              <a:t>–  Amount of current (the key factor) — set by voltage ÷ your resistance</a:t>
            </a:r>
          </a:p>
          <a:p>
            <a:pPr algn="l" lvl="1">
              <a:lnSpc>
                <a:spcPct val="103000"/>
              </a:lnSpc>
              <a:spcBef>
                <a:spcPts val="200"/>
              </a:spcBef>
              <a:spcAft>
                <a:spcPts val="200"/>
              </a:spcAft>
            </a:pPr>
            <a:r>
              <a:rPr sz="1500" b="0" i="0">
                <a:solidFill>
                  <a:srgbClr val="334455"/>
                </a:solidFill>
                <a:latin typeface="Arial"/>
              </a:rPr>
              <a:t>–  Path through the body — hand-to-hand or hand-to-foot crosses the heart</a:t>
            </a:r>
          </a:p>
          <a:p>
            <a:pPr algn="l" lvl="1">
              <a:lnSpc>
                <a:spcPct val="103000"/>
              </a:lnSpc>
              <a:spcBef>
                <a:spcPts val="200"/>
              </a:spcBef>
              <a:spcAft>
                <a:spcPts val="200"/>
              </a:spcAft>
            </a:pPr>
            <a:r>
              <a:rPr sz="1500" b="0" i="0">
                <a:solidFill>
                  <a:srgbClr val="334455"/>
                </a:solidFill>
                <a:latin typeface="Arial"/>
              </a:rPr>
              <a:t>–  Duration of contact — longer exposure, more damage</a:t>
            </a:r>
          </a:p>
          <a:p>
            <a:pPr algn="l" lvl="1">
              <a:lnSpc>
                <a:spcPct val="103000"/>
              </a:lnSpc>
              <a:spcBef>
                <a:spcPts val="200"/>
              </a:spcBef>
              <a:spcAft>
                <a:spcPts val="200"/>
              </a:spcAft>
            </a:pPr>
            <a:r>
              <a:rPr sz="1500" b="0" i="0">
                <a:solidFill>
                  <a:srgbClr val="334455"/>
                </a:solidFill>
                <a:latin typeface="Arial"/>
              </a:rPr>
              <a:t>–  Frequency — 60 Hz AC is especially effective at causing fibrillation</a:t>
            </a:r>
          </a:p>
          <a:p>
            <a:pPr algn="l">
              <a:lnSpc>
                <a:spcPct val="105000"/>
              </a:lnSpc>
              <a:spcBef>
                <a:spcPts val="700"/>
              </a:spcBef>
              <a:spcAft>
                <a:spcPts val="200"/>
              </a:spcAft>
            </a:pPr>
            <a:r>
              <a:rPr sz="1800" b="0" i="0">
                <a:solidFill>
                  <a:srgbClr val="1A2B3C"/>
                </a:solidFill>
                <a:latin typeface="Arial"/>
              </a:rPr>
              <a:t>■  Skin resistance can be ~100,000 Ω dry, but drops to ~1,000 Ω or less when wet/broken</a:t>
            </a:r>
          </a:p>
          <a:p>
            <a:pPr algn="l" lvl="1">
              <a:lnSpc>
                <a:spcPct val="103000"/>
              </a:lnSpc>
              <a:spcBef>
                <a:spcPts val="200"/>
              </a:spcBef>
              <a:spcAft>
                <a:spcPts val="200"/>
              </a:spcAft>
            </a:pPr>
            <a:r>
              <a:rPr sz="1500" b="0" i="0">
                <a:solidFill>
                  <a:srgbClr val="334455"/>
                </a:solidFill>
                <a:latin typeface="Arial"/>
              </a:rPr>
              <a:t>–  Same voltage then drives far more current — wet conditions are a force multiplier</a:t>
            </a:r>
          </a:p>
        </p:txBody>
      </p:sp>
      <p:sp>
        <p:nvSpPr>
          <p:cNvPr id="8" name="Rectangle 7"/>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2 — Electricity &amp; the Body</a:t>
            </a:r>
          </a:p>
        </p:txBody>
      </p:sp>
      <p:sp>
        <p:nvSpPr>
          <p:cNvPr id="10" name="TextBox 9"/>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2.2 THRESHOLDS</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Approximate Effects of 60 Hz Current Across the Body</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640080" y="1828800"/>
          <a:ext cx="10908791" cy="3822191"/>
        </p:xfrm>
        <a:graphic>
          <a:graphicData uri="http://schemas.openxmlformats.org/drawingml/2006/table">
            <a:tbl>
              <a:tblPr firstRow="1" bandRow="1">
                <a:tableStyleId>{5C22544A-7EE6-4342-B048-85BDC9FD1C3A}</a:tableStyleId>
              </a:tblPr>
              <a:tblGrid>
                <a:gridCol w="3151428"/>
                <a:gridCol w="7757363"/>
              </a:tblGrid>
              <a:tr h="424687">
                <a:tc>
                  <a:txBody>
                    <a:bodyPr wrap="square"/>
                    <a:lstStyle/>
                    <a:p>
                      <a:pPr algn="l"/>
                      <a:r>
                        <a:rPr sz="1300" b="1">
                          <a:solidFill>
                            <a:srgbClr val="FFFFFF"/>
                          </a:solidFill>
                          <a:latin typeface="Arial"/>
                        </a:rPr>
                        <a:t>Current (through body)</a:t>
                      </a:r>
                    </a:p>
                  </a:txBody>
                  <a:tcPr anchor="ctr" marL="91440" marR="73152" marT="36576" marB="36576">
                    <a:solidFill>
                      <a:srgbClr val="0B2545"/>
                    </a:solidFill>
                  </a:tcPr>
                </a:tc>
                <a:tc>
                  <a:txBody>
                    <a:bodyPr wrap="square"/>
                    <a:lstStyle/>
                    <a:p>
                      <a:pPr algn="l"/>
                      <a:r>
                        <a:rPr sz="1300" b="1">
                          <a:solidFill>
                            <a:srgbClr val="FFFFFF"/>
                          </a:solidFill>
                          <a:latin typeface="Arial"/>
                        </a:rPr>
                        <a:t>Typical effect</a:t>
                      </a:r>
                    </a:p>
                  </a:txBody>
                  <a:tcPr anchor="ctr" marL="91440" marR="73152" marT="36576" marB="36576">
                    <a:solidFill>
                      <a:srgbClr val="0B2545"/>
                    </a:solidFill>
                  </a:tcPr>
                </a:tc>
              </a:tr>
              <a:tr h="424687">
                <a:tc>
                  <a:txBody>
                    <a:bodyPr wrap="square"/>
                    <a:lstStyle/>
                    <a:p>
                      <a:pPr algn="l"/>
                      <a:r>
                        <a:rPr sz="1250" b="1">
                          <a:solidFill>
                            <a:srgbClr val="0B2545"/>
                          </a:solidFill>
                          <a:latin typeface="Arial"/>
                        </a:rPr>
                        <a:t>~1 mA</a:t>
                      </a:r>
                    </a:p>
                  </a:txBody>
                  <a:tcPr anchor="ctr" marL="91440" marR="73152" marT="27432" marB="27432">
                    <a:solidFill>
                      <a:srgbClr val="FFFFFF"/>
                    </a:solidFill>
                  </a:tcPr>
                </a:tc>
                <a:tc>
                  <a:txBody>
                    <a:bodyPr wrap="square"/>
                    <a:lstStyle/>
                    <a:p>
                      <a:pPr algn="l"/>
                      <a:r>
                        <a:rPr sz="1250" b="0">
                          <a:solidFill>
                            <a:srgbClr val="1A2B3C"/>
                          </a:solidFill>
                          <a:latin typeface="Arial"/>
                        </a:rPr>
                        <a:t>Threshold of perception — a faint tingle</a:t>
                      </a:r>
                    </a:p>
                  </a:txBody>
                  <a:tcPr anchor="ctr" marL="91440" marR="73152" marT="27432" marB="27432">
                    <a:solidFill>
                      <a:srgbClr val="FFFFFF"/>
                    </a:solidFill>
                  </a:tcPr>
                </a:tc>
              </a:tr>
              <a:tr h="424687">
                <a:tc>
                  <a:txBody>
                    <a:bodyPr wrap="square"/>
                    <a:lstStyle/>
                    <a:p>
                      <a:pPr algn="l"/>
                      <a:r>
                        <a:rPr sz="1250" b="1">
                          <a:solidFill>
                            <a:srgbClr val="0B2545"/>
                          </a:solidFill>
                          <a:latin typeface="Arial"/>
                        </a:rPr>
                        <a:t>~5 mA</a:t>
                      </a:r>
                    </a:p>
                  </a:txBody>
                  <a:tcPr anchor="ctr" marL="91440" marR="73152" marT="27432" marB="27432">
                    <a:solidFill>
                      <a:srgbClr val="EEF2F7"/>
                    </a:solidFill>
                  </a:tcPr>
                </a:tc>
                <a:tc>
                  <a:txBody>
                    <a:bodyPr wrap="square"/>
                    <a:lstStyle/>
                    <a:p>
                      <a:pPr algn="l"/>
                      <a:r>
                        <a:rPr sz="1250" b="0">
                          <a:solidFill>
                            <a:srgbClr val="1A2B3C"/>
                          </a:solidFill>
                          <a:latin typeface="Arial"/>
                        </a:rPr>
                        <a:t>Slight shock; not painful but startling — can cause falls</a:t>
                      </a:r>
                    </a:p>
                  </a:txBody>
                  <a:tcPr anchor="ctr" marL="91440" marR="73152" marT="27432" marB="27432">
                    <a:solidFill>
                      <a:srgbClr val="EEF2F7"/>
                    </a:solidFill>
                  </a:tcPr>
                </a:tc>
              </a:tr>
              <a:tr h="424687">
                <a:tc>
                  <a:txBody>
                    <a:bodyPr wrap="square"/>
                    <a:lstStyle/>
                    <a:p>
                      <a:pPr algn="l"/>
                      <a:r>
                        <a:rPr sz="1250" b="1">
                          <a:solidFill>
                            <a:srgbClr val="0B2545"/>
                          </a:solidFill>
                          <a:latin typeface="Arial"/>
                        </a:rPr>
                        <a:t>6–16 mA</a:t>
                      </a:r>
                    </a:p>
                  </a:txBody>
                  <a:tcPr anchor="ctr" marL="91440" marR="73152" marT="27432" marB="27432">
                    <a:solidFill>
                      <a:srgbClr val="FFFFFF"/>
                    </a:solidFill>
                  </a:tcPr>
                </a:tc>
                <a:tc>
                  <a:txBody>
                    <a:bodyPr wrap="square"/>
                    <a:lstStyle/>
                    <a:p>
                      <a:pPr algn="l"/>
                      <a:r>
                        <a:rPr sz="1250" b="0">
                          <a:solidFill>
                            <a:srgbClr val="1A2B3C"/>
                          </a:solidFill>
                          <a:latin typeface="Arial"/>
                        </a:rPr>
                        <a:t>Painful shock; loss of muscular control begins (“let-go” threshold)</a:t>
                      </a:r>
                    </a:p>
                  </a:txBody>
                  <a:tcPr anchor="ctr" marL="91440" marR="73152" marT="27432" marB="27432">
                    <a:solidFill>
                      <a:srgbClr val="FFFFFF"/>
                    </a:solidFill>
                  </a:tcPr>
                </a:tc>
              </a:tr>
              <a:tr h="424687">
                <a:tc>
                  <a:txBody>
                    <a:bodyPr wrap="square"/>
                    <a:lstStyle/>
                    <a:p>
                      <a:pPr algn="l"/>
                      <a:r>
                        <a:rPr sz="1250" b="1">
                          <a:solidFill>
                            <a:srgbClr val="0B2545"/>
                          </a:solidFill>
                          <a:latin typeface="Arial"/>
                        </a:rPr>
                        <a:t>17–20 mA</a:t>
                      </a:r>
                    </a:p>
                  </a:txBody>
                  <a:tcPr anchor="ctr" marL="91440" marR="73152" marT="27432" marB="27432">
                    <a:solidFill>
                      <a:srgbClr val="EEF2F7"/>
                    </a:solidFill>
                  </a:tcPr>
                </a:tc>
                <a:tc>
                  <a:txBody>
                    <a:bodyPr wrap="square"/>
                    <a:lstStyle/>
                    <a:p>
                      <a:pPr algn="l"/>
                      <a:r>
                        <a:rPr sz="1250" b="0">
                          <a:solidFill>
                            <a:srgbClr val="1A2B3C"/>
                          </a:solidFill>
                          <a:latin typeface="Arial"/>
                        </a:rPr>
                        <a:t>Muscles clamp — CANNOT let go of the conductor; breathing labored</a:t>
                      </a:r>
                    </a:p>
                  </a:txBody>
                  <a:tcPr anchor="ctr" marL="91440" marR="73152" marT="27432" marB="27432">
                    <a:solidFill>
                      <a:srgbClr val="EEF2F7"/>
                    </a:solidFill>
                  </a:tcPr>
                </a:tc>
              </a:tr>
              <a:tr h="424687">
                <a:tc>
                  <a:txBody>
                    <a:bodyPr wrap="square"/>
                    <a:lstStyle/>
                    <a:p>
                      <a:pPr algn="l"/>
                      <a:r>
                        <a:rPr sz="1250" b="1">
                          <a:solidFill>
                            <a:srgbClr val="0B2545"/>
                          </a:solidFill>
                          <a:latin typeface="Arial"/>
                        </a:rPr>
                        <a:t>20–50 mA</a:t>
                      </a:r>
                    </a:p>
                  </a:txBody>
                  <a:tcPr anchor="ctr" marL="91440" marR="73152" marT="27432" marB="27432">
                    <a:solidFill>
                      <a:srgbClr val="FFFFFF"/>
                    </a:solidFill>
                  </a:tcPr>
                </a:tc>
                <a:tc>
                  <a:txBody>
                    <a:bodyPr wrap="square"/>
                    <a:lstStyle/>
                    <a:p>
                      <a:pPr algn="l"/>
                      <a:r>
                        <a:rPr sz="1250" b="0">
                          <a:solidFill>
                            <a:srgbClr val="1A2B3C"/>
                          </a:solidFill>
                          <a:latin typeface="Arial"/>
                        </a:rPr>
                        <a:t>Severe muscle contractions, breathing difficulty</a:t>
                      </a:r>
                    </a:p>
                  </a:txBody>
                  <a:tcPr anchor="ctr" marL="91440" marR="73152" marT="27432" marB="27432">
                    <a:solidFill>
                      <a:srgbClr val="FFFFFF"/>
                    </a:solidFill>
                  </a:tcPr>
                </a:tc>
              </a:tr>
              <a:tr h="424687">
                <a:tc>
                  <a:txBody>
                    <a:bodyPr wrap="square"/>
                    <a:lstStyle/>
                    <a:p>
                      <a:pPr algn="l"/>
                      <a:r>
                        <a:rPr sz="1250" b="1">
                          <a:solidFill>
                            <a:srgbClr val="0B2545"/>
                          </a:solidFill>
                          <a:latin typeface="Arial"/>
                        </a:rPr>
                        <a:t>50–100 mA</a:t>
                      </a:r>
                    </a:p>
                  </a:txBody>
                  <a:tcPr anchor="ctr" marL="91440" marR="73152" marT="27432" marB="27432">
                    <a:solidFill>
                      <a:srgbClr val="EEF2F7"/>
                    </a:solidFill>
                  </a:tcPr>
                </a:tc>
                <a:tc>
                  <a:txBody>
                    <a:bodyPr wrap="square"/>
                    <a:lstStyle/>
                    <a:p>
                      <a:pPr algn="l"/>
                      <a:r>
                        <a:rPr sz="1250" b="0">
                          <a:solidFill>
                            <a:srgbClr val="1A2B3C"/>
                          </a:solidFill>
                          <a:latin typeface="Arial"/>
                        </a:rPr>
                        <a:t>Possible ventricular fibrillation — the heart quivers, stops pumping</a:t>
                      </a:r>
                    </a:p>
                  </a:txBody>
                  <a:tcPr anchor="ctr" marL="91440" marR="73152" marT="27432" marB="27432">
                    <a:solidFill>
                      <a:srgbClr val="EEF2F7"/>
                    </a:solidFill>
                  </a:tcPr>
                </a:tc>
              </a:tr>
              <a:tr h="424687">
                <a:tc>
                  <a:txBody>
                    <a:bodyPr wrap="square"/>
                    <a:lstStyle/>
                    <a:p>
                      <a:pPr algn="l"/>
                      <a:r>
                        <a:rPr sz="1250" b="1">
                          <a:solidFill>
                            <a:srgbClr val="0B2545"/>
                          </a:solidFill>
                          <a:latin typeface="Arial"/>
                        </a:rPr>
                        <a:t>100 mA – 2 A</a:t>
                      </a:r>
                    </a:p>
                  </a:txBody>
                  <a:tcPr anchor="ctr" marL="91440" marR="73152" marT="27432" marB="27432">
                    <a:solidFill>
                      <a:srgbClr val="FFFFFF"/>
                    </a:solidFill>
                  </a:tcPr>
                </a:tc>
                <a:tc>
                  <a:txBody>
                    <a:bodyPr wrap="square"/>
                    <a:lstStyle/>
                    <a:p>
                      <a:pPr algn="l"/>
                      <a:r>
                        <a:rPr sz="1250" b="0">
                          <a:solidFill>
                            <a:srgbClr val="1A2B3C"/>
                          </a:solidFill>
                          <a:latin typeface="Arial"/>
                        </a:rPr>
                        <a:t>Likely fatal ventricular fibrillation; nerve damage</a:t>
                      </a:r>
                    </a:p>
                  </a:txBody>
                  <a:tcPr anchor="ctr" marL="91440" marR="73152" marT="27432" marB="27432">
                    <a:solidFill>
                      <a:srgbClr val="FFFFFF"/>
                    </a:solidFill>
                  </a:tcPr>
                </a:tc>
              </a:tr>
              <a:tr h="424695">
                <a:tc>
                  <a:txBody>
                    <a:bodyPr wrap="square"/>
                    <a:lstStyle/>
                    <a:p>
                      <a:pPr algn="l"/>
                      <a:r>
                        <a:rPr sz="1250" b="1">
                          <a:solidFill>
                            <a:srgbClr val="0B2545"/>
                          </a:solidFill>
                          <a:latin typeface="Arial"/>
                        </a:rPr>
                        <a:t>&gt; 2 A</a:t>
                      </a:r>
                    </a:p>
                  </a:txBody>
                  <a:tcPr anchor="ctr" marL="91440" marR="73152" marT="27432" marB="27432">
                    <a:solidFill>
                      <a:srgbClr val="EEF2F7"/>
                    </a:solidFill>
                  </a:tcPr>
                </a:tc>
                <a:tc>
                  <a:txBody>
                    <a:bodyPr wrap="square"/>
                    <a:lstStyle/>
                    <a:p>
                      <a:pPr algn="l"/>
                      <a:r>
                        <a:rPr sz="1250" b="0">
                          <a:solidFill>
                            <a:srgbClr val="1A2B3C"/>
                          </a:solidFill>
                          <a:latin typeface="Arial"/>
                        </a:rPr>
                        <a:t>Cardiac arrest, severe internal burns, organ damage</a:t>
                      </a:r>
                    </a:p>
                  </a:txBody>
                  <a:tcPr anchor="ctr" marL="91440" marR="73152" marT="27432" marB="27432">
                    <a:solidFill>
                      <a:srgbClr val="EEF2F7"/>
                    </a:solidFill>
                  </a:tcPr>
                </a:tc>
              </a:tr>
            </a:tbl>
          </a:graphicData>
        </a:graphic>
      </p:graphicFrame>
      <p:sp>
        <p:nvSpPr>
          <p:cNvPr id="8" name="TextBox 7"/>
          <p:cNvSpPr txBox="1"/>
          <p:nvPr/>
        </p:nvSpPr>
        <p:spPr>
          <a:xfrm>
            <a:off x="658368" y="5815583"/>
            <a:ext cx="10881360" cy="822960"/>
          </a:xfrm>
          <a:prstGeom prst="rect">
            <a:avLst/>
          </a:prstGeom>
          <a:noFill/>
        </p:spPr>
        <p:txBody>
          <a:bodyPr wrap="square" anchor="t" lIns="0" rIns="0" tIns="0" bIns="0">
            <a:spAutoFit/>
          </a:bodyPr>
          <a:lstStyle/>
          <a:p>
            <a:pPr algn="l">
              <a:lnSpc>
                <a:spcPct val="110000"/>
              </a:lnSpc>
              <a:spcBef>
                <a:spcPts val="400"/>
              </a:spcBef>
              <a:spcAft>
                <a:spcPts val="400"/>
              </a:spcAft>
            </a:pPr>
            <a:r>
              <a:rPr sz="1200" b="0" i="1">
                <a:solidFill>
                  <a:srgbClr val="5B6B7B"/>
                </a:solidFill>
                <a:latin typeface="Arial"/>
              </a:rPr>
              <a:t>Values are approximate and vary by body size, path, and conditions. The lesson: the dangerous range starts in the MILLIAMP region — far below what trips most circuits.</a:t>
            </a:r>
          </a:p>
        </p:txBody>
      </p:sp>
      <p:sp>
        <p:nvSpPr>
          <p:cNvPr id="9" name="Rectangle 8"/>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2 — Electricity &amp; the Body</a:t>
            </a:r>
          </a:p>
        </p:txBody>
      </p:sp>
      <p:sp>
        <p:nvSpPr>
          <p:cNvPr id="11" name="TextBox 10"/>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2.3 THE HEART</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The Heart, Let-Go &amp; Fibrillation</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783080"/>
            <a:ext cx="6949440" cy="4297680"/>
          </a:xfrm>
          <a:prstGeom prst="rect">
            <a:avLst/>
          </a:prstGeom>
          <a:noFill/>
        </p:spPr>
        <p:txBody>
          <a:bodyPr wrap="square" anchor="t" lIns="0" rIns="0" tIns="0" bIns="0">
            <a:spAutoFit/>
          </a:bodyPr>
          <a:lstStyle/>
          <a:p>
            <a:pPr algn="l">
              <a:lnSpc>
                <a:spcPct val="105000"/>
              </a:lnSpc>
              <a:spcBef>
                <a:spcPts val="700"/>
              </a:spcBef>
              <a:spcAft>
                <a:spcPts val="200"/>
              </a:spcAft>
            </a:pPr>
            <a:r>
              <a:rPr sz="1700" b="0" i="0">
                <a:solidFill>
                  <a:srgbClr val="1A2B3C"/>
                </a:solidFill>
                <a:latin typeface="Arial"/>
              </a:rPr>
              <a:t>■  “Let-go threshold”: above ~10–16 mA your flexor muscles clamp and you cannot release the conductor</a:t>
            </a:r>
          </a:p>
          <a:p>
            <a:pPr algn="l" lvl="1">
              <a:lnSpc>
                <a:spcPct val="102000"/>
              </a:lnSpc>
              <a:spcBef>
                <a:spcPts val="200"/>
              </a:spcBef>
              <a:spcAft>
                <a:spcPts val="100"/>
              </a:spcAft>
            </a:pPr>
            <a:r>
              <a:rPr sz="1400" b="0" i="0">
                <a:solidFill>
                  <a:srgbClr val="334455"/>
                </a:solidFill>
                <a:latin typeface="Arial"/>
              </a:rPr>
              <a:t>–  The longer you hold on, the more the contact heats and the more current flows</a:t>
            </a:r>
          </a:p>
          <a:p>
            <a:pPr algn="l">
              <a:lnSpc>
                <a:spcPct val="105000"/>
              </a:lnSpc>
              <a:spcBef>
                <a:spcPts val="700"/>
              </a:spcBef>
              <a:spcAft>
                <a:spcPts val="200"/>
              </a:spcAft>
            </a:pPr>
            <a:r>
              <a:rPr sz="1700" b="0" i="0">
                <a:solidFill>
                  <a:srgbClr val="1A2B3C"/>
                </a:solidFill>
                <a:latin typeface="Arial"/>
              </a:rPr>
              <a:t>■  Ventricular fibrillation: current disrupts the heart's rhythm so it quivers instead of pumping</a:t>
            </a:r>
          </a:p>
          <a:p>
            <a:pPr algn="l" lvl="1">
              <a:lnSpc>
                <a:spcPct val="102000"/>
              </a:lnSpc>
              <a:spcBef>
                <a:spcPts val="200"/>
              </a:spcBef>
              <a:spcAft>
                <a:spcPts val="100"/>
              </a:spcAft>
            </a:pPr>
            <a:r>
              <a:rPr sz="1400" b="0" i="0">
                <a:solidFill>
                  <a:srgbClr val="334455"/>
                </a:solidFill>
                <a:latin typeface="Arial"/>
              </a:rPr>
              <a:t>–  Blood stops circulating — brain damage in minutes, death without intervention</a:t>
            </a:r>
          </a:p>
          <a:p>
            <a:pPr algn="l" lvl="1">
              <a:lnSpc>
                <a:spcPct val="102000"/>
              </a:lnSpc>
              <a:spcBef>
                <a:spcPts val="200"/>
              </a:spcBef>
              <a:spcAft>
                <a:spcPts val="100"/>
              </a:spcAft>
            </a:pPr>
            <a:r>
              <a:rPr sz="1400" b="0" i="0">
                <a:solidFill>
                  <a:srgbClr val="334455"/>
                </a:solidFill>
                <a:latin typeface="Arial"/>
              </a:rPr>
              <a:t>–  A defibrillator/AED and CPR may restart a coordinated rhythm — know where yours is</a:t>
            </a:r>
          </a:p>
          <a:p>
            <a:pPr algn="l">
              <a:lnSpc>
                <a:spcPct val="105000"/>
              </a:lnSpc>
              <a:spcBef>
                <a:spcPts val="700"/>
              </a:spcBef>
              <a:spcAft>
                <a:spcPts val="200"/>
              </a:spcAft>
            </a:pPr>
            <a:r>
              <a:rPr sz="1700" b="0" i="0">
                <a:solidFill>
                  <a:srgbClr val="1A2B3C"/>
                </a:solidFill>
                <a:latin typeface="Arial"/>
              </a:rPr>
              <a:t>■  Even a 'minor' shock can throw you from a pole or bucket — the fall often does the damage</a:t>
            </a:r>
          </a:p>
        </p:txBody>
      </p:sp>
      <p:sp>
        <p:nvSpPr>
          <p:cNvPr id="8" name="Rounded Rectangle 7"/>
          <p:cNvSpPr/>
          <p:nvPr/>
        </p:nvSpPr>
        <p:spPr>
          <a:xfrm>
            <a:off x="7863840" y="1874519"/>
            <a:ext cx="3776472" cy="3931920"/>
          </a:xfrm>
          <a:prstGeom prst="roundRect">
            <a:avLst/>
          </a:prstGeom>
          <a:solidFill>
            <a:srgbClr val="FBEAE7"/>
          </a:solidFill>
          <a:ln w="19050">
            <a:solidFill>
              <a:srgbClr val="D435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863840" y="1874519"/>
            <a:ext cx="3776472" cy="548640"/>
          </a:xfrm>
          <a:prstGeom prst="roundRect">
            <a:avLst/>
          </a:prstGeom>
          <a:solidFill>
            <a:srgbClr val="D43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63840" y="2148839"/>
            <a:ext cx="3776472" cy="274320"/>
          </a:xfrm>
          <a:prstGeom prst="rect">
            <a:avLst/>
          </a:prstGeom>
          <a:solidFill>
            <a:srgbClr val="D43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92440" y="1920239"/>
            <a:ext cx="3319272" cy="475488"/>
          </a:xfrm>
          <a:prstGeom prst="rect">
            <a:avLst/>
          </a:prstGeom>
          <a:noFill/>
        </p:spPr>
        <p:txBody>
          <a:bodyPr wrap="square" anchor="ctr" lIns="0" rIns="0" tIns="0" bIns="0">
            <a:spAutoFit/>
          </a:bodyPr>
          <a:lstStyle/>
          <a:p>
            <a:pPr algn="l">
              <a:lnSpc>
                <a:spcPct val="105000"/>
              </a:lnSpc>
              <a:spcBef>
                <a:spcPts val="400"/>
              </a:spcBef>
              <a:spcAft>
                <a:spcPts val="400"/>
              </a:spcAft>
            </a:pPr>
            <a:r>
              <a:rPr sz="1400" b="1" i="0">
                <a:solidFill>
                  <a:srgbClr val="FFFFFF"/>
                </a:solidFill>
                <a:latin typeface="Arial"/>
              </a:rPr>
              <a:t>DANGER  ⚠</a:t>
            </a:r>
          </a:p>
        </p:txBody>
      </p:sp>
      <p:sp>
        <p:nvSpPr>
          <p:cNvPr id="12" name="TextBox 11"/>
          <p:cNvSpPr txBox="1"/>
          <p:nvPr/>
        </p:nvSpPr>
        <p:spPr>
          <a:xfrm>
            <a:off x="8138160" y="2587752"/>
            <a:ext cx="3227832" cy="3063239"/>
          </a:xfrm>
          <a:prstGeom prst="rect">
            <a:avLst/>
          </a:prstGeom>
          <a:noFill/>
        </p:spPr>
        <p:txBody>
          <a:bodyPr wrap="square" anchor="t" lIns="0" rIns="0" tIns="0" bIns="0">
            <a:spAutoFit/>
          </a:bodyPr>
          <a:lstStyle/>
          <a:p>
            <a:pPr algn="l">
              <a:lnSpc>
                <a:spcPct val="105000"/>
              </a:lnSpc>
              <a:spcBef>
                <a:spcPts val="400"/>
              </a:spcBef>
              <a:spcAft>
                <a:spcPts val="400"/>
              </a:spcAft>
            </a:pPr>
            <a:r>
              <a:rPr sz="1550" b="1" i="0">
                <a:solidFill>
                  <a:srgbClr val="D4351A"/>
                </a:solidFill>
                <a:latin typeface="Arial"/>
              </a:rPr>
              <a:t>Why we never rely on 'holding on'</a:t>
            </a:r>
          </a:p>
          <a:p>
            <a:pPr algn="l">
              <a:lnSpc>
                <a:spcPct val="105000"/>
              </a:lnSpc>
              <a:spcBef>
                <a:spcPts val="300"/>
              </a:spcBef>
              <a:spcAft>
                <a:spcPts val="100"/>
              </a:spcAft>
            </a:pPr>
            <a:r>
              <a:rPr sz="1300" b="0" i="0">
                <a:solidFill>
                  <a:srgbClr val="1A2B3C"/>
                </a:solidFill>
                <a:latin typeface="Arial"/>
              </a:rPr>
              <a:t>–  Above the let-go threshold your body works against you.</a:t>
            </a:r>
          </a:p>
          <a:p>
            <a:pPr algn="l">
              <a:lnSpc>
                <a:spcPct val="105000"/>
              </a:lnSpc>
              <a:spcBef>
                <a:spcPts val="300"/>
              </a:spcBef>
              <a:spcAft>
                <a:spcPts val="100"/>
              </a:spcAft>
            </a:pPr>
            <a:r>
              <a:rPr sz="1300" b="0" i="0">
                <a:solidFill>
                  <a:srgbClr val="1A2B3C"/>
                </a:solidFill>
                <a:latin typeface="Arial"/>
              </a:rPr>
              <a:t>–  The only safe contact with an energized conductor is NO direct contact — insulate and isolate.</a:t>
            </a:r>
          </a:p>
        </p:txBody>
      </p:sp>
      <p:sp>
        <p:nvSpPr>
          <p:cNvPr id="13" name="Rectangle 12"/>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2 — Electricity &amp; the Body</a:t>
            </a:r>
          </a:p>
        </p:txBody>
      </p:sp>
      <p:sp>
        <p:nvSpPr>
          <p:cNvPr id="15" name="TextBox 14"/>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2.4 BURNS</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Electrical Burns</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783080"/>
            <a:ext cx="5349240" cy="4297680"/>
          </a:xfrm>
          <a:prstGeom prst="roundRect">
            <a:avLst/>
          </a:prstGeom>
          <a:solidFill>
            <a:srgbClr val="EEF2F7"/>
          </a:solidFill>
          <a:ln w="12700">
            <a:solidFill>
              <a:srgbClr val="CF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40080" y="1783080"/>
            <a:ext cx="5349240" cy="566928"/>
          </a:xfrm>
          <a:prstGeom prst="roundRect">
            <a:avLst/>
          </a:prstGeom>
          <a:solidFill>
            <a:srgbClr val="D43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2066543"/>
            <a:ext cx="5349240" cy="283464"/>
          </a:xfrm>
          <a:prstGeom prst="rect">
            <a:avLst/>
          </a:prstGeom>
          <a:solidFill>
            <a:srgbClr val="D43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1837943"/>
            <a:ext cx="4892040" cy="475488"/>
          </a:xfrm>
          <a:prstGeom prst="rect">
            <a:avLst/>
          </a:prstGeom>
          <a:noFill/>
        </p:spPr>
        <p:txBody>
          <a:bodyPr wrap="square" anchor="ctr" lIns="0" rIns="0" tIns="0" bIns="0">
            <a:spAutoFit/>
          </a:bodyPr>
          <a:lstStyle/>
          <a:p>
            <a:pPr algn="l">
              <a:lnSpc>
                <a:spcPct val="105000"/>
              </a:lnSpc>
              <a:spcBef>
                <a:spcPts val="400"/>
              </a:spcBef>
              <a:spcAft>
                <a:spcPts val="400"/>
              </a:spcAft>
            </a:pPr>
            <a:r>
              <a:rPr sz="1600" b="1" i="0">
                <a:solidFill>
                  <a:srgbClr val="FFFFFF"/>
                </a:solidFill>
                <a:latin typeface="Arial"/>
              </a:rPr>
              <a:t>How they happen</a:t>
            </a:r>
          </a:p>
        </p:txBody>
      </p:sp>
      <p:sp>
        <p:nvSpPr>
          <p:cNvPr id="11" name="TextBox 10"/>
          <p:cNvSpPr txBox="1"/>
          <p:nvPr/>
        </p:nvSpPr>
        <p:spPr>
          <a:xfrm>
            <a:off x="914400" y="2514600"/>
            <a:ext cx="4800600" cy="3383280"/>
          </a:xfrm>
          <a:prstGeom prst="rect">
            <a:avLst/>
          </a:prstGeom>
          <a:noFill/>
        </p:spPr>
        <p:txBody>
          <a:bodyPr wrap="square" anchor="t" lIns="0" rIns="0" tIns="0" bIns="0">
            <a:spAutoFit/>
          </a:bodyPr>
          <a:lstStyle/>
          <a:p>
            <a:pPr algn="l">
              <a:lnSpc>
                <a:spcPct val="103000"/>
              </a:lnSpc>
              <a:spcBef>
                <a:spcPts val="500"/>
              </a:spcBef>
              <a:spcAft>
                <a:spcPts val="200"/>
              </a:spcAft>
            </a:pPr>
            <a:r>
              <a:rPr sz="1400" b="0" i="0">
                <a:solidFill>
                  <a:srgbClr val="1A2B3C"/>
                </a:solidFill>
                <a:latin typeface="Arial"/>
              </a:rPr>
              <a:t>■  Contact / true electrical burns: current flowing through tissue generates heat (I²R)</a:t>
            </a:r>
          </a:p>
          <a:p>
            <a:pPr algn="l">
              <a:lnSpc>
                <a:spcPct val="103000"/>
              </a:lnSpc>
              <a:spcBef>
                <a:spcPts val="500"/>
              </a:spcBef>
              <a:spcAft>
                <a:spcPts val="200"/>
              </a:spcAft>
            </a:pPr>
            <a:r>
              <a:rPr sz="1400" b="0" i="0">
                <a:solidFill>
                  <a:srgbClr val="1A2B3C"/>
                </a:solidFill>
                <a:latin typeface="Arial"/>
              </a:rPr>
              <a:t>■  Arc burns: radiated heat from an arc — can exceed 35,000°F at the arc</a:t>
            </a:r>
          </a:p>
          <a:p>
            <a:pPr algn="l">
              <a:lnSpc>
                <a:spcPct val="103000"/>
              </a:lnSpc>
              <a:spcBef>
                <a:spcPts val="500"/>
              </a:spcBef>
              <a:spcAft>
                <a:spcPts val="200"/>
              </a:spcAft>
            </a:pPr>
            <a:r>
              <a:rPr sz="1400" b="0" i="0">
                <a:solidFill>
                  <a:srgbClr val="1A2B3C"/>
                </a:solidFill>
                <a:latin typeface="Arial"/>
              </a:rPr>
              <a:t>■  Thermal-contact burns: ignited clothing or hot surfaces</a:t>
            </a:r>
          </a:p>
          <a:p>
            <a:pPr algn="l">
              <a:lnSpc>
                <a:spcPct val="103000"/>
              </a:lnSpc>
              <a:spcBef>
                <a:spcPts val="500"/>
              </a:spcBef>
              <a:spcAft>
                <a:spcPts val="200"/>
              </a:spcAft>
            </a:pPr>
            <a:r>
              <a:rPr sz="1400" b="0" i="0">
                <a:solidFill>
                  <a:srgbClr val="1A2B3C"/>
                </a:solidFill>
                <a:latin typeface="Arial"/>
              </a:rPr>
              <a:t>■  Flash burns to eyes (welder's flash) from intense UV</a:t>
            </a:r>
          </a:p>
        </p:txBody>
      </p:sp>
      <p:sp>
        <p:nvSpPr>
          <p:cNvPr id="12" name="Rounded Rectangle 11"/>
          <p:cNvSpPr/>
          <p:nvPr/>
        </p:nvSpPr>
        <p:spPr>
          <a:xfrm>
            <a:off x="6309359" y="1783080"/>
            <a:ext cx="5349240" cy="4297680"/>
          </a:xfrm>
          <a:prstGeom prst="roundRect">
            <a:avLst/>
          </a:prstGeom>
          <a:solidFill>
            <a:srgbClr val="EEF2F7"/>
          </a:solidFill>
          <a:ln w="12700">
            <a:solidFill>
              <a:srgbClr val="CF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09359" y="1783080"/>
            <a:ext cx="5349240" cy="566928"/>
          </a:xfrm>
          <a:prstGeom prst="roundRect">
            <a:avLst/>
          </a:prstGeom>
          <a:solidFill>
            <a:srgbClr val="C88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59" y="2066543"/>
            <a:ext cx="5349240" cy="283464"/>
          </a:xfrm>
          <a:prstGeom prst="rect">
            <a:avLst/>
          </a:prstGeom>
          <a:solidFill>
            <a:srgbClr val="C88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37959" y="1837943"/>
            <a:ext cx="4892040" cy="475488"/>
          </a:xfrm>
          <a:prstGeom prst="rect">
            <a:avLst/>
          </a:prstGeom>
          <a:noFill/>
        </p:spPr>
        <p:txBody>
          <a:bodyPr wrap="square" anchor="ctr" lIns="0" rIns="0" tIns="0" bIns="0">
            <a:spAutoFit/>
          </a:bodyPr>
          <a:lstStyle/>
          <a:p>
            <a:pPr algn="l">
              <a:lnSpc>
                <a:spcPct val="105000"/>
              </a:lnSpc>
              <a:spcBef>
                <a:spcPts val="400"/>
              </a:spcBef>
              <a:spcAft>
                <a:spcPts val="400"/>
              </a:spcAft>
            </a:pPr>
            <a:r>
              <a:rPr sz="1600" b="1" i="0">
                <a:solidFill>
                  <a:srgbClr val="FFFFFF"/>
                </a:solidFill>
                <a:latin typeface="Arial"/>
              </a:rPr>
              <a:t>Why they are deceptive</a:t>
            </a:r>
          </a:p>
        </p:txBody>
      </p:sp>
      <p:sp>
        <p:nvSpPr>
          <p:cNvPr id="16" name="TextBox 15"/>
          <p:cNvSpPr txBox="1"/>
          <p:nvPr/>
        </p:nvSpPr>
        <p:spPr>
          <a:xfrm>
            <a:off x="6583679" y="2514600"/>
            <a:ext cx="4800600" cy="3383280"/>
          </a:xfrm>
          <a:prstGeom prst="rect">
            <a:avLst/>
          </a:prstGeom>
          <a:noFill/>
        </p:spPr>
        <p:txBody>
          <a:bodyPr wrap="square" anchor="t" lIns="0" rIns="0" tIns="0" bIns="0">
            <a:spAutoFit/>
          </a:bodyPr>
          <a:lstStyle/>
          <a:p>
            <a:pPr algn="l">
              <a:lnSpc>
                <a:spcPct val="103000"/>
              </a:lnSpc>
              <a:spcBef>
                <a:spcPts val="500"/>
              </a:spcBef>
              <a:spcAft>
                <a:spcPts val="200"/>
              </a:spcAft>
            </a:pPr>
            <a:r>
              <a:rPr sz="1400" b="0" i="0">
                <a:solidFill>
                  <a:srgbClr val="1A2B3C"/>
                </a:solidFill>
                <a:latin typeface="Arial"/>
              </a:rPr>
              <a:t>■  Entry/exit wounds may look small but mask massive internal damage</a:t>
            </a:r>
          </a:p>
          <a:p>
            <a:pPr algn="l">
              <a:lnSpc>
                <a:spcPct val="103000"/>
              </a:lnSpc>
              <a:spcBef>
                <a:spcPts val="500"/>
              </a:spcBef>
              <a:spcAft>
                <a:spcPts val="200"/>
              </a:spcAft>
            </a:pPr>
            <a:r>
              <a:rPr sz="1400" b="0" i="0">
                <a:solidFill>
                  <a:srgbClr val="1A2B3C"/>
                </a:solidFill>
                <a:latin typeface="Arial"/>
              </a:rPr>
              <a:t>■  Current cooks tissue along its whole path — nerves, muscle, organs</a:t>
            </a:r>
          </a:p>
          <a:p>
            <a:pPr algn="l">
              <a:lnSpc>
                <a:spcPct val="103000"/>
              </a:lnSpc>
              <a:spcBef>
                <a:spcPts val="500"/>
              </a:spcBef>
              <a:spcAft>
                <a:spcPts val="200"/>
              </a:spcAft>
            </a:pPr>
            <a:r>
              <a:rPr sz="1400" b="0" i="0">
                <a:solidFill>
                  <a:srgbClr val="1A2B3C"/>
                </a:solidFill>
                <a:latin typeface="Arial"/>
              </a:rPr>
              <a:t>■  Delayed effects: kidney damage from tissue breakdown, cardiac issues</a:t>
            </a:r>
          </a:p>
          <a:p>
            <a:pPr algn="l">
              <a:lnSpc>
                <a:spcPct val="103000"/>
              </a:lnSpc>
              <a:spcBef>
                <a:spcPts val="500"/>
              </a:spcBef>
              <a:spcAft>
                <a:spcPts val="200"/>
              </a:spcAft>
            </a:pPr>
            <a:r>
              <a:rPr sz="1400" b="0" i="0">
                <a:solidFill>
                  <a:srgbClr val="1A2B3C"/>
                </a:solidFill>
                <a:latin typeface="Arial"/>
              </a:rPr>
              <a:t>■  ALWAYS seek medical evaluation after any electrical contact — even if you feel fine</a:t>
            </a:r>
          </a:p>
        </p:txBody>
      </p:sp>
      <p:sp>
        <p:nvSpPr>
          <p:cNvPr id="17" name="Rectangle 16"/>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2 — Electricity &amp; the Body</a:t>
            </a:r>
          </a:p>
        </p:txBody>
      </p:sp>
      <p:sp>
        <p:nvSpPr>
          <p:cNvPr id="19" name="TextBox 18"/>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2.5 ARC FLASH</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Arc Flash &amp; Arc Blast</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783080"/>
            <a:ext cx="6949440" cy="4297680"/>
          </a:xfrm>
          <a:prstGeom prst="rect">
            <a:avLst/>
          </a:prstGeom>
          <a:noFill/>
        </p:spPr>
        <p:txBody>
          <a:bodyPr wrap="square" anchor="t" lIns="0" rIns="0" tIns="0" bIns="0">
            <a:spAutoFit/>
          </a:bodyPr>
          <a:lstStyle/>
          <a:p>
            <a:pPr algn="l">
              <a:lnSpc>
                <a:spcPct val="105000"/>
              </a:lnSpc>
              <a:spcBef>
                <a:spcPts val="700"/>
              </a:spcBef>
              <a:spcAft>
                <a:spcPts val="200"/>
              </a:spcAft>
            </a:pPr>
            <a:r>
              <a:rPr sz="1700" b="0" i="0">
                <a:solidFill>
                  <a:srgbClr val="1A2B3C"/>
                </a:solidFill>
                <a:latin typeface="Arial"/>
              </a:rPr>
              <a:t>■  An arc flash is an explosive release of energy when current jumps through ionized air</a:t>
            </a:r>
          </a:p>
          <a:p>
            <a:pPr algn="l" lvl="1">
              <a:lnSpc>
                <a:spcPct val="102000"/>
              </a:lnSpc>
              <a:spcBef>
                <a:spcPts val="200"/>
              </a:spcBef>
              <a:spcAft>
                <a:spcPts val="100"/>
              </a:spcAft>
            </a:pPr>
            <a:r>
              <a:rPr sz="1400" b="0" i="0">
                <a:solidFill>
                  <a:srgbClr val="334455"/>
                </a:solidFill>
                <a:latin typeface="Arial"/>
              </a:rPr>
              <a:t>–  Triggered by faults, dropped tools, animals, equipment failure, or getting too close</a:t>
            </a:r>
          </a:p>
          <a:p>
            <a:pPr algn="l">
              <a:lnSpc>
                <a:spcPct val="105000"/>
              </a:lnSpc>
              <a:spcBef>
                <a:spcPts val="700"/>
              </a:spcBef>
              <a:spcAft>
                <a:spcPts val="200"/>
              </a:spcAft>
            </a:pPr>
            <a:r>
              <a:rPr sz="1700" b="0" i="0">
                <a:solidFill>
                  <a:srgbClr val="1A2B3C"/>
                </a:solidFill>
                <a:latin typeface="Arial"/>
              </a:rPr>
              <a:t>■  Arc FLASH = light &amp; heat: temperatures up to ~35,000°F (hotter than the sun's surface)</a:t>
            </a:r>
          </a:p>
          <a:p>
            <a:pPr algn="l">
              <a:lnSpc>
                <a:spcPct val="105000"/>
              </a:lnSpc>
              <a:spcBef>
                <a:spcPts val="700"/>
              </a:spcBef>
              <a:spcAft>
                <a:spcPts val="200"/>
              </a:spcAft>
            </a:pPr>
            <a:r>
              <a:rPr sz="1700" b="0" i="0">
                <a:solidFill>
                  <a:srgbClr val="1A2B3C"/>
                </a:solidFill>
                <a:latin typeface="Arial"/>
              </a:rPr>
              <a:t>■  Arc BLAST = pressure wave: vaporized metal expands violently</a:t>
            </a:r>
          </a:p>
          <a:p>
            <a:pPr algn="l" lvl="1">
              <a:lnSpc>
                <a:spcPct val="102000"/>
              </a:lnSpc>
              <a:spcBef>
                <a:spcPts val="200"/>
              </a:spcBef>
              <a:spcAft>
                <a:spcPts val="100"/>
              </a:spcAft>
            </a:pPr>
            <a:r>
              <a:rPr sz="1400" b="0" i="0">
                <a:solidFill>
                  <a:srgbClr val="334455"/>
                </a:solidFill>
                <a:latin typeface="Arial"/>
              </a:rPr>
              <a:t>–  Copper expands ~67,000 times when it vaporizes — like a small explosion</a:t>
            </a:r>
          </a:p>
          <a:p>
            <a:pPr algn="l" lvl="1">
              <a:lnSpc>
                <a:spcPct val="102000"/>
              </a:lnSpc>
              <a:spcBef>
                <a:spcPts val="200"/>
              </a:spcBef>
              <a:spcAft>
                <a:spcPts val="100"/>
              </a:spcAft>
            </a:pPr>
            <a:r>
              <a:rPr sz="1400" b="0" i="0">
                <a:solidFill>
                  <a:srgbClr val="334455"/>
                </a:solidFill>
                <a:latin typeface="Arial"/>
              </a:rPr>
              <a:t>–  Concussive force, shrapnel, molten metal spray, sound &gt; 140 dB</a:t>
            </a:r>
          </a:p>
          <a:p>
            <a:pPr algn="l">
              <a:lnSpc>
                <a:spcPct val="105000"/>
              </a:lnSpc>
              <a:spcBef>
                <a:spcPts val="700"/>
              </a:spcBef>
              <a:spcAft>
                <a:spcPts val="200"/>
              </a:spcAft>
            </a:pPr>
            <a:r>
              <a:rPr sz="1700" b="0" i="0">
                <a:solidFill>
                  <a:srgbClr val="1A2B3C"/>
                </a:solidFill>
                <a:latin typeface="Arial"/>
              </a:rPr>
              <a:t>■  Incident energy is measured in cal/cm² — it sets the arc rating of PPE you must wear</a:t>
            </a:r>
          </a:p>
        </p:txBody>
      </p:sp>
      <p:sp>
        <p:nvSpPr>
          <p:cNvPr id="8" name="Rounded Rectangle 7"/>
          <p:cNvSpPr/>
          <p:nvPr/>
        </p:nvSpPr>
        <p:spPr>
          <a:xfrm>
            <a:off x="7863840" y="1874519"/>
            <a:ext cx="3776472" cy="3931920"/>
          </a:xfrm>
          <a:prstGeom prst="roundRect">
            <a:avLst/>
          </a:prstGeom>
          <a:solidFill>
            <a:srgbClr val="FBEAE7"/>
          </a:solidFill>
          <a:ln w="19050">
            <a:solidFill>
              <a:srgbClr val="D435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863840" y="1874519"/>
            <a:ext cx="3776472" cy="548640"/>
          </a:xfrm>
          <a:prstGeom prst="roundRect">
            <a:avLst/>
          </a:prstGeom>
          <a:solidFill>
            <a:srgbClr val="D43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63840" y="2148839"/>
            <a:ext cx="3776472" cy="274320"/>
          </a:xfrm>
          <a:prstGeom prst="rect">
            <a:avLst/>
          </a:prstGeom>
          <a:solidFill>
            <a:srgbClr val="D43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92440" y="1920239"/>
            <a:ext cx="3319272" cy="475488"/>
          </a:xfrm>
          <a:prstGeom prst="rect">
            <a:avLst/>
          </a:prstGeom>
          <a:noFill/>
        </p:spPr>
        <p:txBody>
          <a:bodyPr wrap="square" anchor="ctr" lIns="0" rIns="0" tIns="0" bIns="0">
            <a:spAutoFit/>
          </a:bodyPr>
          <a:lstStyle/>
          <a:p>
            <a:pPr algn="l">
              <a:lnSpc>
                <a:spcPct val="105000"/>
              </a:lnSpc>
              <a:spcBef>
                <a:spcPts val="400"/>
              </a:spcBef>
              <a:spcAft>
                <a:spcPts val="400"/>
              </a:spcAft>
            </a:pPr>
            <a:r>
              <a:rPr sz="1400" b="1" i="0">
                <a:solidFill>
                  <a:srgbClr val="FFFFFF"/>
                </a:solidFill>
                <a:latin typeface="Arial"/>
              </a:rPr>
              <a:t>DANGER  ⚠</a:t>
            </a:r>
          </a:p>
        </p:txBody>
      </p:sp>
      <p:sp>
        <p:nvSpPr>
          <p:cNvPr id="12" name="TextBox 11"/>
          <p:cNvSpPr txBox="1"/>
          <p:nvPr/>
        </p:nvSpPr>
        <p:spPr>
          <a:xfrm>
            <a:off x="8138160" y="2587752"/>
            <a:ext cx="3227832" cy="3063239"/>
          </a:xfrm>
          <a:prstGeom prst="rect">
            <a:avLst/>
          </a:prstGeom>
          <a:noFill/>
        </p:spPr>
        <p:txBody>
          <a:bodyPr wrap="square" anchor="t" lIns="0" rIns="0" tIns="0" bIns="0">
            <a:spAutoFit/>
          </a:bodyPr>
          <a:lstStyle/>
          <a:p>
            <a:pPr algn="l">
              <a:lnSpc>
                <a:spcPct val="105000"/>
              </a:lnSpc>
              <a:spcBef>
                <a:spcPts val="400"/>
              </a:spcBef>
              <a:spcAft>
                <a:spcPts val="400"/>
              </a:spcAft>
            </a:pPr>
            <a:r>
              <a:rPr sz="1550" b="1" i="0">
                <a:solidFill>
                  <a:srgbClr val="D4351A"/>
                </a:solidFill>
                <a:latin typeface="Arial"/>
              </a:rPr>
              <a:t>Controlled by</a:t>
            </a:r>
          </a:p>
          <a:p>
            <a:pPr algn="l">
              <a:lnSpc>
                <a:spcPct val="105000"/>
              </a:lnSpc>
              <a:spcBef>
                <a:spcPts val="300"/>
              </a:spcBef>
              <a:spcAft>
                <a:spcPts val="100"/>
              </a:spcAft>
            </a:pPr>
            <a:r>
              <a:rPr sz="1300" b="0" i="0">
                <a:solidFill>
                  <a:srgbClr val="1A2B3C"/>
                </a:solidFill>
                <a:latin typeface="Arial"/>
              </a:rPr>
              <a:t>–  Distance (clearances), de-energizing, and arc-rated FR clothing/face protection.</a:t>
            </a:r>
          </a:p>
          <a:p>
            <a:pPr algn="l">
              <a:lnSpc>
                <a:spcPct val="105000"/>
              </a:lnSpc>
              <a:spcBef>
                <a:spcPts val="300"/>
              </a:spcBef>
              <a:spcAft>
                <a:spcPts val="100"/>
              </a:spcAft>
            </a:pPr>
            <a:r>
              <a:rPr sz="1300" b="0" i="0">
                <a:solidFill>
                  <a:srgbClr val="1A2B3C"/>
                </a:solidFill>
                <a:latin typeface="Arial"/>
              </a:rPr>
              <a:t>–  An arc flash can occur WITHOUT you touching anything — proximity alone can trigger it.</a:t>
            </a:r>
          </a:p>
        </p:txBody>
      </p:sp>
      <p:sp>
        <p:nvSpPr>
          <p:cNvPr id="13" name="Rectangle 12"/>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2 — Electricity &amp; the Body</a:t>
            </a:r>
          </a:p>
        </p:txBody>
      </p:sp>
      <p:sp>
        <p:nvSpPr>
          <p:cNvPr id="15" name="TextBox 14"/>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2.6 GROUND GRADIENTS</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Step Potential &amp; Touch Potential</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783080"/>
            <a:ext cx="6949440" cy="4297680"/>
          </a:xfrm>
          <a:prstGeom prst="rect">
            <a:avLst/>
          </a:prstGeom>
          <a:noFill/>
        </p:spPr>
        <p:txBody>
          <a:bodyPr wrap="square" anchor="t" lIns="0" rIns="0" tIns="0" bIns="0">
            <a:spAutoFit/>
          </a:bodyPr>
          <a:lstStyle/>
          <a:p>
            <a:pPr algn="l">
              <a:lnSpc>
                <a:spcPct val="105000"/>
              </a:lnSpc>
              <a:spcBef>
                <a:spcPts val="700"/>
              </a:spcBef>
              <a:spcAft>
                <a:spcPts val="200"/>
              </a:spcAft>
            </a:pPr>
            <a:r>
              <a:rPr sz="1700" b="0" i="0">
                <a:solidFill>
                  <a:srgbClr val="1A2B3C"/>
                </a:solidFill>
                <a:latin typeface="Arial"/>
              </a:rPr>
              <a:t>■  When current flows into the earth (e.g., a downed line, a fault to a ground rod), it spreads out</a:t>
            </a:r>
          </a:p>
          <a:p>
            <a:pPr algn="l">
              <a:lnSpc>
                <a:spcPct val="105000"/>
              </a:lnSpc>
              <a:spcBef>
                <a:spcPts val="700"/>
              </a:spcBef>
              <a:spcAft>
                <a:spcPts val="200"/>
              </a:spcAft>
            </a:pPr>
            <a:r>
              <a:rPr sz="1700" b="0" i="0">
                <a:solidFill>
                  <a:srgbClr val="1A2B3C"/>
                </a:solidFill>
                <a:latin typeface="Arial"/>
              </a:rPr>
              <a:t>■  Voltage drops with distance from the contact point — forming a 'voltage gradient' across the ground</a:t>
            </a:r>
          </a:p>
          <a:p>
            <a:pPr algn="l">
              <a:lnSpc>
                <a:spcPct val="105000"/>
              </a:lnSpc>
              <a:spcBef>
                <a:spcPts val="700"/>
              </a:spcBef>
              <a:spcAft>
                <a:spcPts val="200"/>
              </a:spcAft>
            </a:pPr>
            <a:r>
              <a:rPr sz="1700" b="0" i="0">
                <a:solidFill>
                  <a:srgbClr val="1A2B3C"/>
                </a:solidFill>
                <a:latin typeface="Arial"/>
              </a:rPr>
              <a:t>■  STEP POTENTIAL: the voltage difference between your two feet</a:t>
            </a:r>
          </a:p>
          <a:p>
            <a:pPr algn="l" lvl="1">
              <a:lnSpc>
                <a:spcPct val="102000"/>
              </a:lnSpc>
              <a:spcBef>
                <a:spcPts val="200"/>
              </a:spcBef>
              <a:spcAft>
                <a:spcPts val="100"/>
              </a:spcAft>
            </a:pPr>
            <a:r>
              <a:rPr sz="1400" b="0" i="0">
                <a:solidFill>
                  <a:srgbClr val="334455"/>
                </a:solidFill>
                <a:latin typeface="Arial"/>
              </a:rPr>
              <a:t>–  One foot sits at a higher potential than the other — current flows up one leg, down the other</a:t>
            </a:r>
          </a:p>
          <a:p>
            <a:pPr algn="l" lvl="1">
              <a:lnSpc>
                <a:spcPct val="102000"/>
              </a:lnSpc>
              <a:spcBef>
                <a:spcPts val="200"/>
              </a:spcBef>
              <a:spcAft>
                <a:spcPts val="100"/>
              </a:spcAft>
            </a:pPr>
            <a:r>
              <a:rPr sz="1400" b="0" i="0">
                <a:solidFill>
                  <a:srgbClr val="334455"/>
                </a:solidFill>
                <a:latin typeface="Arial"/>
              </a:rPr>
              <a:t>–  The wider your stride, the greater the difference — and the greater the shock</a:t>
            </a:r>
          </a:p>
          <a:p>
            <a:pPr algn="l">
              <a:lnSpc>
                <a:spcPct val="105000"/>
              </a:lnSpc>
              <a:spcBef>
                <a:spcPts val="700"/>
              </a:spcBef>
              <a:spcAft>
                <a:spcPts val="200"/>
              </a:spcAft>
            </a:pPr>
            <a:r>
              <a:rPr sz="1700" b="0" i="0">
                <a:solidFill>
                  <a:srgbClr val="1A2B3C"/>
                </a:solidFill>
                <a:latin typeface="Arial"/>
              </a:rPr>
              <a:t>■  TOUCH POTENTIAL: difference between your hand (on an object) and your feet</a:t>
            </a:r>
          </a:p>
          <a:p>
            <a:pPr algn="l" lvl="1">
              <a:lnSpc>
                <a:spcPct val="102000"/>
              </a:lnSpc>
              <a:spcBef>
                <a:spcPts val="200"/>
              </a:spcBef>
              <a:spcAft>
                <a:spcPts val="100"/>
              </a:spcAft>
            </a:pPr>
            <a:r>
              <a:rPr sz="1400" b="0" i="0">
                <a:solidFill>
                  <a:srgbClr val="334455"/>
                </a:solidFill>
                <a:latin typeface="Arial"/>
              </a:rPr>
              <a:t>–  Touching a faulted structure while standing on ground at a different potential</a:t>
            </a:r>
          </a:p>
        </p:txBody>
      </p:sp>
      <p:sp>
        <p:nvSpPr>
          <p:cNvPr id="8" name="Rounded Rectangle 7"/>
          <p:cNvSpPr/>
          <p:nvPr/>
        </p:nvSpPr>
        <p:spPr>
          <a:xfrm>
            <a:off x="7863840" y="1874519"/>
            <a:ext cx="3776472" cy="3931920"/>
          </a:xfrm>
          <a:prstGeom prst="roundRect">
            <a:avLst/>
          </a:prstGeom>
          <a:solidFill>
            <a:srgbClr val="FBEAE7"/>
          </a:solidFill>
          <a:ln w="19050">
            <a:solidFill>
              <a:srgbClr val="D435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863840" y="1874519"/>
            <a:ext cx="3776472" cy="548640"/>
          </a:xfrm>
          <a:prstGeom prst="roundRect">
            <a:avLst/>
          </a:prstGeom>
          <a:solidFill>
            <a:srgbClr val="D43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63840" y="2148839"/>
            <a:ext cx="3776472" cy="274320"/>
          </a:xfrm>
          <a:prstGeom prst="rect">
            <a:avLst/>
          </a:prstGeom>
          <a:solidFill>
            <a:srgbClr val="D43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92440" y="1920239"/>
            <a:ext cx="3319272" cy="475488"/>
          </a:xfrm>
          <a:prstGeom prst="rect">
            <a:avLst/>
          </a:prstGeom>
          <a:noFill/>
        </p:spPr>
        <p:txBody>
          <a:bodyPr wrap="square" anchor="ctr" lIns="0" rIns="0" tIns="0" bIns="0">
            <a:spAutoFit/>
          </a:bodyPr>
          <a:lstStyle/>
          <a:p>
            <a:pPr algn="l">
              <a:lnSpc>
                <a:spcPct val="105000"/>
              </a:lnSpc>
              <a:spcBef>
                <a:spcPts val="400"/>
              </a:spcBef>
              <a:spcAft>
                <a:spcPts val="400"/>
              </a:spcAft>
            </a:pPr>
            <a:r>
              <a:rPr sz="1400" b="1" i="0">
                <a:solidFill>
                  <a:srgbClr val="FFFFFF"/>
                </a:solidFill>
                <a:latin typeface="Arial"/>
              </a:rPr>
              <a:t>DANGER  ⚠</a:t>
            </a:r>
          </a:p>
        </p:txBody>
      </p:sp>
      <p:sp>
        <p:nvSpPr>
          <p:cNvPr id="12" name="TextBox 11"/>
          <p:cNvSpPr txBox="1"/>
          <p:nvPr/>
        </p:nvSpPr>
        <p:spPr>
          <a:xfrm>
            <a:off x="8138160" y="2587752"/>
            <a:ext cx="3227832" cy="3063239"/>
          </a:xfrm>
          <a:prstGeom prst="rect">
            <a:avLst/>
          </a:prstGeom>
          <a:noFill/>
        </p:spPr>
        <p:txBody>
          <a:bodyPr wrap="square" anchor="t" lIns="0" rIns="0" tIns="0" bIns="0">
            <a:spAutoFit/>
          </a:bodyPr>
          <a:lstStyle/>
          <a:p>
            <a:pPr algn="l">
              <a:lnSpc>
                <a:spcPct val="105000"/>
              </a:lnSpc>
              <a:spcBef>
                <a:spcPts val="400"/>
              </a:spcBef>
              <a:spcAft>
                <a:spcPts val="400"/>
              </a:spcAft>
            </a:pPr>
            <a:r>
              <a:rPr sz="1550" b="1" i="0">
                <a:solidFill>
                  <a:srgbClr val="D4351A"/>
                </a:solidFill>
                <a:latin typeface="Arial"/>
              </a:rPr>
              <a:t>If you must leave an energized area</a:t>
            </a:r>
          </a:p>
          <a:p>
            <a:pPr algn="l">
              <a:lnSpc>
                <a:spcPct val="105000"/>
              </a:lnSpc>
              <a:spcBef>
                <a:spcPts val="300"/>
              </a:spcBef>
              <a:spcAft>
                <a:spcPts val="100"/>
              </a:spcAft>
            </a:pPr>
            <a:r>
              <a:rPr sz="1300" b="0" i="0">
                <a:solidFill>
                  <a:srgbClr val="1A2B3C"/>
                </a:solidFill>
                <a:latin typeface="Arial"/>
              </a:rPr>
              <a:t>–  Keep feet together and SHUFFLE or bunny-hop — never take a normal stride.</a:t>
            </a:r>
          </a:p>
          <a:p>
            <a:pPr algn="l">
              <a:lnSpc>
                <a:spcPct val="105000"/>
              </a:lnSpc>
              <a:spcBef>
                <a:spcPts val="300"/>
              </a:spcBef>
              <a:spcAft>
                <a:spcPts val="100"/>
              </a:spcAft>
            </a:pPr>
            <a:r>
              <a:rPr sz="1300" b="0" i="0">
                <a:solidFill>
                  <a:srgbClr val="1A2B3C"/>
                </a:solidFill>
                <a:latin typeface="Arial"/>
              </a:rPr>
              <a:t>–  Assume the ground around any downed line is energized out to a wide radius.</a:t>
            </a:r>
          </a:p>
          <a:p>
            <a:pPr algn="l">
              <a:lnSpc>
                <a:spcPct val="105000"/>
              </a:lnSpc>
              <a:spcBef>
                <a:spcPts val="300"/>
              </a:spcBef>
              <a:spcAft>
                <a:spcPts val="100"/>
              </a:spcAft>
            </a:pPr>
            <a:r>
              <a:rPr sz="1300" b="0" i="0">
                <a:solidFill>
                  <a:srgbClr val="1A2B3C"/>
                </a:solidFill>
                <a:latin typeface="Arial"/>
              </a:rPr>
              <a:t>–  Equipotential bonding &amp; grounding (Module 3) eliminate these gradients in your work zone.</a:t>
            </a:r>
          </a:p>
        </p:txBody>
      </p:sp>
      <p:sp>
        <p:nvSpPr>
          <p:cNvPr id="13" name="Rectangle 12"/>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2 — Electricity &amp; the Body</a:t>
            </a:r>
          </a:p>
        </p:txBody>
      </p:sp>
      <p:sp>
        <p:nvSpPr>
          <p:cNvPr id="15" name="TextBox 14"/>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2.7 DOWNED LINES</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Downed Conductors &amp; The Ground Around You</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27632"/>
            <a:ext cx="10881360" cy="548640"/>
          </a:xfrm>
          <a:prstGeom prst="rect">
            <a:avLst/>
          </a:prstGeom>
          <a:noFill/>
        </p:spPr>
        <p:txBody>
          <a:bodyPr wrap="square" anchor="t" lIns="0" rIns="0" tIns="0" bIns="0">
            <a:spAutoFit/>
          </a:bodyPr>
          <a:lstStyle/>
          <a:p>
            <a:pPr algn="l">
              <a:lnSpc>
                <a:spcPct val="105000"/>
              </a:lnSpc>
              <a:spcBef>
                <a:spcPts val="400"/>
              </a:spcBef>
              <a:spcAft>
                <a:spcPts val="400"/>
              </a:spcAft>
            </a:pPr>
            <a:r>
              <a:rPr sz="1550" b="0" i="1">
                <a:solidFill>
                  <a:srgbClr val="5B6B7B"/>
                </a:solidFill>
                <a:latin typeface="Arial"/>
              </a:rPr>
              <a:t>The most dangerous ground is the ground that looks perfectly normal.</a:t>
            </a:r>
          </a:p>
        </p:txBody>
      </p:sp>
      <p:sp>
        <p:nvSpPr>
          <p:cNvPr id="8" name="TextBox 7"/>
          <p:cNvSpPr txBox="1"/>
          <p:nvPr/>
        </p:nvSpPr>
        <p:spPr>
          <a:xfrm>
            <a:off x="658368" y="2240280"/>
            <a:ext cx="10927080" cy="3703320"/>
          </a:xfrm>
          <a:prstGeom prst="rect">
            <a:avLst/>
          </a:prstGeom>
          <a:noFill/>
        </p:spPr>
        <p:txBody>
          <a:bodyPr wrap="square" anchor="t" lIns="0" rIns="0" tIns="0" bIns="0">
            <a:spAutoFit/>
          </a:bodyPr>
          <a:lstStyle/>
          <a:p>
            <a:pPr algn="l">
              <a:lnSpc>
                <a:spcPct val="105000"/>
              </a:lnSpc>
              <a:spcBef>
                <a:spcPts val="700"/>
              </a:spcBef>
              <a:spcAft>
                <a:spcPts val="200"/>
              </a:spcAft>
            </a:pPr>
            <a:r>
              <a:rPr sz="1800" b="0" i="0">
                <a:solidFill>
                  <a:srgbClr val="1A2B3C"/>
                </a:solidFill>
                <a:latin typeface="Arial"/>
              </a:rPr>
              <a:t>■  A downed line may look dead — it is NOT until tested and grounded</a:t>
            </a:r>
          </a:p>
          <a:p>
            <a:pPr algn="l" lvl="1">
              <a:lnSpc>
                <a:spcPct val="103000"/>
              </a:lnSpc>
              <a:spcBef>
                <a:spcPts val="200"/>
              </a:spcBef>
              <a:spcAft>
                <a:spcPts val="200"/>
              </a:spcAft>
            </a:pPr>
            <a:r>
              <a:rPr sz="1500" b="0" i="0">
                <a:solidFill>
                  <a:srgbClr val="334455"/>
                </a:solidFill>
                <a:latin typeface="Arial"/>
              </a:rPr>
              <a:t>–  It may be re-energized automatically by reclosers, or back-fed by a customer's generator</a:t>
            </a:r>
          </a:p>
          <a:p>
            <a:pPr algn="l">
              <a:lnSpc>
                <a:spcPct val="105000"/>
              </a:lnSpc>
              <a:spcBef>
                <a:spcPts val="700"/>
              </a:spcBef>
              <a:spcAft>
                <a:spcPts val="200"/>
              </a:spcAft>
            </a:pPr>
            <a:r>
              <a:rPr sz="1800" b="0" i="0">
                <a:solidFill>
                  <a:srgbClr val="1A2B3C"/>
                </a:solidFill>
                <a:latin typeface="Arial"/>
              </a:rPr>
              <a:t>■  Energized ground can extend many feet from the contact point — you cannot see it</a:t>
            </a:r>
          </a:p>
          <a:p>
            <a:pPr algn="l">
              <a:lnSpc>
                <a:spcPct val="105000"/>
              </a:lnSpc>
              <a:spcBef>
                <a:spcPts val="700"/>
              </a:spcBef>
              <a:spcAft>
                <a:spcPts val="200"/>
              </a:spcAft>
            </a:pPr>
            <a:r>
              <a:rPr sz="1800" b="0" i="0">
                <a:solidFill>
                  <a:srgbClr val="1A2B3C"/>
                </a:solidFill>
                <a:latin typeface="Arial"/>
              </a:rPr>
              <a:t>■  Vehicles in contact with lines: occupants should STAY INSIDE unless fire forces evacuation</a:t>
            </a:r>
          </a:p>
          <a:p>
            <a:pPr algn="l" lvl="1">
              <a:lnSpc>
                <a:spcPct val="103000"/>
              </a:lnSpc>
              <a:spcBef>
                <a:spcPts val="200"/>
              </a:spcBef>
              <a:spcAft>
                <a:spcPts val="200"/>
              </a:spcAft>
            </a:pPr>
            <a:r>
              <a:rPr sz="1500" b="0" i="0">
                <a:solidFill>
                  <a:srgbClr val="334455"/>
                </a:solidFill>
                <a:latin typeface="Arial"/>
              </a:rPr>
              <a:t>–  If they must exit: JUMP clear without touching vehicle and ground at once, then shuffle away</a:t>
            </a:r>
          </a:p>
          <a:p>
            <a:pPr algn="l">
              <a:lnSpc>
                <a:spcPct val="105000"/>
              </a:lnSpc>
              <a:spcBef>
                <a:spcPts val="700"/>
              </a:spcBef>
              <a:spcAft>
                <a:spcPts val="200"/>
              </a:spcAft>
            </a:pPr>
            <a:r>
              <a:rPr sz="1800" b="0" i="0">
                <a:solidFill>
                  <a:srgbClr val="1A2B3C"/>
                </a:solidFill>
                <a:latin typeface="Arial"/>
              </a:rPr>
              <a:t>■  Keep the public back — establish a wide barrier and treat everything as energized</a:t>
            </a:r>
          </a:p>
          <a:p>
            <a:pPr algn="l">
              <a:lnSpc>
                <a:spcPct val="105000"/>
              </a:lnSpc>
              <a:spcBef>
                <a:spcPts val="700"/>
              </a:spcBef>
              <a:spcAft>
                <a:spcPts val="200"/>
              </a:spcAft>
            </a:pPr>
            <a:r>
              <a:rPr sz="1800" b="0" i="0">
                <a:solidFill>
                  <a:srgbClr val="1A2B3C"/>
                </a:solidFill>
                <a:latin typeface="Arial"/>
              </a:rPr>
              <a:t>■  Never approach within the established radius until the line is confirmed de-energized &amp; grounded</a:t>
            </a:r>
          </a:p>
        </p:txBody>
      </p:sp>
      <p:sp>
        <p:nvSpPr>
          <p:cNvPr id="9" name="Rectangle 8"/>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2 — Electricity &amp; the Body</a:t>
            </a:r>
          </a:p>
        </p:txBody>
      </p:sp>
      <p:sp>
        <p:nvSpPr>
          <p:cNvPr id="11" name="TextBox 10"/>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ILLUSTRATED</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Current Path Through the Body</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ig_body.png"/>
          <p:cNvPicPr>
            <a:picLocks noChangeAspect="1"/>
          </p:cNvPicPr>
          <p:nvPr/>
        </p:nvPicPr>
        <p:blipFill>
          <a:blip r:embed="rId2"/>
          <a:stretch>
            <a:fillRect/>
          </a:stretch>
        </p:blipFill>
        <p:spPr>
          <a:xfrm>
            <a:off x="3573305" y="1783080"/>
            <a:ext cx="5042341" cy="3703320"/>
          </a:xfrm>
          <a:prstGeom prst="rect">
            <a:avLst/>
          </a:prstGeom>
        </p:spPr>
      </p:pic>
      <p:sp>
        <p:nvSpPr>
          <p:cNvPr id="8" name="TextBox 7"/>
          <p:cNvSpPr txBox="1"/>
          <p:nvPr/>
        </p:nvSpPr>
        <p:spPr>
          <a:xfrm>
            <a:off x="822960" y="5650992"/>
            <a:ext cx="10515600" cy="640080"/>
          </a:xfrm>
          <a:prstGeom prst="rect">
            <a:avLst/>
          </a:prstGeom>
          <a:noFill/>
        </p:spPr>
        <p:txBody>
          <a:bodyPr wrap="square" anchor="t" lIns="0" rIns="0" tIns="0" bIns="0">
            <a:spAutoFit/>
          </a:bodyPr>
          <a:lstStyle/>
          <a:p>
            <a:pPr algn="ctr">
              <a:lnSpc>
                <a:spcPct val="118000"/>
              </a:lnSpc>
              <a:spcBef>
                <a:spcPts val="400"/>
              </a:spcBef>
              <a:spcAft>
                <a:spcPts val="400"/>
              </a:spcAft>
            </a:pPr>
            <a:r>
              <a:rPr sz="1300" b="0" i="1">
                <a:solidFill>
                  <a:srgbClr val="5B6B7B"/>
                </a:solidFill>
                <a:latin typeface="Arial"/>
              </a:rPr>
              <a:t>Current across the chest — hand-to-hand or hand-to-foot — can stop the heart. Control both contact points.</a:t>
            </a:r>
          </a:p>
        </p:txBody>
      </p:sp>
      <p:sp>
        <p:nvSpPr>
          <p:cNvPr id="9" name="Rectangle 8"/>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2 — Electricity &amp; the Body</a:t>
            </a:r>
          </a:p>
        </p:txBody>
      </p:sp>
      <p:sp>
        <p:nvSpPr>
          <p:cNvPr id="11" name="TextBox 10"/>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ILLUSTRATED</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Shock Threshold Ladder</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ig_threshold.png"/>
          <p:cNvPicPr>
            <a:picLocks noChangeAspect="1"/>
          </p:cNvPicPr>
          <p:nvPr/>
        </p:nvPicPr>
        <p:blipFill>
          <a:blip r:embed="rId2"/>
          <a:stretch>
            <a:fillRect/>
          </a:stretch>
        </p:blipFill>
        <p:spPr>
          <a:xfrm>
            <a:off x="3573305" y="1783080"/>
            <a:ext cx="5042341" cy="3703320"/>
          </a:xfrm>
          <a:prstGeom prst="rect">
            <a:avLst/>
          </a:prstGeom>
        </p:spPr>
      </p:pic>
      <p:sp>
        <p:nvSpPr>
          <p:cNvPr id="8" name="TextBox 7"/>
          <p:cNvSpPr txBox="1"/>
          <p:nvPr/>
        </p:nvSpPr>
        <p:spPr>
          <a:xfrm>
            <a:off x="822960" y="5650992"/>
            <a:ext cx="10515600" cy="640080"/>
          </a:xfrm>
          <a:prstGeom prst="rect">
            <a:avLst/>
          </a:prstGeom>
          <a:noFill/>
        </p:spPr>
        <p:txBody>
          <a:bodyPr wrap="square" anchor="t" lIns="0" rIns="0" tIns="0" bIns="0">
            <a:spAutoFit/>
          </a:bodyPr>
          <a:lstStyle/>
          <a:p>
            <a:pPr algn="ctr">
              <a:lnSpc>
                <a:spcPct val="118000"/>
              </a:lnSpc>
              <a:spcBef>
                <a:spcPts val="400"/>
              </a:spcBef>
              <a:spcAft>
                <a:spcPts val="400"/>
              </a:spcAft>
            </a:pPr>
            <a:r>
              <a:rPr sz="1300" b="0" i="1">
                <a:solidFill>
                  <a:srgbClr val="5B6B7B"/>
                </a:solidFill>
                <a:latin typeface="Arial"/>
              </a:rPr>
              <a:t>The dangerous range begins in milliamps — far below what trips a typical breaker.</a:t>
            </a:r>
          </a:p>
        </p:txBody>
      </p:sp>
      <p:sp>
        <p:nvSpPr>
          <p:cNvPr id="9" name="Rectangle 8"/>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2 — Electricity &amp; the Body</a:t>
            </a:r>
          </a:p>
        </p:txBody>
      </p:sp>
      <p:sp>
        <p:nvSpPr>
          <p:cNvPr id="11" name="TextBox 10"/>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ILLUSTRATED</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Arc Flash &amp; Arc Blast</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ig_arcflash.png"/>
          <p:cNvPicPr>
            <a:picLocks noChangeAspect="1"/>
          </p:cNvPicPr>
          <p:nvPr/>
        </p:nvPicPr>
        <p:blipFill>
          <a:blip r:embed="rId2"/>
          <a:stretch>
            <a:fillRect/>
          </a:stretch>
        </p:blipFill>
        <p:spPr>
          <a:xfrm>
            <a:off x="3573305" y="1783080"/>
            <a:ext cx="5042341" cy="3703320"/>
          </a:xfrm>
          <a:prstGeom prst="rect">
            <a:avLst/>
          </a:prstGeom>
        </p:spPr>
      </p:pic>
      <p:sp>
        <p:nvSpPr>
          <p:cNvPr id="8" name="TextBox 7"/>
          <p:cNvSpPr txBox="1"/>
          <p:nvPr/>
        </p:nvSpPr>
        <p:spPr>
          <a:xfrm>
            <a:off x="822960" y="5650992"/>
            <a:ext cx="10515600" cy="640080"/>
          </a:xfrm>
          <a:prstGeom prst="rect">
            <a:avLst/>
          </a:prstGeom>
          <a:noFill/>
        </p:spPr>
        <p:txBody>
          <a:bodyPr wrap="square" anchor="t" lIns="0" rIns="0" tIns="0" bIns="0">
            <a:spAutoFit/>
          </a:bodyPr>
          <a:lstStyle/>
          <a:p>
            <a:pPr algn="ctr">
              <a:lnSpc>
                <a:spcPct val="118000"/>
              </a:lnSpc>
              <a:spcBef>
                <a:spcPts val="400"/>
              </a:spcBef>
              <a:spcAft>
                <a:spcPts val="400"/>
              </a:spcAft>
            </a:pPr>
            <a:r>
              <a:rPr sz="1300" b="0" i="1">
                <a:solidFill>
                  <a:srgbClr val="5B6B7B"/>
                </a:solidFill>
                <a:latin typeface="Arial"/>
              </a:rPr>
              <a:t>An arc can reach ~35,000°F with an explosive blast — and can be triggered by proximity alone.</a:t>
            </a:r>
          </a:p>
        </p:txBody>
      </p:sp>
      <p:sp>
        <p:nvSpPr>
          <p:cNvPr id="9" name="Rectangle 8"/>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2 — Electricity &amp; the Body</a:t>
            </a:r>
          </a:p>
        </p:txBody>
      </p:sp>
      <p:sp>
        <p:nvSpPr>
          <p:cNvPr id="11" name="TextBox 10"/>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ILLUSTRATED</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Step &amp; Touch Potential</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ig_steptouch.png"/>
          <p:cNvPicPr>
            <a:picLocks noChangeAspect="1"/>
          </p:cNvPicPr>
          <p:nvPr/>
        </p:nvPicPr>
        <p:blipFill>
          <a:blip r:embed="rId2"/>
          <a:stretch>
            <a:fillRect/>
          </a:stretch>
        </p:blipFill>
        <p:spPr>
          <a:xfrm>
            <a:off x="1013701" y="1783080"/>
            <a:ext cx="10161548" cy="3703320"/>
          </a:xfrm>
          <a:prstGeom prst="rect">
            <a:avLst/>
          </a:prstGeom>
        </p:spPr>
      </p:pic>
      <p:sp>
        <p:nvSpPr>
          <p:cNvPr id="8" name="TextBox 7"/>
          <p:cNvSpPr txBox="1"/>
          <p:nvPr/>
        </p:nvSpPr>
        <p:spPr>
          <a:xfrm>
            <a:off x="822960" y="5650992"/>
            <a:ext cx="10515600" cy="640080"/>
          </a:xfrm>
          <a:prstGeom prst="rect">
            <a:avLst/>
          </a:prstGeom>
          <a:noFill/>
        </p:spPr>
        <p:txBody>
          <a:bodyPr wrap="square" anchor="t" lIns="0" rIns="0" tIns="0" bIns="0">
            <a:spAutoFit/>
          </a:bodyPr>
          <a:lstStyle/>
          <a:p>
            <a:pPr algn="ctr">
              <a:lnSpc>
                <a:spcPct val="118000"/>
              </a:lnSpc>
              <a:spcBef>
                <a:spcPts val="400"/>
              </a:spcBef>
              <a:spcAft>
                <a:spcPts val="400"/>
              </a:spcAft>
            </a:pPr>
            <a:r>
              <a:rPr sz="1300" b="0" i="1">
                <a:solidFill>
                  <a:srgbClr val="5B6B7B"/>
                </a:solidFill>
                <a:latin typeface="Arial"/>
              </a:rPr>
              <a:t>Current spreading from a downed line creates a ground gradient. Shuffle out with feet together.</a:t>
            </a:r>
          </a:p>
        </p:txBody>
      </p:sp>
      <p:sp>
        <p:nvSpPr>
          <p:cNvPr id="9" name="Rectangle 8"/>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2 — Electricity &amp; the Body</a:t>
            </a:r>
          </a:p>
        </p:txBody>
      </p:sp>
      <p:sp>
        <p:nvSpPr>
          <p:cNvPr id="11" name="TextBox 10"/>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ILLUSTRATED</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Reclosers — Why a Dead Line Bites Back</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ig_recloser.png"/>
          <p:cNvPicPr>
            <a:picLocks noChangeAspect="1"/>
          </p:cNvPicPr>
          <p:nvPr/>
        </p:nvPicPr>
        <p:blipFill>
          <a:blip r:embed="rId2"/>
          <a:stretch>
            <a:fillRect/>
          </a:stretch>
        </p:blipFill>
        <p:spPr>
          <a:xfrm>
            <a:off x="1013701" y="1783080"/>
            <a:ext cx="10161548" cy="3703320"/>
          </a:xfrm>
          <a:prstGeom prst="rect">
            <a:avLst/>
          </a:prstGeom>
        </p:spPr>
      </p:pic>
      <p:sp>
        <p:nvSpPr>
          <p:cNvPr id="8" name="TextBox 7"/>
          <p:cNvSpPr txBox="1"/>
          <p:nvPr/>
        </p:nvSpPr>
        <p:spPr>
          <a:xfrm>
            <a:off x="822960" y="5650992"/>
            <a:ext cx="10515600" cy="640080"/>
          </a:xfrm>
          <a:prstGeom prst="rect">
            <a:avLst/>
          </a:prstGeom>
          <a:noFill/>
        </p:spPr>
        <p:txBody>
          <a:bodyPr wrap="square" anchor="t" lIns="0" rIns="0" tIns="0" bIns="0">
            <a:spAutoFit/>
          </a:bodyPr>
          <a:lstStyle/>
          <a:p>
            <a:pPr algn="ctr">
              <a:lnSpc>
                <a:spcPct val="118000"/>
              </a:lnSpc>
              <a:spcBef>
                <a:spcPts val="400"/>
              </a:spcBef>
              <a:spcAft>
                <a:spcPts val="400"/>
              </a:spcAft>
            </a:pPr>
            <a:r>
              <a:rPr sz="1300" b="0" i="1">
                <a:solidFill>
                  <a:srgbClr val="5B6B7B"/>
                </a:solidFill>
                <a:latin typeface="Arial"/>
              </a:rPr>
              <a:t>Reclosers trip then auto-reclose — a downed line can re-energize without warning.</a:t>
            </a:r>
          </a:p>
        </p:txBody>
      </p:sp>
      <p:sp>
        <p:nvSpPr>
          <p:cNvPr id="9" name="Rectangle 8"/>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2 — Electricity &amp; the Body</a:t>
            </a:r>
          </a:p>
        </p:txBody>
      </p:sp>
      <p:sp>
        <p:nvSpPr>
          <p:cNvPr id="11" name="TextBox 10"/>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MODULE 2 RECAP</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Module 2 — Key Takeaways</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783080"/>
            <a:ext cx="10927080" cy="4160520"/>
          </a:xfrm>
          <a:prstGeom prst="rect">
            <a:avLst/>
          </a:prstGeom>
          <a:noFill/>
        </p:spPr>
        <p:txBody>
          <a:bodyPr wrap="square" anchor="t" lIns="0" rIns="0" tIns="0" bIns="0">
            <a:spAutoFit/>
          </a:bodyPr>
          <a:lstStyle/>
          <a:p>
            <a:pPr algn="l">
              <a:lnSpc>
                <a:spcPct val="105000"/>
              </a:lnSpc>
              <a:spcBef>
                <a:spcPts val="700"/>
              </a:spcBef>
              <a:spcAft>
                <a:spcPts val="200"/>
              </a:spcAft>
            </a:pPr>
            <a:r>
              <a:rPr sz="1800" b="0" i="0">
                <a:solidFill>
                  <a:srgbClr val="1A2B3C"/>
                </a:solidFill>
                <a:latin typeface="Arial"/>
              </a:rPr>
              <a:t>■  Current — not voltage — injures; the dangerous range begins in milliamps</a:t>
            </a:r>
          </a:p>
          <a:p>
            <a:pPr algn="l">
              <a:lnSpc>
                <a:spcPct val="105000"/>
              </a:lnSpc>
              <a:spcBef>
                <a:spcPts val="700"/>
              </a:spcBef>
              <a:spcAft>
                <a:spcPts val="200"/>
              </a:spcAft>
            </a:pPr>
            <a:r>
              <a:rPr sz="1800" b="0" i="0">
                <a:solidFill>
                  <a:srgbClr val="1A2B3C"/>
                </a:solidFill>
                <a:latin typeface="Arial"/>
              </a:rPr>
              <a:t>■  Path across the heart and 60 Hz AC make fibrillation likely; wet skin worsens everything</a:t>
            </a:r>
          </a:p>
          <a:p>
            <a:pPr algn="l">
              <a:lnSpc>
                <a:spcPct val="105000"/>
              </a:lnSpc>
              <a:spcBef>
                <a:spcPts val="700"/>
              </a:spcBef>
              <a:spcAft>
                <a:spcPts val="200"/>
              </a:spcAft>
            </a:pPr>
            <a:r>
              <a:rPr sz="1800" b="0" i="0">
                <a:solidFill>
                  <a:srgbClr val="1A2B3C"/>
                </a:solidFill>
                <a:latin typeface="Arial"/>
              </a:rPr>
              <a:t>■  Above the let-go threshold you cannot release — so we never rely on letting go</a:t>
            </a:r>
          </a:p>
          <a:p>
            <a:pPr algn="l">
              <a:lnSpc>
                <a:spcPct val="105000"/>
              </a:lnSpc>
              <a:spcBef>
                <a:spcPts val="700"/>
              </a:spcBef>
              <a:spcAft>
                <a:spcPts val="200"/>
              </a:spcAft>
            </a:pPr>
            <a:r>
              <a:rPr sz="1800" b="0" i="0">
                <a:solidFill>
                  <a:srgbClr val="1A2B3C"/>
                </a:solidFill>
                <a:latin typeface="Arial"/>
              </a:rPr>
              <a:t>■  Arc flash/blast can kill or maim WITHOUT contact — distance and FR PPE are your defense</a:t>
            </a:r>
          </a:p>
          <a:p>
            <a:pPr algn="l">
              <a:lnSpc>
                <a:spcPct val="105000"/>
              </a:lnSpc>
              <a:spcBef>
                <a:spcPts val="700"/>
              </a:spcBef>
              <a:spcAft>
                <a:spcPts val="200"/>
              </a:spcAft>
            </a:pPr>
            <a:r>
              <a:rPr sz="1800" b="0" i="0">
                <a:solidFill>
                  <a:srgbClr val="1A2B3C"/>
                </a:solidFill>
                <a:latin typeface="Arial"/>
              </a:rPr>
              <a:t>■  Energized ground creates step &amp; touch potential — shuffle out, bond and ground your zone</a:t>
            </a:r>
          </a:p>
          <a:p>
            <a:pPr algn="l">
              <a:lnSpc>
                <a:spcPct val="105000"/>
              </a:lnSpc>
              <a:spcBef>
                <a:spcPts val="700"/>
              </a:spcBef>
              <a:spcAft>
                <a:spcPts val="200"/>
              </a:spcAft>
            </a:pPr>
            <a:r>
              <a:rPr sz="1800" b="0" i="0">
                <a:solidFill>
                  <a:srgbClr val="1A2B3C"/>
                </a:solidFill>
                <a:latin typeface="Arial"/>
              </a:rPr>
              <a:t>■  After any contact: get medical evaluation — internal damage hides</a:t>
            </a:r>
          </a:p>
        </p:txBody>
      </p:sp>
      <p:sp>
        <p:nvSpPr>
          <p:cNvPr id="8" name="Rectangle 7"/>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2 — Electricity &amp; the Body</a:t>
            </a:r>
          </a:p>
        </p:txBody>
      </p:sp>
      <p:sp>
        <p:nvSpPr>
          <p:cNvPr id="10" name="TextBox 9"/>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a:gsLst>
              <a:gs pos="0">
                <a:srgbClr val="0B2545"/>
              </a:gs>
              <a:gs pos="100000">
                <a:srgbClr val="071830"/>
              </a:gs>
            </a:gsLst>
            <a:lin ang="27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371600"/>
            <a:ext cx="3840480" cy="2926080"/>
          </a:xfrm>
          <a:prstGeom prst="rect">
            <a:avLst/>
          </a:prstGeom>
          <a:noFill/>
        </p:spPr>
        <p:txBody>
          <a:bodyPr wrap="square" anchor="ctr" lIns="0" rIns="0" tIns="0" bIns="0">
            <a:spAutoFit/>
          </a:bodyPr>
          <a:lstStyle/>
          <a:p>
            <a:pPr algn="l">
              <a:lnSpc>
                <a:spcPct val="105000"/>
              </a:lnSpc>
              <a:spcBef>
                <a:spcPts val="400"/>
              </a:spcBef>
              <a:spcAft>
                <a:spcPts val="0"/>
              </a:spcAft>
            </a:pPr>
            <a:r>
              <a:rPr sz="1800" b="1" i="0">
                <a:solidFill>
                  <a:srgbClr val="F5B100"/>
                </a:solidFill>
                <a:latin typeface="Arial"/>
              </a:rPr>
              <a:t>MODULE</a:t>
            </a:r>
          </a:p>
          <a:p>
            <a:pPr algn="l">
              <a:lnSpc>
                <a:spcPct val="90000"/>
              </a:lnSpc>
              <a:spcBef>
                <a:spcPts val="0"/>
              </a:spcBef>
              <a:spcAft>
                <a:spcPts val="400"/>
              </a:spcAft>
            </a:pPr>
            <a:r>
              <a:rPr sz="15000" b="1" i="0">
                <a:solidFill>
                  <a:srgbClr val="FFFFFF"/>
                </a:solidFill>
                <a:latin typeface="Arial"/>
              </a:rPr>
              <a:t>3</a:t>
            </a:r>
          </a:p>
        </p:txBody>
      </p:sp>
      <p:sp>
        <p:nvSpPr>
          <p:cNvPr id="5" name="Rectangle 4"/>
          <p:cNvSpPr/>
          <p:nvPr/>
        </p:nvSpPr>
        <p:spPr>
          <a:xfrm>
            <a:off x="4800600" y="1554480"/>
            <a:ext cx="36576" cy="3657600"/>
          </a:xfrm>
          <a:prstGeom prst="rect">
            <a:avLst/>
          </a:prstGeom>
          <a:solidFill>
            <a:srgbClr val="2A47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12080" y="1691640"/>
            <a:ext cx="6400800" cy="1463040"/>
          </a:xfrm>
          <a:prstGeom prst="rect">
            <a:avLst/>
          </a:prstGeom>
          <a:noFill/>
        </p:spPr>
        <p:txBody>
          <a:bodyPr wrap="square" anchor="t" lIns="0" rIns="0" tIns="0" bIns="0">
            <a:spAutoFit/>
          </a:bodyPr>
          <a:lstStyle/>
          <a:p>
            <a:pPr algn="l">
              <a:lnSpc>
                <a:spcPct val="100000"/>
              </a:lnSpc>
              <a:spcBef>
                <a:spcPts val="400"/>
              </a:spcBef>
              <a:spcAft>
                <a:spcPts val="400"/>
              </a:spcAft>
            </a:pPr>
            <a:r>
              <a:rPr sz="3400" b="1" i="0">
                <a:solidFill>
                  <a:srgbClr val="FFFFFF"/>
                </a:solidFill>
                <a:latin typeface="Arial"/>
              </a:rPr>
              <a:t>Working Around Energized Lines &amp; Equipment</a:t>
            </a:r>
          </a:p>
        </p:txBody>
      </p:sp>
      <p:sp>
        <p:nvSpPr>
          <p:cNvPr id="7" name="Rectangle 6"/>
          <p:cNvSpPr/>
          <p:nvPr/>
        </p:nvSpPr>
        <p:spPr>
          <a:xfrm>
            <a:off x="5230368" y="3063240"/>
            <a:ext cx="1371600" cy="4572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212080" y="3337560"/>
            <a:ext cx="6400800" cy="2926080"/>
          </a:xfrm>
          <a:prstGeom prst="rect">
            <a:avLst/>
          </a:prstGeom>
          <a:noFill/>
        </p:spPr>
        <p:txBody>
          <a:bodyPr wrap="square" anchor="t" lIns="0" rIns="0" tIns="0" bIns="0">
            <a:spAutoFit/>
          </a:bodyPr>
          <a:lstStyle/>
          <a:p>
            <a:pPr algn="l">
              <a:lnSpc>
                <a:spcPct val="105000"/>
              </a:lnSpc>
              <a:spcBef>
                <a:spcPts val="600"/>
              </a:spcBef>
              <a:spcAft>
                <a:spcPts val="600"/>
              </a:spcAft>
            </a:pPr>
            <a:r>
              <a:rPr sz="1600" b="0" i="0">
                <a:solidFill>
                  <a:srgbClr val="CFDCEC"/>
                </a:solidFill>
                <a:latin typeface="Arial"/>
              </a:rPr>
              <a:t>—  Minimum approach distance</a:t>
            </a:r>
          </a:p>
          <a:p>
            <a:pPr algn="l">
              <a:lnSpc>
                <a:spcPct val="105000"/>
              </a:lnSpc>
              <a:spcBef>
                <a:spcPts val="600"/>
              </a:spcBef>
              <a:spcAft>
                <a:spcPts val="600"/>
              </a:spcAft>
            </a:pPr>
            <a:r>
              <a:rPr sz="1600" b="0" i="0">
                <a:solidFill>
                  <a:srgbClr val="CFDCEC"/>
                </a:solidFill>
                <a:latin typeface="Arial"/>
              </a:rPr>
              <a:t>—  The second point of contact — the core concept</a:t>
            </a:r>
          </a:p>
          <a:p>
            <a:pPr algn="l">
              <a:lnSpc>
                <a:spcPct val="105000"/>
              </a:lnSpc>
              <a:spcBef>
                <a:spcPts val="600"/>
              </a:spcBef>
              <a:spcAft>
                <a:spcPts val="600"/>
              </a:spcAft>
            </a:pPr>
            <a:r>
              <a:rPr sz="1600" b="0" i="0">
                <a:solidFill>
                  <a:srgbClr val="CFDCEC"/>
                </a:solidFill>
                <a:latin typeface="Arial"/>
              </a:rPr>
              <a:t>—  Isolate, insulate &amp; cover-up</a:t>
            </a:r>
          </a:p>
          <a:p>
            <a:pPr algn="l">
              <a:lnSpc>
                <a:spcPct val="105000"/>
              </a:lnSpc>
              <a:spcBef>
                <a:spcPts val="600"/>
              </a:spcBef>
              <a:spcAft>
                <a:spcPts val="600"/>
              </a:spcAft>
            </a:pPr>
            <a:r>
              <a:rPr sz="1600" b="0" i="0">
                <a:solidFill>
                  <a:srgbClr val="CFDCEC"/>
                </a:solidFill>
                <a:latin typeface="Arial"/>
              </a:rPr>
              <a:t>—  Grounding &amp; the equipotential zone</a:t>
            </a:r>
          </a:p>
          <a:p>
            <a:pPr algn="l">
              <a:lnSpc>
                <a:spcPct val="105000"/>
              </a:lnSpc>
              <a:spcBef>
                <a:spcPts val="600"/>
              </a:spcBef>
              <a:spcAft>
                <a:spcPts val="600"/>
              </a:spcAft>
            </a:pPr>
            <a:r>
              <a:rPr sz="1600" b="0" i="0">
                <a:solidFill>
                  <a:srgbClr val="CFDCEC"/>
                </a:solidFill>
                <a:latin typeface="Arial"/>
              </a:rPr>
              <a:t>—  De-energizing, LOTO &amp; induced voltage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3.1 CONTROLS</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The Hierarchy of Controls for Electrical Work</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27632"/>
            <a:ext cx="10881360" cy="548640"/>
          </a:xfrm>
          <a:prstGeom prst="rect">
            <a:avLst/>
          </a:prstGeom>
          <a:noFill/>
        </p:spPr>
        <p:txBody>
          <a:bodyPr wrap="square" anchor="t" lIns="0" rIns="0" tIns="0" bIns="0">
            <a:spAutoFit/>
          </a:bodyPr>
          <a:lstStyle/>
          <a:p>
            <a:pPr algn="l">
              <a:lnSpc>
                <a:spcPct val="105000"/>
              </a:lnSpc>
              <a:spcBef>
                <a:spcPts val="400"/>
              </a:spcBef>
              <a:spcAft>
                <a:spcPts val="400"/>
              </a:spcAft>
            </a:pPr>
            <a:r>
              <a:rPr sz="1550" b="0" i="1">
                <a:solidFill>
                  <a:srgbClr val="5B6B7B"/>
                </a:solidFill>
                <a:latin typeface="Arial"/>
              </a:rPr>
              <a:t>Reach for the top of the hierarchy first; PPE alone is never the plan.</a:t>
            </a:r>
          </a:p>
        </p:txBody>
      </p:sp>
      <p:sp>
        <p:nvSpPr>
          <p:cNvPr id="8" name="TextBox 7"/>
          <p:cNvSpPr txBox="1"/>
          <p:nvPr/>
        </p:nvSpPr>
        <p:spPr>
          <a:xfrm>
            <a:off x="658368" y="2240280"/>
            <a:ext cx="10927080" cy="3703320"/>
          </a:xfrm>
          <a:prstGeom prst="rect">
            <a:avLst/>
          </a:prstGeom>
          <a:noFill/>
        </p:spPr>
        <p:txBody>
          <a:bodyPr wrap="square" anchor="t" lIns="0" rIns="0" tIns="0" bIns="0">
            <a:spAutoFit/>
          </a:bodyPr>
          <a:lstStyle/>
          <a:p>
            <a:pPr algn="l">
              <a:lnSpc>
                <a:spcPct val="105000"/>
              </a:lnSpc>
              <a:spcBef>
                <a:spcPts val="700"/>
              </a:spcBef>
              <a:spcAft>
                <a:spcPts val="200"/>
              </a:spcAft>
            </a:pPr>
            <a:r>
              <a:rPr sz="1800" b="0" i="0">
                <a:solidFill>
                  <a:srgbClr val="1A2B3C"/>
                </a:solidFill>
                <a:latin typeface="Arial"/>
              </a:rPr>
              <a:t>■  The safest energized work is work that isn't energized — always prefer de-energizing where feasible</a:t>
            </a:r>
          </a:p>
          <a:p>
            <a:pPr algn="l">
              <a:lnSpc>
                <a:spcPct val="105000"/>
              </a:lnSpc>
              <a:spcBef>
                <a:spcPts val="700"/>
              </a:spcBef>
              <a:spcAft>
                <a:spcPts val="200"/>
              </a:spcAft>
            </a:pPr>
            <a:r>
              <a:rPr sz="1800" b="0" i="0">
                <a:solidFill>
                  <a:srgbClr val="1A2B3C"/>
                </a:solidFill>
                <a:latin typeface="Arial"/>
              </a:rPr>
              <a:t>■  Order of preference when planning a job:</a:t>
            </a:r>
          </a:p>
          <a:p>
            <a:pPr algn="l" lvl="1">
              <a:lnSpc>
                <a:spcPct val="103000"/>
              </a:lnSpc>
              <a:spcBef>
                <a:spcPts val="200"/>
              </a:spcBef>
              <a:spcAft>
                <a:spcPts val="200"/>
              </a:spcAft>
            </a:pPr>
            <a:r>
              <a:rPr sz="1500" b="0" i="0">
                <a:solidFill>
                  <a:srgbClr val="334455"/>
                </a:solidFill>
                <a:latin typeface="Arial"/>
              </a:rPr>
              <a:t>–  1. Eliminate — de-energize, isolate, lock &amp; tag, test dead, and ground</a:t>
            </a:r>
          </a:p>
          <a:p>
            <a:pPr algn="l" lvl="1">
              <a:lnSpc>
                <a:spcPct val="103000"/>
              </a:lnSpc>
              <a:spcBef>
                <a:spcPts val="200"/>
              </a:spcBef>
              <a:spcAft>
                <a:spcPts val="200"/>
              </a:spcAft>
            </a:pPr>
            <a:r>
              <a:rPr sz="1500" b="0" i="0">
                <a:solidFill>
                  <a:srgbClr val="334455"/>
                </a:solidFill>
                <a:latin typeface="Arial"/>
              </a:rPr>
              <a:t>–  2. Substitute / engineer — reroute, switch load, use remote/robotic methods</a:t>
            </a:r>
          </a:p>
          <a:p>
            <a:pPr algn="l" lvl="1">
              <a:lnSpc>
                <a:spcPct val="103000"/>
              </a:lnSpc>
              <a:spcBef>
                <a:spcPts val="200"/>
              </a:spcBef>
              <a:spcAft>
                <a:spcPts val="200"/>
              </a:spcAft>
            </a:pPr>
            <a:r>
              <a:rPr sz="1500" b="0" i="0">
                <a:solidFill>
                  <a:srgbClr val="334455"/>
                </a:solidFill>
                <a:latin typeface="Arial"/>
              </a:rPr>
              <a:t>–  3. Isolate the worker — insulate &amp; isolate (rubber-glove or hot-stick / live-line bare-hand)</a:t>
            </a:r>
          </a:p>
          <a:p>
            <a:pPr algn="l" lvl="1">
              <a:lnSpc>
                <a:spcPct val="103000"/>
              </a:lnSpc>
              <a:spcBef>
                <a:spcPts val="200"/>
              </a:spcBef>
              <a:spcAft>
                <a:spcPts val="200"/>
              </a:spcAft>
            </a:pPr>
            <a:r>
              <a:rPr sz="1500" b="0" i="0">
                <a:solidFill>
                  <a:srgbClr val="334455"/>
                </a:solidFill>
                <a:latin typeface="Arial"/>
              </a:rPr>
              <a:t>–  4. Administrative — procedures, job briefings, MAD, qualified workers only</a:t>
            </a:r>
          </a:p>
          <a:p>
            <a:pPr algn="l" lvl="1">
              <a:lnSpc>
                <a:spcPct val="103000"/>
              </a:lnSpc>
              <a:spcBef>
                <a:spcPts val="200"/>
              </a:spcBef>
              <a:spcAft>
                <a:spcPts val="200"/>
              </a:spcAft>
            </a:pPr>
            <a:r>
              <a:rPr sz="1500" b="0" i="0">
                <a:solidFill>
                  <a:srgbClr val="334455"/>
                </a:solidFill>
                <a:latin typeface="Arial"/>
              </a:rPr>
              <a:t>–  5. PPE — FR clothing, rubber gloves/sleeves, face &amp; head protection (last line, never the only line)</a:t>
            </a:r>
          </a:p>
          <a:p>
            <a:pPr algn="l">
              <a:lnSpc>
                <a:spcPct val="105000"/>
              </a:lnSpc>
              <a:spcBef>
                <a:spcPts val="700"/>
              </a:spcBef>
              <a:spcAft>
                <a:spcPts val="200"/>
              </a:spcAft>
            </a:pPr>
            <a:r>
              <a:rPr sz="1800" b="0" i="0">
                <a:solidFill>
                  <a:srgbClr val="1A2B3C"/>
                </a:solidFill>
                <a:latin typeface="Arial"/>
              </a:rPr>
              <a:t>■  Energized work is permitted only when de-energizing is infeasible or creates greater hazard</a:t>
            </a:r>
          </a:p>
        </p:txBody>
      </p:sp>
      <p:sp>
        <p:nvSpPr>
          <p:cNvPr id="9" name="Rectangle 8"/>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3 — Working Energized</a:t>
            </a:r>
          </a:p>
        </p:txBody>
      </p:sp>
      <p:sp>
        <p:nvSpPr>
          <p:cNvPr id="11" name="TextBox 10"/>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3.2 MAD</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Minimum Approach Distance (MAD)</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783080"/>
            <a:ext cx="6949440" cy="4297680"/>
          </a:xfrm>
          <a:prstGeom prst="rect">
            <a:avLst/>
          </a:prstGeom>
          <a:noFill/>
        </p:spPr>
        <p:txBody>
          <a:bodyPr wrap="square" anchor="t" lIns="0" rIns="0" tIns="0" bIns="0">
            <a:spAutoFit/>
          </a:bodyPr>
          <a:lstStyle/>
          <a:p>
            <a:pPr algn="l">
              <a:lnSpc>
                <a:spcPct val="105000"/>
              </a:lnSpc>
              <a:spcBef>
                <a:spcPts val="700"/>
              </a:spcBef>
              <a:spcAft>
                <a:spcPts val="200"/>
              </a:spcAft>
            </a:pPr>
            <a:r>
              <a:rPr sz="1700" b="0" i="0">
                <a:solidFill>
                  <a:srgbClr val="1A2B3C"/>
                </a:solidFill>
                <a:latin typeface="Arial"/>
              </a:rPr>
              <a:t>■  MAD = the closest a qualified worker (or conductive object) may come to an energized part</a:t>
            </a:r>
          </a:p>
          <a:p>
            <a:pPr algn="l">
              <a:lnSpc>
                <a:spcPct val="105000"/>
              </a:lnSpc>
              <a:spcBef>
                <a:spcPts val="700"/>
              </a:spcBef>
              <a:spcAft>
                <a:spcPts val="200"/>
              </a:spcAft>
            </a:pPr>
            <a:r>
              <a:rPr sz="1700" b="0" i="0">
                <a:solidFill>
                  <a:srgbClr val="1A2B3C"/>
                </a:solidFill>
                <a:latin typeface="Arial"/>
              </a:rPr>
              <a:t>■  It protects against flashover — the air gap that voltage cannot jump</a:t>
            </a:r>
          </a:p>
          <a:p>
            <a:pPr algn="l">
              <a:lnSpc>
                <a:spcPct val="105000"/>
              </a:lnSpc>
              <a:spcBef>
                <a:spcPts val="700"/>
              </a:spcBef>
              <a:spcAft>
                <a:spcPts val="200"/>
              </a:spcAft>
            </a:pPr>
            <a:r>
              <a:rPr sz="1700" b="0" i="0">
                <a:solidFill>
                  <a:srgbClr val="1A2B3C"/>
                </a:solidFill>
                <a:latin typeface="Arial"/>
              </a:rPr>
              <a:t>■  MAD increases with voltage and with altitude (thinner air insulates less)</a:t>
            </a:r>
          </a:p>
          <a:p>
            <a:pPr algn="l">
              <a:lnSpc>
                <a:spcPct val="105000"/>
              </a:lnSpc>
              <a:spcBef>
                <a:spcPts val="700"/>
              </a:spcBef>
              <a:spcAft>
                <a:spcPts val="200"/>
              </a:spcAft>
            </a:pPr>
            <a:r>
              <a:rPr sz="1700" b="0" i="0">
                <a:solidFill>
                  <a:srgbClr val="1A2B3C"/>
                </a:solidFill>
                <a:latin typeface="Arial"/>
              </a:rPr>
              <a:t>■  It includes the phase-to-ground AND phase-to-phase exposure</a:t>
            </a:r>
          </a:p>
          <a:p>
            <a:pPr algn="l">
              <a:lnSpc>
                <a:spcPct val="105000"/>
              </a:lnSpc>
              <a:spcBef>
                <a:spcPts val="700"/>
              </a:spcBef>
              <a:spcAft>
                <a:spcPts val="200"/>
              </a:spcAft>
            </a:pPr>
            <a:r>
              <a:rPr sz="1700" b="0" i="0">
                <a:solidFill>
                  <a:srgbClr val="1A2B3C"/>
                </a:solidFill>
                <a:latin typeface="Arial"/>
              </a:rPr>
              <a:t>■  Anything conductive counts: your body, tools, materials, the boom, a tape measure</a:t>
            </a:r>
          </a:p>
          <a:p>
            <a:pPr algn="l" lvl="1">
              <a:lnSpc>
                <a:spcPct val="102000"/>
              </a:lnSpc>
              <a:spcBef>
                <a:spcPts val="200"/>
              </a:spcBef>
              <a:spcAft>
                <a:spcPts val="100"/>
              </a:spcAft>
            </a:pPr>
            <a:r>
              <a:rPr sz="1400" b="0" i="0">
                <a:solidFill>
                  <a:srgbClr val="334455"/>
                </a:solidFill>
                <a:latin typeface="Arial"/>
              </a:rPr>
              <a:t>–  Unqualified employees must stay even farther back</a:t>
            </a:r>
          </a:p>
          <a:p>
            <a:pPr algn="l">
              <a:lnSpc>
                <a:spcPct val="105000"/>
              </a:lnSpc>
              <a:spcBef>
                <a:spcPts val="700"/>
              </a:spcBef>
              <a:spcAft>
                <a:spcPts val="200"/>
              </a:spcAft>
            </a:pPr>
            <a:r>
              <a:rPr sz="1700" b="0" i="0">
                <a:solidFill>
                  <a:srgbClr val="1A2B3C"/>
                </a:solidFill>
                <a:latin typeface="Arial"/>
              </a:rPr>
              <a:t>■  If you cannot maintain MAD, the part must be de-energized OR covered/insulated</a:t>
            </a:r>
          </a:p>
        </p:txBody>
      </p:sp>
      <p:sp>
        <p:nvSpPr>
          <p:cNvPr id="8" name="Rounded Rectangle 7"/>
          <p:cNvSpPr/>
          <p:nvPr/>
        </p:nvSpPr>
        <p:spPr>
          <a:xfrm>
            <a:off x="7863840" y="1874519"/>
            <a:ext cx="3776472" cy="3931920"/>
          </a:xfrm>
          <a:prstGeom prst="roundRect">
            <a:avLst/>
          </a:prstGeom>
          <a:solidFill>
            <a:srgbClr val="FDF4DE"/>
          </a:solidFill>
          <a:ln w="19050">
            <a:solidFill>
              <a:srgbClr val="C88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863840" y="1874519"/>
            <a:ext cx="3776472" cy="548640"/>
          </a:xfrm>
          <a:prstGeom prst="roundRect">
            <a:avLst/>
          </a:prstGeom>
          <a:solidFill>
            <a:srgbClr val="C88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63840" y="2148839"/>
            <a:ext cx="3776472" cy="274320"/>
          </a:xfrm>
          <a:prstGeom prst="rect">
            <a:avLst/>
          </a:prstGeom>
          <a:solidFill>
            <a:srgbClr val="C88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92440" y="1920239"/>
            <a:ext cx="3319272" cy="475488"/>
          </a:xfrm>
          <a:prstGeom prst="rect">
            <a:avLst/>
          </a:prstGeom>
          <a:noFill/>
        </p:spPr>
        <p:txBody>
          <a:bodyPr wrap="square" anchor="ctr" lIns="0" rIns="0" tIns="0" bIns="0">
            <a:spAutoFit/>
          </a:bodyPr>
          <a:lstStyle/>
          <a:p>
            <a:pPr algn="l">
              <a:lnSpc>
                <a:spcPct val="105000"/>
              </a:lnSpc>
              <a:spcBef>
                <a:spcPts val="400"/>
              </a:spcBef>
              <a:spcAft>
                <a:spcPts val="400"/>
              </a:spcAft>
            </a:pPr>
            <a:r>
              <a:rPr sz="1400" b="1" i="0">
                <a:solidFill>
                  <a:srgbClr val="FFFFFF"/>
                </a:solidFill>
                <a:latin typeface="Arial"/>
              </a:rPr>
              <a:t>WARNING  ⚠</a:t>
            </a:r>
          </a:p>
        </p:txBody>
      </p:sp>
      <p:sp>
        <p:nvSpPr>
          <p:cNvPr id="12" name="TextBox 11"/>
          <p:cNvSpPr txBox="1"/>
          <p:nvPr/>
        </p:nvSpPr>
        <p:spPr>
          <a:xfrm>
            <a:off x="8138160" y="2587752"/>
            <a:ext cx="3227832" cy="3063239"/>
          </a:xfrm>
          <a:prstGeom prst="rect">
            <a:avLst/>
          </a:prstGeom>
          <a:noFill/>
        </p:spPr>
        <p:txBody>
          <a:bodyPr wrap="square" anchor="t" lIns="0" rIns="0" tIns="0" bIns="0">
            <a:spAutoFit/>
          </a:bodyPr>
          <a:lstStyle/>
          <a:p>
            <a:pPr algn="l">
              <a:lnSpc>
                <a:spcPct val="105000"/>
              </a:lnSpc>
              <a:spcBef>
                <a:spcPts val="400"/>
              </a:spcBef>
              <a:spcAft>
                <a:spcPts val="400"/>
              </a:spcAft>
            </a:pPr>
            <a:r>
              <a:rPr sz="1550" b="1" i="0">
                <a:solidFill>
                  <a:srgbClr val="C88A00"/>
                </a:solidFill>
                <a:latin typeface="Arial"/>
              </a:rPr>
              <a:t>Rule of thumb</a:t>
            </a:r>
          </a:p>
          <a:p>
            <a:pPr algn="l">
              <a:lnSpc>
                <a:spcPct val="105000"/>
              </a:lnSpc>
              <a:spcBef>
                <a:spcPts val="300"/>
              </a:spcBef>
              <a:spcAft>
                <a:spcPts val="100"/>
              </a:spcAft>
            </a:pPr>
            <a:r>
              <a:rPr sz="1300" b="0" i="0">
                <a:solidFill>
                  <a:srgbClr val="1A2B3C"/>
                </a:solidFill>
                <a:latin typeface="Arial"/>
              </a:rPr>
              <a:t>–  Know your utility's MAD table for the voltage you're on — BEFORE you leave the ground.</a:t>
            </a:r>
          </a:p>
          <a:p>
            <a:pPr algn="l">
              <a:lnSpc>
                <a:spcPct val="105000"/>
              </a:lnSpc>
              <a:spcBef>
                <a:spcPts val="300"/>
              </a:spcBef>
              <a:spcAft>
                <a:spcPts val="100"/>
              </a:spcAft>
            </a:pPr>
            <a:r>
              <a:rPr sz="1300" b="0" i="0">
                <a:solidFill>
                  <a:srgbClr val="1A2B3C"/>
                </a:solidFill>
                <a:latin typeface="Arial"/>
              </a:rPr>
              <a:t>–  When in doubt, cover up or back off. MAD is a minimum, not a target.</a:t>
            </a:r>
          </a:p>
        </p:txBody>
      </p:sp>
      <p:sp>
        <p:nvSpPr>
          <p:cNvPr id="13" name="Rectangle 12"/>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3 — Working Energized</a:t>
            </a:r>
          </a:p>
        </p:txBody>
      </p:sp>
      <p:sp>
        <p:nvSpPr>
          <p:cNvPr id="15" name="TextBox 14"/>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3.2 MAD TABLE</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Illustrative Minimum Approach Distances (Phase-to-Ground)</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640080" y="1828800"/>
          <a:ext cx="10908791" cy="4242816"/>
        </p:xfrm>
        <a:graphic>
          <a:graphicData uri="http://schemas.openxmlformats.org/drawingml/2006/table">
            <a:tbl>
              <a:tblPr firstRow="1" bandRow="1">
                <a:tableStyleId>{5C22544A-7EE6-4342-B048-85BDC9FD1C3A}</a:tableStyleId>
              </a:tblPr>
              <a:tblGrid>
                <a:gridCol w="3966833"/>
                <a:gridCol w="2975125"/>
                <a:gridCol w="3966833"/>
              </a:tblGrid>
              <a:tr h="424281">
                <a:tc>
                  <a:txBody>
                    <a:bodyPr wrap="square"/>
                    <a:lstStyle/>
                    <a:p>
                      <a:pPr algn="l"/>
                      <a:r>
                        <a:rPr sz="1200" b="1">
                          <a:solidFill>
                            <a:srgbClr val="FFFFFF"/>
                          </a:solidFill>
                          <a:latin typeface="Arial"/>
                        </a:rPr>
                        <a:t>Nominal Voltage (ph-ph)</a:t>
                      </a:r>
                    </a:p>
                  </a:txBody>
                  <a:tcPr anchor="ctr" marL="91440" marR="73152" marT="36576" marB="36576">
                    <a:solidFill>
                      <a:srgbClr val="0B2545"/>
                    </a:solidFill>
                  </a:tcPr>
                </a:tc>
                <a:tc>
                  <a:txBody>
                    <a:bodyPr wrap="square"/>
                    <a:lstStyle/>
                    <a:p>
                      <a:pPr algn="l"/>
                      <a:r>
                        <a:rPr sz="1200" b="1">
                          <a:solidFill>
                            <a:srgbClr val="FFFFFF"/>
                          </a:solidFill>
                          <a:latin typeface="Arial"/>
                        </a:rPr>
                        <a:t>Example MAD</a:t>
                      </a:r>
                    </a:p>
                  </a:txBody>
                  <a:tcPr anchor="ctr" marL="91440" marR="73152" marT="36576" marB="36576">
                    <a:solidFill>
                      <a:srgbClr val="0B2545"/>
                    </a:solidFill>
                  </a:tcPr>
                </a:tc>
                <a:tc>
                  <a:txBody>
                    <a:bodyPr wrap="square"/>
                    <a:lstStyle/>
                    <a:p>
                      <a:pPr algn="l"/>
                      <a:r>
                        <a:rPr sz="1200" b="1">
                          <a:solidFill>
                            <a:srgbClr val="FFFFFF"/>
                          </a:solidFill>
                          <a:latin typeface="Arial"/>
                        </a:rPr>
                        <a:t>Typical Setting</a:t>
                      </a:r>
                    </a:p>
                  </a:txBody>
                  <a:tcPr anchor="ctr" marL="91440" marR="73152" marT="36576" marB="36576">
                    <a:solidFill>
                      <a:srgbClr val="0B2545"/>
                    </a:solidFill>
                  </a:tcPr>
                </a:tc>
              </a:tr>
              <a:tr h="424281">
                <a:tc>
                  <a:txBody>
                    <a:bodyPr wrap="square"/>
                    <a:lstStyle/>
                    <a:p>
                      <a:pPr algn="l"/>
                      <a:r>
                        <a:rPr sz="1150" b="1">
                          <a:solidFill>
                            <a:srgbClr val="0B2545"/>
                          </a:solidFill>
                          <a:latin typeface="Arial"/>
                        </a:rPr>
                        <a:t>50 V – 300 V</a:t>
                      </a:r>
                    </a:p>
                  </a:txBody>
                  <a:tcPr anchor="ctr" marL="91440" marR="73152" marT="27432" marB="27432">
                    <a:solidFill>
                      <a:srgbClr val="FFFFFF"/>
                    </a:solidFill>
                  </a:tcPr>
                </a:tc>
                <a:tc>
                  <a:txBody>
                    <a:bodyPr wrap="square"/>
                    <a:lstStyle/>
                    <a:p>
                      <a:pPr algn="l"/>
                      <a:r>
                        <a:rPr sz="1150" b="0">
                          <a:solidFill>
                            <a:srgbClr val="1A2B3C"/>
                          </a:solidFill>
                          <a:latin typeface="Arial"/>
                        </a:rPr>
                        <a:t>Avoid contact</a:t>
                      </a:r>
                    </a:p>
                  </a:txBody>
                  <a:tcPr anchor="ctr" marL="91440" marR="73152" marT="27432" marB="27432">
                    <a:solidFill>
                      <a:srgbClr val="FFFFFF"/>
                    </a:solidFill>
                  </a:tcPr>
                </a:tc>
                <a:tc>
                  <a:txBody>
                    <a:bodyPr wrap="square"/>
                    <a:lstStyle/>
                    <a:p>
                      <a:pPr algn="l"/>
                      <a:r>
                        <a:rPr sz="1150" b="0">
                          <a:solidFill>
                            <a:srgbClr val="1A2B3C"/>
                          </a:solidFill>
                          <a:latin typeface="Arial"/>
                        </a:rPr>
                        <a:t>Service / secondary</a:t>
                      </a:r>
                    </a:p>
                  </a:txBody>
                  <a:tcPr anchor="ctr" marL="91440" marR="73152" marT="27432" marB="27432">
                    <a:solidFill>
                      <a:srgbClr val="FFFFFF"/>
                    </a:solidFill>
                  </a:tcPr>
                </a:tc>
              </a:tr>
              <a:tr h="424281">
                <a:tc>
                  <a:txBody>
                    <a:bodyPr wrap="square"/>
                    <a:lstStyle/>
                    <a:p>
                      <a:pPr algn="l"/>
                      <a:r>
                        <a:rPr sz="1150" b="1">
                          <a:solidFill>
                            <a:srgbClr val="0B2545"/>
                          </a:solidFill>
                          <a:latin typeface="Arial"/>
                        </a:rPr>
                        <a:t>301 V – 750 V</a:t>
                      </a:r>
                    </a:p>
                  </a:txBody>
                  <a:tcPr anchor="ctr" marL="91440" marR="73152" marT="27432" marB="27432">
                    <a:solidFill>
                      <a:srgbClr val="EEF2F7"/>
                    </a:solidFill>
                  </a:tcPr>
                </a:tc>
                <a:tc>
                  <a:txBody>
                    <a:bodyPr wrap="square"/>
                    <a:lstStyle/>
                    <a:p>
                      <a:pPr algn="l"/>
                      <a:r>
                        <a:rPr sz="1150" b="0">
                          <a:solidFill>
                            <a:srgbClr val="1A2B3C"/>
                          </a:solidFill>
                          <a:latin typeface="Arial"/>
                        </a:rPr>
                        <a:t>~1 ft 1 in</a:t>
                      </a:r>
                    </a:p>
                  </a:txBody>
                  <a:tcPr anchor="ctr" marL="91440" marR="73152" marT="27432" marB="27432">
                    <a:solidFill>
                      <a:srgbClr val="EEF2F7"/>
                    </a:solidFill>
                  </a:tcPr>
                </a:tc>
                <a:tc>
                  <a:txBody>
                    <a:bodyPr wrap="square"/>
                    <a:lstStyle/>
                    <a:p>
                      <a:pPr algn="l"/>
                      <a:r>
                        <a:rPr sz="1150" b="0">
                          <a:solidFill>
                            <a:srgbClr val="1A2B3C"/>
                          </a:solidFill>
                          <a:latin typeface="Arial"/>
                        </a:rPr>
                        <a:t>Secondary / street light</a:t>
                      </a:r>
                    </a:p>
                  </a:txBody>
                  <a:tcPr anchor="ctr" marL="91440" marR="73152" marT="27432" marB="27432">
                    <a:solidFill>
                      <a:srgbClr val="EEF2F7"/>
                    </a:solidFill>
                  </a:tcPr>
                </a:tc>
              </a:tr>
              <a:tr h="424281">
                <a:tc>
                  <a:txBody>
                    <a:bodyPr wrap="square"/>
                    <a:lstStyle/>
                    <a:p>
                      <a:pPr algn="l"/>
                      <a:r>
                        <a:rPr sz="1150" b="1">
                          <a:solidFill>
                            <a:srgbClr val="0B2545"/>
                          </a:solidFill>
                          <a:latin typeface="Arial"/>
                        </a:rPr>
                        <a:t>751 V – 15 kV</a:t>
                      </a:r>
                    </a:p>
                  </a:txBody>
                  <a:tcPr anchor="ctr" marL="91440" marR="73152" marT="27432" marB="27432">
                    <a:solidFill>
                      <a:srgbClr val="FFFFFF"/>
                    </a:solidFill>
                  </a:tcPr>
                </a:tc>
                <a:tc>
                  <a:txBody>
                    <a:bodyPr wrap="square"/>
                    <a:lstStyle/>
                    <a:p>
                      <a:pPr algn="l"/>
                      <a:r>
                        <a:rPr sz="1150" b="0">
                          <a:solidFill>
                            <a:srgbClr val="1A2B3C"/>
                          </a:solidFill>
                          <a:latin typeface="Arial"/>
                        </a:rPr>
                        <a:t>~2 ft 2 in</a:t>
                      </a:r>
                    </a:p>
                  </a:txBody>
                  <a:tcPr anchor="ctr" marL="91440" marR="73152" marT="27432" marB="27432">
                    <a:solidFill>
                      <a:srgbClr val="FFFFFF"/>
                    </a:solidFill>
                  </a:tcPr>
                </a:tc>
                <a:tc>
                  <a:txBody>
                    <a:bodyPr wrap="square"/>
                    <a:lstStyle/>
                    <a:p>
                      <a:pPr algn="l"/>
                      <a:r>
                        <a:rPr sz="1150" b="0">
                          <a:solidFill>
                            <a:srgbClr val="1A2B3C"/>
                          </a:solidFill>
                          <a:latin typeface="Arial"/>
                        </a:rPr>
                        <a:t>Distribution primary</a:t>
                      </a:r>
                    </a:p>
                  </a:txBody>
                  <a:tcPr anchor="ctr" marL="91440" marR="73152" marT="27432" marB="27432">
                    <a:solidFill>
                      <a:srgbClr val="FFFFFF"/>
                    </a:solidFill>
                  </a:tcPr>
                </a:tc>
              </a:tr>
              <a:tr h="424281">
                <a:tc>
                  <a:txBody>
                    <a:bodyPr wrap="square"/>
                    <a:lstStyle/>
                    <a:p>
                      <a:pPr algn="l"/>
                      <a:r>
                        <a:rPr sz="1150" b="1">
                          <a:solidFill>
                            <a:srgbClr val="0B2545"/>
                          </a:solidFill>
                          <a:latin typeface="Arial"/>
                        </a:rPr>
                        <a:t>15.1 kV – 36 kV</a:t>
                      </a:r>
                    </a:p>
                  </a:txBody>
                  <a:tcPr anchor="ctr" marL="91440" marR="73152" marT="27432" marB="27432">
                    <a:solidFill>
                      <a:srgbClr val="EEF2F7"/>
                    </a:solidFill>
                  </a:tcPr>
                </a:tc>
                <a:tc>
                  <a:txBody>
                    <a:bodyPr wrap="square"/>
                    <a:lstStyle/>
                    <a:p>
                      <a:pPr algn="l"/>
                      <a:r>
                        <a:rPr sz="1150" b="0">
                          <a:solidFill>
                            <a:srgbClr val="1A2B3C"/>
                          </a:solidFill>
                          <a:latin typeface="Arial"/>
                        </a:rPr>
                        <a:t>~2 ft 7 in</a:t>
                      </a:r>
                    </a:p>
                  </a:txBody>
                  <a:tcPr anchor="ctr" marL="91440" marR="73152" marT="27432" marB="27432">
                    <a:solidFill>
                      <a:srgbClr val="EEF2F7"/>
                    </a:solidFill>
                  </a:tcPr>
                </a:tc>
                <a:tc>
                  <a:txBody>
                    <a:bodyPr wrap="square"/>
                    <a:lstStyle/>
                    <a:p>
                      <a:pPr algn="l"/>
                      <a:r>
                        <a:rPr sz="1150" b="0">
                          <a:solidFill>
                            <a:srgbClr val="1A2B3C"/>
                          </a:solidFill>
                          <a:latin typeface="Arial"/>
                        </a:rPr>
                        <a:t>Distribution / sub-transmission</a:t>
                      </a:r>
                    </a:p>
                  </a:txBody>
                  <a:tcPr anchor="ctr" marL="91440" marR="73152" marT="27432" marB="27432">
                    <a:solidFill>
                      <a:srgbClr val="EEF2F7"/>
                    </a:solidFill>
                  </a:tcPr>
                </a:tc>
              </a:tr>
              <a:tr h="424281">
                <a:tc>
                  <a:txBody>
                    <a:bodyPr wrap="square"/>
                    <a:lstStyle/>
                    <a:p>
                      <a:pPr algn="l"/>
                      <a:r>
                        <a:rPr sz="1150" b="1">
                          <a:solidFill>
                            <a:srgbClr val="0B2545"/>
                          </a:solidFill>
                          <a:latin typeface="Arial"/>
                        </a:rPr>
                        <a:t>36.1 kV – 46 kV</a:t>
                      </a:r>
                    </a:p>
                  </a:txBody>
                  <a:tcPr anchor="ctr" marL="91440" marR="73152" marT="27432" marB="27432">
                    <a:solidFill>
                      <a:srgbClr val="FFFFFF"/>
                    </a:solidFill>
                  </a:tcPr>
                </a:tc>
                <a:tc>
                  <a:txBody>
                    <a:bodyPr wrap="square"/>
                    <a:lstStyle/>
                    <a:p>
                      <a:pPr algn="l"/>
                      <a:r>
                        <a:rPr sz="1150" b="0">
                          <a:solidFill>
                            <a:srgbClr val="1A2B3C"/>
                          </a:solidFill>
                          <a:latin typeface="Arial"/>
                        </a:rPr>
                        <a:t>~2 ft 9 in</a:t>
                      </a:r>
                    </a:p>
                  </a:txBody>
                  <a:tcPr anchor="ctr" marL="91440" marR="73152" marT="27432" marB="27432">
                    <a:solidFill>
                      <a:srgbClr val="FFFFFF"/>
                    </a:solidFill>
                  </a:tcPr>
                </a:tc>
                <a:tc>
                  <a:txBody>
                    <a:bodyPr wrap="square"/>
                    <a:lstStyle/>
                    <a:p>
                      <a:pPr algn="l"/>
                      <a:r>
                        <a:rPr sz="1150" b="0">
                          <a:solidFill>
                            <a:srgbClr val="1A2B3C"/>
                          </a:solidFill>
                          <a:latin typeface="Arial"/>
                        </a:rPr>
                        <a:t>Sub-transmission</a:t>
                      </a:r>
                    </a:p>
                  </a:txBody>
                  <a:tcPr anchor="ctr" marL="91440" marR="73152" marT="27432" marB="27432">
                    <a:solidFill>
                      <a:srgbClr val="FFFFFF"/>
                    </a:solidFill>
                  </a:tcPr>
                </a:tc>
              </a:tr>
              <a:tr h="424281">
                <a:tc>
                  <a:txBody>
                    <a:bodyPr wrap="square"/>
                    <a:lstStyle/>
                    <a:p>
                      <a:pPr algn="l"/>
                      <a:r>
                        <a:rPr sz="1150" b="1">
                          <a:solidFill>
                            <a:srgbClr val="0B2545"/>
                          </a:solidFill>
                          <a:latin typeface="Arial"/>
                        </a:rPr>
                        <a:t>46.1 kV – 72.5 kV</a:t>
                      </a:r>
                    </a:p>
                  </a:txBody>
                  <a:tcPr anchor="ctr" marL="91440" marR="73152" marT="27432" marB="27432">
                    <a:solidFill>
                      <a:srgbClr val="EEF2F7"/>
                    </a:solidFill>
                  </a:tcPr>
                </a:tc>
                <a:tc>
                  <a:txBody>
                    <a:bodyPr wrap="square"/>
                    <a:lstStyle/>
                    <a:p>
                      <a:pPr algn="l"/>
                      <a:r>
                        <a:rPr sz="1150" b="0">
                          <a:solidFill>
                            <a:srgbClr val="1A2B3C"/>
                          </a:solidFill>
                          <a:latin typeface="Arial"/>
                        </a:rPr>
                        <a:t>~3 ft 3 in</a:t>
                      </a:r>
                    </a:p>
                  </a:txBody>
                  <a:tcPr anchor="ctr" marL="91440" marR="73152" marT="27432" marB="27432">
                    <a:solidFill>
                      <a:srgbClr val="EEF2F7"/>
                    </a:solidFill>
                  </a:tcPr>
                </a:tc>
                <a:tc>
                  <a:txBody>
                    <a:bodyPr wrap="square"/>
                    <a:lstStyle/>
                    <a:p>
                      <a:pPr algn="l"/>
                      <a:r>
                        <a:rPr sz="1150" b="0">
                          <a:solidFill>
                            <a:srgbClr val="1A2B3C"/>
                          </a:solidFill>
                          <a:latin typeface="Arial"/>
                        </a:rPr>
                        <a:t>Sub-transmission</a:t>
                      </a:r>
                    </a:p>
                  </a:txBody>
                  <a:tcPr anchor="ctr" marL="91440" marR="73152" marT="27432" marB="27432">
                    <a:solidFill>
                      <a:srgbClr val="EEF2F7"/>
                    </a:solidFill>
                  </a:tcPr>
                </a:tc>
              </a:tr>
              <a:tr h="424281">
                <a:tc>
                  <a:txBody>
                    <a:bodyPr wrap="square"/>
                    <a:lstStyle/>
                    <a:p>
                      <a:pPr algn="l"/>
                      <a:r>
                        <a:rPr sz="1150" b="1">
                          <a:solidFill>
                            <a:srgbClr val="0B2545"/>
                          </a:solidFill>
                          <a:latin typeface="Arial"/>
                        </a:rPr>
                        <a:t>72.6 kV – 121 kV</a:t>
                      </a:r>
                    </a:p>
                  </a:txBody>
                  <a:tcPr anchor="ctr" marL="91440" marR="73152" marT="27432" marB="27432">
                    <a:solidFill>
                      <a:srgbClr val="FFFFFF"/>
                    </a:solidFill>
                  </a:tcPr>
                </a:tc>
                <a:tc>
                  <a:txBody>
                    <a:bodyPr wrap="square"/>
                    <a:lstStyle/>
                    <a:p>
                      <a:pPr algn="l"/>
                      <a:r>
                        <a:rPr sz="1150" b="0">
                          <a:solidFill>
                            <a:srgbClr val="1A2B3C"/>
                          </a:solidFill>
                          <a:latin typeface="Arial"/>
                        </a:rPr>
                        <a:t>~3 ft 4 in</a:t>
                      </a:r>
                    </a:p>
                  </a:txBody>
                  <a:tcPr anchor="ctr" marL="91440" marR="73152" marT="27432" marB="27432">
                    <a:solidFill>
                      <a:srgbClr val="FFFFFF"/>
                    </a:solidFill>
                  </a:tcPr>
                </a:tc>
                <a:tc>
                  <a:txBody>
                    <a:bodyPr wrap="square"/>
                    <a:lstStyle/>
                    <a:p>
                      <a:pPr algn="l"/>
                      <a:r>
                        <a:rPr sz="1150" b="0">
                          <a:solidFill>
                            <a:srgbClr val="1A2B3C"/>
                          </a:solidFill>
                          <a:latin typeface="Arial"/>
                        </a:rPr>
                        <a:t>Transmission</a:t>
                      </a:r>
                    </a:p>
                  </a:txBody>
                  <a:tcPr anchor="ctr" marL="91440" marR="73152" marT="27432" marB="27432">
                    <a:solidFill>
                      <a:srgbClr val="FFFFFF"/>
                    </a:solidFill>
                  </a:tcPr>
                </a:tc>
              </a:tr>
              <a:tr h="424281">
                <a:tc>
                  <a:txBody>
                    <a:bodyPr wrap="square"/>
                    <a:lstStyle/>
                    <a:p>
                      <a:pPr algn="l"/>
                      <a:r>
                        <a:rPr sz="1150" b="1">
                          <a:solidFill>
                            <a:srgbClr val="0B2545"/>
                          </a:solidFill>
                          <a:latin typeface="Arial"/>
                        </a:rPr>
                        <a:t>138 kV – 145 kV</a:t>
                      </a:r>
                    </a:p>
                  </a:txBody>
                  <a:tcPr anchor="ctr" marL="91440" marR="73152" marT="27432" marB="27432">
                    <a:solidFill>
                      <a:srgbClr val="EEF2F7"/>
                    </a:solidFill>
                  </a:tcPr>
                </a:tc>
                <a:tc>
                  <a:txBody>
                    <a:bodyPr wrap="square"/>
                    <a:lstStyle/>
                    <a:p>
                      <a:pPr algn="l"/>
                      <a:r>
                        <a:rPr sz="1150" b="0">
                          <a:solidFill>
                            <a:srgbClr val="1A2B3C"/>
                          </a:solidFill>
                          <a:latin typeface="Arial"/>
                        </a:rPr>
                        <a:t>~3 ft 7 in</a:t>
                      </a:r>
                    </a:p>
                  </a:txBody>
                  <a:tcPr anchor="ctr" marL="91440" marR="73152" marT="27432" marB="27432">
                    <a:solidFill>
                      <a:srgbClr val="EEF2F7"/>
                    </a:solidFill>
                  </a:tcPr>
                </a:tc>
                <a:tc>
                  <a:txBody>
                    <a:bodyPr wrap="square"/>
                    <a:lstStyle/>
                    <a:p>
                      <a:pPr algn="l"/>
                      <a:r>
                        <a:rPr sz="1150" b="0">
                          <a:solidFill>
                            <a:srgbClr val="1A2B3C"/>
                          </a:solidFill>
                          <a:latin typeface="Arial"/>
                        </a:rPr>
                        <a:t>Transmission</a:t>
                      </a:r>
                    </a:p>
                  </a:txBody>
                  <a:tcPr anchor="ctr" marL="91440" marR="73152" marT="27432" marB="27432">
                    <a:solidFill>
                      <a:srgbClr val="EEF2F7"/>
                    </a:solidFill>
                  </a:tcPr>
                </a:tc>
              </a:tr>
              <a:tr h="424287">
                <a:tc>
                  <a:txBody>
                    <a:bodyPr wrap="square"/>
                    <a:lstStyle/>
                    <a:p>
                      <a:pPr algn="l"/>
                      <a:r>
                        <a:rPr sz="1150" b="1">
                          <a:solidFill>
                            <a:srgbClr val="0B2545"/>
                          </a:solidFill>
                          <a:latin typeface="Arial"/>
                        </a:rPr>
                        <a:t>230 kV</a:t>
                      </a:r>
                    </a:p>
                  </a:txBody>
                  <a:tcPr anchor="ctr" marL="91440" marR="73152" marT="27432" marB="27432">
                    <a:solidFill>
                      <a:srgbClr val="FFFFFF"/>
                    </a:solidFill>
                  </a:tcPr>
                </a:tc>
                <a:tc>
                  <a:txBody>
                    <a:bodyPr wrap="square"/>
                    <a:lstStyle/>
                    <a:p>
                      <a:pPr algn="l"/>
                      <a:r>
                        <a:rPr sz="1150" b="0">
                          <a:solidFill>
                            <a:srgbClr val="1A2B3C"/>
                          </a:solidFill>
                          <a:latin typeface="Arial"/>
                        </a:rPr>
                        <a:t>~5 ft 3 in</a:t>
                      </a:r>
                    </a:p>
                  </a:txBody>
                  <a:tcPr anchor="ctr" marL="91440" marR="73152" marT="27432" marB="27432">
                    <a:solidFill>
                      <a:srgbClr val="FFFFFF"/>
                    </a:solidFill>
                  </a:tcPr>
                </a:tc>
                <a:tc>
                  <a:txBody>
                    <a:bodyPr wrap="square"/>
                    <a:lstStyle/>
                    <a:p>
                      <a:pPr algn="l"/>
                      <a:r>
                        <a:rPr sz="1150" b="0">
                          <a:solidFill>
                            <a:srgbClr val="1A2B3C"/>
                          </a:solidFill>
                          <a:latin typeface="Arial"/>
                        </a:rPr>
                        <a:t>Bulk transmission</a:t>
                      </a:r>
                    </a:p>
                  </a:txBody>
                  <a:tcPr anchor="ctr" marL="91440" marR="73152" marT="27432" marB="27432">
                    <a:solidFill>
                      <a:srgbClr val="FFFFFF"/>
                    </a:solidFill>
                  </a:tcPr>
                </a:tc>
              </a:tr>
            </a:tbl>
          </a:graphicData>
        </a:graphic>
      </p:graphicFrame>
      <p:sp>
        <p:nvSpPr>
          <p:cNvPr id="8" name="TextBox 7"/>
          <p:cNvSpPr txBox="1"/>
          <p:nvPr/>
        </p:nvSpPr>
        <p:spPr>
          <a:xfrm>
            <a:off x="658368" y="6236208"/>
            <a:ext cx="10881360" cy="822960"/>
          </a:xfrm>
          <a:prstGeom prst="rect">
            <a:avLst/>
          </a:prstGeom>
          <a:noFill/>
        </p:spPr>
        <p:txBody>
          <a:bodyPr wrap="square" anchor="t" lIns="0" rIns="0" tIns="0" bIns="0">
            <a:spAutoFit/>
          </a:bodyPr>
          <a:lstStyle/>
          <a:p>
            <a:pPr algn="l">
              <a:lnSpc>
                <a:spcPct val="110000"/>
              </a:lnSpc>
              <a:spcBef>
                <a:spcPts val="400"/>
              </a:spcBef>
              <a:spcAft>
                <a:spcPts val="400"/>
              </a:spcAft>
            </a:pPr>
            <a:r>
              <a:rPr sz="1200" b="0" i="1">
                <a:solidFill>
                  <a:srgbClr val="5B6B7B"/>
                </a:solidFill>
                <a:latin typeface="Arial"/>
              </a:rPr>
              <a:t>ILLUSTRATIVE ONLY — distances vary with altitude, transient over-voltage factor, and the governing edition of OSHA 1910.269 Table R-3 / R-6. ALWAYS use your employer's current, approved MAD table.</a:t>
            </a:r>
          </a:p>
        </p:txBody>
      </p:sp>
      <p:sp>
        <p:nvSpPr>
          <p:cNvPr id="9" name="Rectangle 8"/>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3 — Working Energized</a:t>
            </a:r>
          </a:p>
        </p:txBody>
      </p:sp>
      <p:sp>
        <p:nvSpPr>
          <p:cNvPr id="11" name="TextBox 10"/>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3.3 SECOND POINT OF CONTACT</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The Second Point of Contact — The Concept That Saves Lives</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783080"/>
            <a:ext cx="6949440" cy="4297680"/>
          </a:xfrm>
          <a:prstGeom prst="rect">
            <a:avLst/>
          </a:prstGeom>
          <a:noFill/>
        </p:spPr>
        <p:txBody>
          <a:bodyPr wrap="square" anchor="t" lIns="0" rIns="0" tIns="0" bIns="0">
            <a:spAutoFit/>
          </a:bodyPr>
          <a:lstStyle/>
          <a:p>
            <a:pPr algn="l">
              <a:lnSpc>
                <a:spcPct val="105000"/>
              </a:lnSpc>
              <a:spcBef>
                <a:spcPts val="700"/>
              </a:spcBef>
              <a:spcAft>
                <a:spcPts val="200"/>
              </a:spcAft>
            </a:pPr>
            <a:r>
              <a:rPr sz="1700" b="0" i="0">
                <a:solidFill>
                  <a:srgbClr val="1A2B3C"/>
                </a:solidFill>
                <a:latin typeface="Arial"/>
              </a:rPr>
              <a:t>■  Current can only flow when it has a complete path: a source, a load/body, and a return</a:t>
            </a:r>
          </a:p>
          <a:p>
            <a:pPr algn="l">
              <a:lnSpc>
                <a:spcPct val="105000"/>
              </a:lnSpc>
              <a:spcBef>
                <a:spcPts val="700"/>
              </a:spcBef>
              <a:spcAft>
                <a:spcPts val="200"/>
              </a:spcAft>
            </a:pPr>
            <a:r>
              <a:rPr sz="1700" b="0" i="0">
                <a:solidFill>
                  <a:srgbClr val="1A2B3C"/>
                </a:solidFill>
                <a:latin typeface="Arial"/>
              </a:rPr>
              <a:t>■  Touching ONE energized conductor while perfectly insulated from everything else = no path</a:t>
            </a:r>
          </a:p>
          <a:p>
            <a:pPr algn="l" lvl="1">
              <a:lnSpc>
                <a:spcPct val="102000"/>
              </a:lnSpc>
              <a:spcBef>
                <a:spcPts val="200"/>
              </a:spcBef>
              <a:spcAft>
                <a:spcPts val="100"/>
              </a:spcAft>
            </a:pPr>
            <a:r>
              <a:rPr sz="1400" b="0" i="0">
                <a:solidFill>
                  <a:srgbClr val="334455"/>
                </a:solidFill>
                <a:latin typeface="Arial"/>
              </a:rPr>
              <a:t>–  This is why a bird sits on a wire unharmed — it is at one potential, with no second contact</a:t>
            </a:r>
          </a:p>
          <a:p>
            <a:pPr algn="l">
              <a:lnSpc>
                <a:spcPct val="105000"/>
              </a:lnSpc>
              <a:spcBef>
                <a:spcPts val="700"/>
              </a:spcBef>
              <a:spcAft>
                <a:spcPts val="200"/>
              </a:spcAft>
            </a:pPr>
            <a:r>
              <a:rPr sz="1700" b="0" i="0">
                <a:solidFill>
                  <a:srgbClr val="1A2B3C"/>
                </a:solidFill>
                <a:latin typeface="Arial"/>
              </a:rPr>
              <a:t>■  The SECOND POINT OF CONTACT is what completes the circuit through you:</a:t>
            </a:r>
          </a:p>
          <a:p>
            <a:pPr algn="l" lvl="1">
              <a:lnSpc>
                <a:spcPct val="102000"/>
              </a:lnSpc>
              <a:spcBef>
                <a:spcPts val="200"/>
              </a:spcBef>
              <a:spcAft>
                <a:spcPts val="100"/>
              </a:spcAft>
            </a:pPr>
            <a:r>
              <a:rPr sz="1400" b="0" i="0">
                <a:solidFill>
                  <a:srgbClr val="334455"/>
                </a:solidFill>
                <a:latin typeface="Arial"/>
              </a:rPr>
              <a:t>–  A grounded neutral, a guy wire, a pole ground, a crossarm, the structure</a:t>
            </a:r>
          </a:p>
          <a:p>
            <a:pPr algn="l" lvl="1">
              <a:lnSpc>
                <a:spcPct val="102000"/>
              </a:lnSpc>
              <a:spcBef>
                <a:spcPts val="200"/>
              </a:spcBef>
              <a:spcAft>
                <a:spcPts val="100"/>
              </a:spcAft>
            </a:pPr>
            <a:r>
              <a:rPr sz="1400" b="0" i="0">
                <a:solidFill>
                  <a:srgbClr val="334455"/>
                </a:solidFill>
                <a:latin typeface="Arial"/>
              </a:rPr>
              <a:t>–  Another phase at a different potential (phase-to-phase — even more dangerous)</a:t>
            </a:r>
          </a:p>
          <a:p>
            <a:pPr algn="l" lvl="1">
              <a:lnSpc>
                <a:spcPct val="102000"/>
              </a:lnSpc>
              <a:spcBef>
                <a:spcPts val="200"/>
              </a:spcBef>
              <a:spcAft>
                <a:spcPts val="100"/>
              </a:spcAft>
            </a:pPr>
            <a:r>
              <a:rPr sz="1400" b="0" i="0">
                <a:solidFill>
                  <a:srgbClr val="334455"/>
                </a:solidFill>
                <a:latin typeface="Arial"/>
              </a:rPr>
              <a:t>–  A co-worker, a tool, the bucket, a wet rope, the truck</a:t>
            </a:r>
          </a:p>
          <a:p>
            <a:pPr algn="l">
              <a:lnSpc>
                <a:spcPct val="105000"/>
              </a:lnSpc>
              <a:spcBef>
                <a:spcPts val="700"/>
              </a:spcBef>
              <a:spcAft>
                <a:spcPts val="200"/>
              </a:spcAft>
            </a:pPr>
            <a:r>
              <a:rPr sz="1700" b="0" i="0">
                <a:solidFill>
                  <a:srgbClr val="1A2B3C"/>
                </a:solidFill>
                <a:latin typeface="Arial"/>
              </a:rPr>
              <a:t>■  Eliminate the second point of contact and you eliminate the shock — every time</a:t>
            </a:r>
          </a:p>
        </p:txBody>
      </p:sp>
      <p:sp>
        <p:nvSpPr>
          <p:cNvPr id="8" name="Rounded Rectangle 7"/>
          <p:cNvSpPr/>
          <p:nvPr/>
        </p:nvSpPr>
        <p:spPr>
          <a:xfrm>
            <a:off x="7863840" y="1874519"/>
            <a:ext cx="3776472" cy="3931920"/>
          </a:xfrm>
          <a:prstGeom prst="roundRect">
            <a:avLst/>
          </a:prstGeom>
          <a:solidFill>
            <a:srgbClr val="FBEAE7"/>
          </a:solidFill>
          <a:ln w="19050">
            <a:solidFill>
              <a:srgbClr val="D435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863840" y="1874519"/>
            <a:ext cx="3776472" cy="548640"/>
          </a:xfrm>
          <a:prstGeom prst="roundRect">
            <a:avLst/>
          </a:prstGeom>
          <a:solidFill>
            <a:srgbClr val="D43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63840" y="2148839"/>
            <a:ext cx="3776472" cy="274320"/>
          </a:xfrm>
          <a:prstGeom prst="rect">
            <a:avLst/>
          </a:prstGeom>
          <a:solidFill>
            <a:srgbClr val="D43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92440" y="1920239"/>
            <a:ext cx="3319272" cy="475488"/>
          </a:xfrm>
          <a:prstGeom prst="rect">
            <a:avLst/>
          </a:prstGeom>
          <a:noFill/>
        </p:spPr>
        <p:txBody>
          <a:bodyPr wrap="square" anchor="ctr" lIns="0" rIns="0" tIns="0" bIns="0">
            <a:spAutoFit/>
          </a:bodyPr>
          <a:lstStyle/>
          <a:p>
            <a:pPr algn="l">
              <a:lnSpc>
                <a:spcPct val="105000"/>
              </a:lnSpc>
              <a:spcBef>
                <a:spcPts val="400"/>
              </a:spcBef>
              <a:spcAft>
                <a:spcPts val="400"/>
              </a:spcAft>
            </a:pPr>
            <a:r>
              <a:rPr sz="1400" b="1" i="0">
                <a:solidFill>
                  <a:srgbClr val="FFFFFF"/>
                </a:solidFill>
                <a:latin typeface="Arial"/>
              </a:rPr>
              <a:t>DANGER  ⚠</a:t>
            </a:r>
          </a:p>
        </p:txBody>
      </p:sp>
      <p:sp>
        <p:nvSpPr>
          <p:cNvPr id="12" name="TextBox 11"/>
          <p:cNvSpPr txBox="1"/>
          <p:nvPr/>
        </p:nvSpPr>
        <p:spPr>
          <a:xfrm>
            <a:off x="8138160" y="2587752"/>
            <a:ext cx="3227832" cy="3063239"/>
          </a:xfrm>
          <a:prstGeom prst="rect">
            <a:avLst/>
          </a:prstGeom>
          <a:noFill/>
        </p:spPr>
        <p:txBody>
          <a:bodyPr wrap="square" anchor="t" lIns="0" rIns="0" tIns="0" bIns="0">
            <a:spAutoFit/>
          </a:bodyPr>
          <a:lstStyle/>
          <a:p>
            <a:pPr algn="l">
              <a:lnSpc>
                <a:spcPct val="105000"/>
              </a:lnSpc>
              <a:spcBef>
                <a:spcPts val="400"/>
              </a:spcBef>
              <a:spcAft>
                <a:spcPts val="400"/>
              </a:spcAft>
            </a:pPr>
            <a:r>
              <a:rPr sz="1550" b="1" i="0">
                <a:solidFill>
                  <a:srgbClr val="D4351A"/>
                </a:solidFill>
                <a:latin typeface="Arial"/>
              </a:rPr>
              <a:t>The discipline</a:t>
            </a:r>
          </a:p>
          <a:p>
            <a:pPr algn="l">
              <a:lnSpc>
                <a:spcPct val="105000"/>
              </a:lnSpc>
              <a:spcBef>
                <a:spcPts val="300"/>
              </a:spcBef>
              <a:spcAft>
                <a:spcPts val="100"/>
              </a:spcAft>
            </a:pPr>
            <a:r>
              <a:rPr sz="1300" b="0" i="0">
                <a:solidFill>
                  <a:srgbClr val="1A2B3C"/>
                </a:solidFill>
                <a:latin typeface="Arial"/>
              </a:rPr>
              <a:t>–  Before you reach for ANY energized part, ask: 'Where is my second point of contact?'</a:t>
            </a:r>
          </a:p>
          <a:p>
            <a:pPr algn="l">
              <a:lnSpc>
                <a:spcPct val="105000"/>
              </a:lnSpc>
              <a:spcBef>
                <a:spcPts val="300"/>
              </a:spcBef>
              <a:spcAft>
                <a:spcPts val="100"/>
              </a:spcAft>
            </a:pPr>
            <a:r>
              <a:rPr sz="1300" b="0" i="0">
                <a:solidFill>
                  <a:srgbClr val="1A2B3C"/>
                </a:solidFill>
                <a:latin typeface="Arial"/>
              </a:rPr>
              <a:t>–  Cover it. Insulate it. Or remove yourself from it.</a:t>
            </a:r>
          </a:p>
          <a:p>
            <a:pPr algn="l">
              <a:lnSpc>
                <a:spcPct val="105000"/>
              </a:lnSpc>
              <a:spcBef>
                <a:spcPts val="300"/>
              </a:spcBef>
              <a:spcAft>
                <a:spcPts val="100"/>
              </a:spcAft>
            </a:pPr>
            <a:r>
              <a:rPr sz="1300" b="0" i="0">
                <a:solidFill>
                  <a:srgbClr val="1A2B3C"/>
                </a:solidFill>
                <a:latin typeface="Arial"/>
              </a:rPr>
              <a:t>–  Most electrocutions are NOT phase-to-phase — they are phase-to-GROUND through a missed second point.</a:t>
            </a:r>
          </a:p>
        </p:txBody>
      </p:sp>
      <p:sp>
        <p:nvSpPr>
          <p:cNvPr id="13" name="Rectangle 12"/>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3 — Working Energized</a:t>
            </a:r>
          </a:p>
        </p:txBody>
      </p:sp>
      <p:sp>
        <p:nvSpPr>
          <p:cNvPr id="15" name="TextBox 14"/>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3.3 APPLICATION</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Finding Your Second Point of Contact — Every Time</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27632"/>
            <a:ext cx="10881360" cy="548640"/>
          </a:xfrm>
          <a:prstGeom prst="rect">
            <a:avLst/>
          </a:prstGeom>
          <a:noFill/>
        </p:spPr>
        <p:txBody>
          <a:bodyPr wrap="square" anchor="t" lIns="0" rIns="0" tIns="0" bIns="0">
            <a:spAutoFit/>
          </a:bodyPr>
          <a:lstStyle/>
          <a:p>
            <a:pPr algn="l">
              <a:lnSpc>
                <a:spcPct val="105000"/>
              </a:lnSpc>
              <a:spcBef>
                <a:spcPts val="400"/>
              </a:spcBef>
              <a:spcAft>
                <a:spcPts val="400"/>
              </a:spcAft>
            </a:pPr>
            <a:r>
              <a:rPr sz="1550" b="0" i="1">
                <a:solidFill>
                  <a:srgbClr val="5B6B7B"/>
                </a:solidFill>
                <a:latin typeface="Arial"/>
              </a:rPr>
              <a:t>Rubber gloves alone are not the answer — you must also control what else you could touch.</a:t>
            </a:r>
          </a:p>
        </p:txBody>
      </p:sp>
      <p:sp>
        <p:nvSpPr>
          <p:cNvPr id="8" name="TextBox 7"/>
          <p:cNvSpPr txBox="1"/>
          <p:nvPr/>
        </p:nvSpPr>
        <p:spPr>
          <a:xfrm>
            <a:off x="658368" y="2240280"/>
            <a:ext cx="10927080" cy="3703320"/>
          </a:xfrm>
          <a:prstGeom prst="rect">
            <a:avLst/>
          </a:prstGeom>
          <a:noFill/>
        </p:spPr>
        <p:txBody>
          <a:bodyPr wrap="square" anchor="t" lIns="0" rIns="0" tIns="0" bIns="0">
            <a:spAutoFit/>
          </a:bodyPr>
          <a:lstStyle/>
          <a:p>
            <a:pPr algn="l">
              <a:lnSpc>
                <a:spcPct val="105000"/>
              </a:lnSpc>
              <a:spcBef>
                <a:spcPts val="700"/>
              </a:spcBef>
              <a:spcAft>
                <a:spcPts val="200"/>
              </a:spcAft>
            </a:pPr>
            <a:r>
              <a:rPr sz="1800" b="0" i="0">
                <a:solidFill>
                  <a:srgbClr val="1A2B3C"/>
                </a:solidFill>
                <a:latin typeface="Arial"/>
              </a:rPr>
              <a:t>■  Scan the whole work envelope, not just the conductor you're working</a:t>
            </a:r>
          </a:p>
          <a:p>
            <a:pPr algn="l">
              <a:lnSpc>
                <a:spcPct val="105000"/>
              </a:lnSpc>
              <a:spcBef>
                <a:spcPts val="700"/>
              </a:spcBef>
              <a:spcAft>
                <a:spcPts val="200"/>
              </a:spcAft>
            </a:pPr>
            <a:r>
              <a:rPr sz="1800" b="0" i="0">
                <a:solidFill>
                  <a:srgbClr val="1A2B3C"/>
                </a:solidFill>
                <a:latin typeface="Arial"/>
              </a:rPr>
              <a:t>■  Common second points hiding in plain sight:</a:t>
            </a:r>
          </a:p>
          <a:p>
            <a:pPr algn="l" lvl="1">
              <a:lnSpc>
                <a:spcPct val="103000"/>
              </a:lnSpc>
              <a:spcBef>
                <a:spcPts val="200"/>
              </a:spcBef>
              <a:spcAft>
                <a:spcPts val="200"/>
              </a:spcAft>
            </a:pPr>
            <a:r>
              <a:rPr sz="1500" b="0" i="0">
                <a:solidFill>
                  <a:srgbClr val="334455"/>
                </a:solidFill>
                <a:latin typeface="Arial"/>
              </a:rPr>
              <a:t>–  Grounded neutral conductor (often the closest deadly path)</a:t>
            </a:r>
          </a:p>
          <a:p>
            <a:pPr algn="l" lvl="1">
              <a:lnSpc>
                <a:spcPct val="103000"/>
              </a:lnSpc>
              <a:spcBef>
                <a:spcPts val="200"/>
              </a:spcBef>
              <a:spcAft>
                <a:spcPts val="200"/>
              </a:spcAft>
            </a:pPr>
            <a:r>
              <a:rPr sz="1500" b="0" i="0">
                <a:solidFill>
                  <a:srgbClr val="334455"/>
                </a:solidFill>
                <a:latin typeface="Arial"/>
              </a:rPr>
              <a:t>–  The pole ground / ground wire, guy wires and down-guys</a:t>
            </a:r>
          </a:p>
          <a:p>
            <a:pPr algn="l" lvl="1">
              <a:lnSpc>
                <a:spcPct val="103000"/>
              </a:lnSpc>
              <a:spcBef>
                <a:spcPts val="200"/>
              </a:spcBef>
              <a:spcAft>
                <a:spcPts val="200"/>
              </a:spcAft>
            </a:pPr>
            <a:r>
              <a:rPr sz="1500" b="0" i="0">
                <a:solidFill>
                  <a:srgbClr val="334455"/>
                </a:solidFill>
                <a:latin typeface="Arial"/>
              </a:rPr>
              <a:t>–  Metal crossarm braces, bolts, staples, hardware</a:t>
            </a:r>
          </a:p>
          <a:p>
            <a:pPr algn="l" lvl="1">
              <a:lnSpc>
                <a:spcPct val="103000"/>
              </a:lnSpc>
              <a:spcBef>
                <a:spcPts val="200"/>
              </a:spcBef>
              <a:spcAft>
                <a:spcPts val="200"/>
              </a:spcAft>
            </a:pPr>
            <a:r>
              <a:rPr sz="1500" b="0" i="0">
                <a:solidFill>
                  <a:srgbClr val="334455"/>
                </a:solidFill>
                <a:latin typeface="Arial"/>
              </a:rPr>
              <a:t>–  Other phases above, below, or behind you</a:t>
            </a:r>
          </a:p>
          <a:p>
            <a:pPr algn="l" lvl="1">
              <a:lnSpc>
                <a:spcPct val="103000"/>
              </a:lnSpc>
              <a:spcBef>
                <a:spcPts val="200"/>
              </a:spcBef>
              <a:spcAft>
                <a:spcPts val="200"/>
              </a:spcAft>
            </a:pPr>
            <a:r>
              <a:rPr sz="1500" b="0" i="0">
                <a:solidFill>
                  <a:srgbClr val="334455"/>
                </a:solidFill>
                <a:latin typeface="Arial"/>
              </a:rPr>
              <a:t>–  Transformer cases, capacitor banks, riser/cable terminations</a:t>
            </a:r>
          </a:p>
          <a:p>
            <a:pPr algn="l" lvl="1">
              <a:lnSpc>
                <a:spcPct val="103000"/>
              </a:lnSpc>
              <a:spcBef>
                <a:spcPts val="200"/>
              </a:spcBef>
              <a:spcAft>
                <a:spcPts val="200"/>
              </a:spcAft>
            </a:pPr>
            <a:r>
              <a:rPr sz="1500" b="0" i="0">
                <a:solidFill>
                  <a:srgbClr val="334455"/>
                </a:solidFill>
                <a:latin typeface="Arial"/>
              </a:rPr>
              <a:t>–  The bucket lip, jib, winch line, hand line, or another worker</a:t>
            </a:r>
          </a:p>
          <a:p>
            <a:pPr algn="l">
              <a:lnSpc>
                <a:spcPct val="105000"/>
              </a:lnSpc>
              <a:spcBef>
                <a:spcPts val="700"/>
              </a:spcBef>
              <a:spcAft>
                <a:spcPts val="200"/>
              </a:spcAft>
            </a:pPr>
            <a:r>
              <a:rPr sz="1800" b="0" i="0">
                <a:solidFill>
                  <a:srgbClr val="1A2B3C"/>
                </a:solidFill>
                <a:latin typeface="Arial"/>
              </a:rPr>
              <a:t>■  Work to keep yourself, your tools, and the energized part isolated from all of them</a:t>
            </a:r>
          </a:p>
          <a:p>
            <a:pPr algn="l">
              <a:lnSpc>
                <a:spcPct val="105000"/>
              </a:lnSpc>
              <a:spcBef>
                <a:spcPts val="700"/>
              </a:spcBef>
              <a:spcAft>
                <a:spcPts val="200"/>
              </a:spcAft>
            </a:pPr>
            <a:r>
              <a:rPr sz="1800" b="0" i="0">
                <a:solidFill>
                  <a:srgbClr val="1A2B3C"/>
                </a:solidFill>
                <a:latin typeface="Arial"/>
              </a:rPr>
              <a:t>■  Glove AND cover: rubber gloves protect your hands; cover-up protects against the SECOND point</a:t>
            </a:r>
          </a:p>
        </p:txBody>
      </p:sp>
      <p:sp>
        <p:nvSpPr>
          <p:cNvPr id="9" name="Rectangle 8"/>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3 — Working Energized</a:t>
            </a:r>
          </a:p>
        </p:txBody>
      </p:sp>
      <p:sp>
        <p:nvSpPr>
          <p:cNvPr id="11" name="TextBox 10"/>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3.4 TWO METHODS</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Insulate &amp; Isolate — The Two Methods of Protection</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783080"/>
            <a:ext cx="10927080" cy="4160520"/>
          </a:xfrm>
          <a:prstGeom prst="rect">
            <a:avLst/>
          </a:prstGeom>
          <a:noFill/>
        </p:spPr>
        <p:txBody>
          <a:bodyPr wrap="square" anchor="t" lIns="0" rIns="0" tIns="0" bIns="0">
            <a:spAutoFit/>
          </a:bodyPr>
          <a:lstStyle/>
          <a:p>
            <a:pPr algn="l">
              <a:lnSpc>
                <a:spcPct val="105000"/>
              </a:lnSpc>
              <a:spcBef>
                <a:spcPts val="700"/>
              </a:spcBef>
              <a:spcAft>
                <a:spcPts val="200"/>
              </a:spcAft>
            </a:pPr>
            <a:r>
              <a:rPr sz="1800" b="0" i="0">
                <a:solidFill>
                  <a:srgbClr val="1A2B3C"/>
                </a:solidFill>
                <a:latin typeface="Arial"/>
              </a:rPr>
              <a:t>■  INSULATE: place insulating barriers between the worker and energized/grounded parts</a:t>
            </a:r>
          </a:p>
          <a:p>
            <a:pPr algn="l" lvl="1">
              <a:lnSpc>
                <a:spcPct val="103000"/>
              </a:lnSpc>
              <a:spcBef>
                <a:spcPts val="200"/>
              </a:spcBef>
              <a:spcAft>
                <a:spcPts val="200"/>
              </a:spcAft>
            </a:pPr>
            <a:r>
              <a:rPr sz="1500" b="0" i="0">
                <a:solidFill>
                  <a:srgbClr val="334455"/>
                </a:solidFill>
                <a:latin typeface="Arial"/>
              </a:rPr>
              <a:t>–  Rubber gloves, sleeves, line hose, hoods, blankets — rated for the voltage</a:t>
            </a:r>
          </a:p>
          <a:p>
            <a:pPr algn="l" lvl="1">
              <a:lnSpc>
                <a:spcPct val="103000"/>
              </a:lnSpc>
              <a:spcBef>
                <a:spcPts val="200"/>
              </a:spcBef>
              <a:spcAft>
                <a:spcPts val="200"/>
              </a:spcAft>
            </a:pPr>
            <a:r>
              <a:rPr sz="1500" b="0" i="0">
                <a:solidFill>
                  <a:srgbClr val="334455"/>
                </a:solidFill>
                <a:latin typeface="Arial"/>
              </a:rPr>
              <a:t>–  Insulated tools and platforms; the dielectric boom of an aerial device</a:t>
            </a:r>
          </a:p>
          <a:p>
            <a:pPr algn="l">
              <a:lnSpc>
                <a:spcPct val="105000"/>
              </a:lnSpc>
              <a:spcBef>
                <a:spcPts val="700"/>
              </a:spcBef>
              <a:spcAft>
                <a:spcPts val="200"/>
              </a:spcAft>
            </a:pPr>
            <a:r>
              <a:rPr sz="1800" b="0" i="0">
                <a:solidFill>
                  <a:srgbClr val="1A2B3C"/>
                </a:solidFill>
                <a:latin typeface="Arial"/>
              </a:rPr>
              <a:t>■  ISOLATE: create distance/separation so no path can form</a:t>
            </a:r>
          </a:p>
          <a:p>
            <a:pPr algn="l" lvl="1">
              <a:lnSpc>
                <a:spcPct val="103000"/>
              </a:lnSpc>
              <a:spcBef>
                <a:spcPts val="200"/>
              </a:spcBef>
              <a:spcAft>
                <a:spcPts val="200"/>
              </a:spcAft>
            </a:pPr>
            <a:r>
              <a:rPr sz="1500" b="0" i="0">
                <a:solidFill>
                  <a:srgbClr val="334455"/>
                </a:solidFill>
                <a:latin typeface="Arial"/>
              </a:rPr>
              <a:t>–  Maintain MAD; reposition the work; use live-line (hot-stick) tools to keep the worker back</a:t>
            </a:r>
          </a:p>
          <a:p>
            <a:pPr algn="l">
              <a:lnSpc>
                <a:spcPct val="105000"/>
              </a:lnSpc>
              <a:spcBef>
                <a:spcPts val="700"/>
              </a:spcBef>
              <a:spcAft>
                <a:spcPts val="200"/>
              </a:spcAft>
            </a:pPr>
            <a:r>
              <a:rPr sz="1800" b="0" i="0">
                <a:solidFill>
                  <a:srgbClr val="1A2B3C"/>
                </a:solidFill>
                <a:latin typeface="Arial"/>
              </a:rPr>
              <a:t>■  Rubber-glove method: worker is insulated and works within reach — cover-up is mandatory</a:t>
            </a:r>
          </a:p>
          <a:p>
            <a:pPr algn="l">
              <a:lnSpc>
                <a:spcPct val="105000"/>
              </a:lnSpc>
              <a:spcBef>
                <a:spcPts val="700"/>
              </a:spcBef>
              <a:spcAft>
                <a:spcPts val="200"/>
              </a:spcAft>
            </a:pPr>
            <a:r>
              <a:rPr sz="1800" b="0" i="0">
                <a:solidFill>
                  <a:srgbClr val="1A2B3C"/>
                </a:solidFill>
                <a:latin typeface="Arial"/>
              </a:rPr>
              <a:t>■  Hot-stick / live-line tool method: worker stays beyond MAD and works through tools</a:t>
            </a:r>
          </a:p>
          <a:p>
            <a:pPr algn="l">
              <a:lnSpc>
                <a:spcPct val="105000"/>
              </a:lnSpc>
              <a:spcBef>
                <a:spcPts val="700"/>
              </a:spcBef>
              <a:spcAft>
                <a:spcPts val="200"/>
              </a:spcAft>
            </a:pPr>
            <a:r>
              <a:rPr sz="1800" b="0" i="0">
                <a:solidFill>
                  <a:srgbClr val="1A2B3C"/>
                </a:solidFill>
                <a:latin typeface="Arial"/>
              </a:rPr>
              <a:t>■  Bare-hand (live-line) method: worker is bonded TO the conductor at line potential — specialized, EHV</a:t>
            </a:r>
          </a:p>
        </p:txBody>
      </p:sp>
      <p:sp>
        <p:nvSpPr>
          <p:cNvPr id="8" name="Rectangle 7"/>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3 — Working Energized</a:t>
            </a:r>
          </a:p>
        </p:txBody>
      </p:sp>
      <p:sp>
        <p:nvSpPr>
          <p:cNvPr id="10" name="TextBox 9"/>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3.5 COVER-UP</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Cover-Up: Purpose &amp; Principles</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27632"/>
            <a:ext cx="10881360" cy="548640"/>
          </a:xfrm>
          <a:prstGeom prst="rect">
            <a:avLst/>
          </a:prstGeom>
          <a:noFill/>
        </p:spPr>
        <p:txBody>
          <a:bodyPr wrap="square" anchor="t" lIns="0" rIns="0" tIns="0" bIns="0">
            <a:spAutoFit/>
          </a:bodyPr>
          <a:lstStyle/>
          <a:p>
            <a:pPr algn="l">
              <a:lnSpc>
                <a:spcPct val="105000"/>
              </a:lnSpc>
              <a:spcBef>
                <a:spcPts val="400"/>
              </a:spcBef>
              <a:spcAft>
                <a:spcPts val="400"/>
              </a:spcAft>
            </a:pPr>
            <a:r>
              <a:rPr sz="1550" b="0" i="1">
                <a:solidFill>
                  <a:srgbClr val="5B6B7B"/>
                </a:solidFill>
                <a:latin typeface="Arial"/>
              </a:rPr>
              <a:t>Cover-up turns a cluttered, energized pole top into an isolated, defendable work zone.</a:t>
            </a:r>
          </a:p>
        </p:txBody>
      </p:sp>
      <p:sp>
        <p:nvSpPr>
          <p:cNvPr id="8" name="TextBox 7"/>
          <p:cNvSpPr txBox="1"/>
          <p:nvPr/>
        </p:nvSpPr>
        <p:spPr>
          <a:xfrm>
            <a:off x="658368" y="2240280"/>
            <a:ext cx="10927080" cy="3703320"/>
          </a:xfrm>
          <a:prstGeom prst="rect">
            <a:avLst/>
          </a:prstGeom>
          <a:noFill/>
        </p:spPr>
        <p:txBody>
          <a:bodyPr wrap="square" anchor="t" lIns="0" rIns="0" tIns="0" bIns="0">
            <a:spAutoFit/>
          </a:bodyPr>
          <a:lstStyle/>
          <a:p>
            <a:pPr algn="l">
              <a:lnSpc>
                <a:spcPct val="105000"/>
              </a:lnSpc>
              <a:spcBef>
                <a:spcPts val="700"/>
              </a:spcBef>
              <a:spcAft>
                <a:spcPts val="200"/>
              </a:spcAft>
            </a:pPr>
            <a:r>
              <a:rPr sz="1800" b="0" i="0">
                <a:solidFill>
                  <a:srgbClr val="1A2B3C"/>
                </a:solidFill>
                <a:latin typeface="Arial"/>
              </a:rPr>
              <a:t>■  Cover-up = installing insulating guards over energized AND grounded parts in the work zone</a:t>
            </a:r>
          </a:p>
          <a:p>
            <a:pPr algn="l">
              <a:lnSpc>
                <a:spcPct val="105000"/>
              </a:lnSpc>
              <a:spcBef>
                <a:spcPts val="700"/>
              </a:spcBef>
              <a:spcAft>
                <a:spcPts val="200"/>
              </a:spcAft>
            </a:pPr>
            <a:r>
              <a:rPr sz="1800" b="0" i="0">
                <a:solidFill>
                  <a:srgbClr val="1A2B3C"/>
                </a:solidFill>
                <a:latin typeface="Arial"/>
              </a:rPr>
              <a:t>■  Purpose: protect against accidental contact and eliminate second points of contact</a:t>
            </a:r>
          </a:p>
          <a:p>
            <a:pPr algn="l" lvl="1">
              <a:lnSpc>
                <a:spcPct val="103000"/>
              </a:lnSpc>
              <a:spcBef>
                <a:spcPts val="200"/>
              </a:spcBef>
              <a:spcAft>
                <a:spcPts val="200"/>
              </a:spcAft>
            </a:pPr>
            <a:r>
              <a:rPr sz="1500" b="0" i="0">
                <a:solidFill>
                  <a:srgbClr val="334455"/>
                </a:solidFill>
                <a:latin typeface="Arial"/>
              </a:rPr>
              <a:t>–  It is secondary protection — it backs up your gloves, MAD, and positioning</a:t>
            </a:r>
          </a:p>
          <a:p>
            <a:pPr algn="l">
              <a:lnSpc>
                <a:spcPct val="105000"/>
              </a:lnSpc>
              <a:spcBef>
                <a:spcPts val="700"/>
              </a:spcBef>
              <a:spcAft>
                <a:spcPts val="200"/>
              </a:spcAft>
            </a:pPr>
            <a:r>
              <a:rPr sz="1800" b="0" i="0">
                <a:solidFill>
                  <a:srgbClr val="1A2B3C"/>
                </a:solidFill>
                <a:latin typeface="Arial"/>
              </a:rPr>
              <a:t>■  Cover EVERYTHING within reach you could contact: phases, neutral, ground, hardware, guys</a:t>
            </a:r>
          </a:p>
          <a:p>
            <a:pPr algn="l">
              <a:lnSpc>
                <a:spcPct val="105000"/>
              </a:lnSpc>
              <a:spcBef>
                <a:spcPts val="700"/>
              </a:spcBef>
              <a:spcAft>
                <a:spcPts val="200"/>
              </a:spcAft>
            </a:pPr>
            <a:r>
              <a:rPr sz="1800" b="0" i="0">
                <a:solidFill>
                  <a:srgbClr val="1A2B3C"/>
                </a:solidFill>
                <a:latin typeface="Arial"/>
              </a:rPr>
              <a:t>■  Cover-up must be rated for the system voltage and inspected before use</a:t>
            </a:r>
          </a:p>
          <a:p>
            <a:pPr algn="l">
              <a:lnSpc>
                <a:spcPct val="105000"/>
              </a:lnSpc>
              <a:spcBef>
                <a:spcPts val="700"/>
              </a:spcBef>
              <a:spcAft>
                <a:spcPts val="200"/>
              </a:spcAft>
            </a:pPr>
            <a:r>
              <a:rPr sz="1800" b="0" i="0">
                <a:solidFill>
                  <a:srgbClr val="1A2B3C"/>
                </a:solidFill>
                <a:latin typeface="Arial"/>
              </a:rPr>
              <a:t>■  Install from a position of safety — nearest/most-accessible energized part first, working outward</a:t>
            </a:r>
          </a:p>
          <a:p>
            <a:pPr algn="l" lvl="1">
              <a:lnSpc>
                <a:spcPct val="103000"/>
              </a:lnSpc>
              <a:spcBef>
                <a:spcPts val="200"/>
              </a:spcBef>
              <a:spcAft>
                <a:spcPts val="200"/>
              </a:spcAft>
            </a:pPr>
            <a:r>
              <a:rPr sz="1500" b="0" i="0">
                <a:solidFill>
                  <a:srgbClr val="334455"/>
                </a:solidFill>
                <a:latin typeface="Arial"/>
              </a:rPr>
              <a:t>–  Use a hot stick or gloved hands per procedure; never let cover-up create a false sense of security</a:t>
            </a:r>
          </a:p>
          <a:p>
            <a:pPr algn="l">
              <a:lnSpc>
                <a:spcPct val="105000"/>
              </a:lnSpc>
              <a:spcBef>
                <a:spcPts val="700"/>
              </a:spcBef>
              <a:spcAft>
                <a:spcPts val="200"/>
              </a:spcAft>
            </a:pPr>
            <a:r>
              <a:rPr sz="1800" b="0" i="0">
                <a:solidFill>
                  <a:srgbClr val="1A2B3C"/>
                </a:solidFill>
                <a:latin typeface="Arial"/>
              </a:rPr>
              <a:t>■  Remove in REVERSE order — last on, first off — keeping protection in place longest where you work</a:t>
            </a:r>
          </a:p>
        </p:txBody>
      </p:sp>
      <p:sp>
        <p:nvSpPr>
          <p:cNvPr id="9" name="Rectangle 8"/>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3 — Working Energized</a:t>
            </a:r>
          </a:p>
        </p:txBody>
      </p:sp>
      <p:sp>
        <p:nvSpPr>
          <p:cNvPr id="11" name="TextBox 10"/>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3.5 SEQUENCE</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Cover-Up Sequence — Building the Protected Zone</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40080" y="1783080"/>
            <a:ext cx="583692" cy="583692"/>
          </a:xfrm>
          <a:prstGeom prst="ellipse">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783080"/>
            <a:ext cx="583692" cy="583692"/>
          </a:xfrm>
          <a:prstGeom prst="rect">
            <a:avLst/>
          </a:prstGeom>
          <a:noFill/>
        </p:spPr>
        <p:txBody>
          <a:bodyPr wrap="square" anchor="ctr" lIns="0" rIns="0" tIns="0" bIns="0">
            <a:spAutoFit/>
          </a:bodyPr>
          <a:lstStyle/>
          <a:p>
            <a:pPr algn="ctr">
              <a:lnSpc>
                <a:spcPct val="105000"/>
              </a:lnSpc>
              <a:spcBef>
                <a:spcPts val="400"/>
              </a:spcBef>
              <a:spcAft>
                <a:spcPts val="400"/>
              </a:spcAft>
            </a:pPr>
            <a:r>
              <a:rPr sz="2000" b="1" i="0">
                <a:solidFill>
                  <a:srgbClr val="0B2545"/>
                </a:solidFill>
                <a:latin typeface="Arial"/>
              </a:rPr>
              <a:t>1</a:t>
            </a:r>
          </a:p>
        </p:txBody>
      </p:sp>
      <p:sp>
        <p:nvSpPr>
          <p:cNvPr id="9" name="TextBox 8"/>
          <p:cNvSpPr txBox="1"/>
          <p:nvPr/>
        </p:nvSpPr>
        <p:spPr>
          <a:xfrm>
            <a:off x="1379220" y="1764792"/>
            <a:ext cx="10058400" cy="693420"/>
          </a:xfrm>
          <a:prstGeom prst="rect">
            <a:avLst/>
          </a:prstGeom>
          <a:noFill/>
        </p:spPr>
        <p:txBody>
          <a:bodyPr wrap="square" anchor="ctr" lIns="0" rIns="0" tIns="0" bIns="0">
            <a:spAutoFit/>
          </a:bodyPr>
          <a:lstStyle/>
          <a:p>
            <a:pPr algn="l">
              <a:lnSpc>
                <a:spcPct val="100000"/>
              </a:lnSpc>
              <a:spcBef>
                <a:spcPts val="400"/>
              </a:spcBef>
              <a:spcAft>
                <a:spcPts val="100"/>
              </a:spcAft>
            </a:pPr>
            <a:r>
              <a:rPr sz="1550" b="1" i="0">
                <a:solidFill>
                  <a:srgbClr val="0B2545"/>
                </a:solidFill>
                <a:latin typeface="Arial"/>
              </a:rPr>
              <a:t>1. Plan &amp; inspect</a:t>
            </a:r>
          </a:p>
          <a:p>
            <a:pPr algn="l">
              <a:lnSpc>
                <a:spcPct val="100000"/>
              </a:lnSpc>
              <a:spcBef>
                <a:spcPts val="0"/>
              </a:spcBef>
              <a:spcAft>
                <a:spcPts val="400"/>
              </a:spcAft>
            </a:pPr>
            <a:r>
              <a:rPr sz="1250" b="0" i="0">
                <a:solidFill>
                  <a:srgbClr val="5B6B7B"/>
                </a:solidFill>
                <a:latin typeface="Arial"/>
              </a:rPr>
              <a:t>Identify every energized &amp; grounded part within reach. Inspect all cover-up for damage; verify voltage rating.</a:t>
            </a:r>
          </a:p>
        </p:txBody>
      </p:sp>
      <p:sp>
        <p:nvSpPr>
          <p:cNvPr id="10" name="Oval 9"/>
          <p:cNvSpPr/>
          <p:nvPr/>
        </p:nvSpPr>
        <p:spPr>
          <a:xfrm>
            <a:off x="640080" y="2531364"/>
            <a:ext cx="583692" cy="583692"/>
          </a:xfrm>
          <a:prstGeom prst="ellipse">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531364"/>
            <a:ext cx="583692" cy="583692"/>
          </a:xfrm>
          <a:prstGeom prst="rect">
            <a:avLst/>
          </a:prstGeom>
          <a:noFill/>
        </p:spPr>
        <p:txBody>
          <a:bodyPr wrap="square" anchor="ctr" lIns="0" rIns="0" tIns="0" bIns="0">
            <a:spAutoFit/>
          </a:bodyPr>
          <a:lstStyle/>
          <a:p>
            <a:pPr algn="ctr">
              <a:lnSpc>
                <a:spcPct val="105000"/>
              </a:lnSpc>
              <a:spcBef>
                <a:spcPts val="400"/>
              </a:spcBef>
              <a:spcAft>
                <a:spcPts val="400"/>
              </a:spcAft>
            </a:pPr>
            <a:r>
              <a:rPr sz="2000" b="1" i="0">
                <a:solidFill>
                  <a:srgbClr val="0B2545"/>
                </a:solidFill>
                <a:latin typeface="Arial"/>
              </a:rPr>
              <a:t>2</a:t>
            </a:r>
          </a:p>
        </p:txBody>
      </p:sp>
      <p:sp>
        <p:nvSpPr>
          <p:cNvPr id="12" name="TextBox 11"/>
          <p:cNvSpPr txBox="1"/>
          <p:nvPr/>
        </p:nvSpPr>
        <p:spPr>
          <a:xfrm>
            <a:off x="1379220" y="2513076"/>
            <a:ext cx="10058400" cy="693420"/>
          </a:xfrm>
          <a:prstGeom prst="rect">
            <a:avLst/>
          </a:prstGeom>
          <a:noFill/>
        </p:spPr>
        <p:txBody>
          <a:bodyPr wrap="square" anchor="ctr" lIns="0" rIns="0" tIns="0" bIns="0">
            <a:spAutoFit/>
          </a:bodyPr>
          <a:lstStyle/>
          <a:p>
            <a:pPr algn="l">
              <a:lnSpc>
                <a:spcPct val="100000"/>
              </a:lnSpc>
              <a:spcBef>
                <a:spcPts val="400"/>
              </a:spcBef>
              <a:spcAft>
                <a:spcPts val="100"/>
              </a:spcAft>
            </a:pPr>
            <a:r>
              <a:rPr sz="1550" b="1" i="0">
                <a:solidFill>
                  <a:srgbClr val="0B2545"/>
                </a:solidFill>
                <a:latin typeface="Arial"/>
              </a:rPr>
              <a:t>2. Establish footing</a:t>
            </a:r>
          </a:p>
          <a:p>
            <a:pPr algn="l">
              <a:lnSpc>
                <a:spcPct val="100000"/>
              </a:lnSpc>
              <a:spcBef>
                <a:spcPts val="0"/>
              </a:spcBef>
              <a:spcAft>
                <a:spcPts val="400"/>
              </a:spcAft>
            </a:pPr>
            <a:r>
              <a:rPr sz="1250" b="0" i="0">
                <a:solidFill>
                  <a:srgbClr val="5B6B7B"/>
                </a:solidFill>
                <a:latin typeface="Arial"/>
              </a:rPr>
              <a:t>Position the bucket/yourself so you can reach with the conductor at a safe angle — from below where possible.</a:t>
            </a:r>
          </a:p>
        </p:txBody>
      </p:sp>
      <p:sp>
        <p:nvSpPr>
          <p:cNvPr id="13" name="Oval 12"/>
          <p:cNvSpPr/>
          <p:nvPr/>
        </p:nvSpPr>
        <p:spPr>
          <a:xfrm>
            <a:off x="640080" y="3279648"/>
            <a:ext cx="583692" cy="583692"/>
          </a:xfrm>
          <a:prstGeom prst="ellipse">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3279648"/>
            <a:ext cx="583692" cy="583692"/>
          </a:xfrm>
          <a:prstGeom prst="rect">
            <a:avLst/>
          </a:prstGeom>
          <a:noFill/>
        </p:spPr>
        <p:txBody>
          <a:bodyPr wrap="square" anchor="ctr" lIns="0" rIns="0" tIns="0" bIns="0">
            <a:spAutoFit/>
          </a:bodyPr>
          <a:lstStyle/>
          <a:p>
            <a:pPr algn="ctr">
              <a:lnSpc>
                <a:spcPct val="105000"/>
              </a:lnSpc>
              <a:spcBef>
                <a:spcPts val="400"/>
              </a:spcBef>
              <a:spcAft>
                <a:spcPts val="400"/>
              </a:spcAft>
            </a:pPr>
            <a:r>
              <a:rPr sz="2000" b="1" i="0">
                <a:solidFill>
                  <a:srgbClr val="0B2545"/>
                </a:solidFill>
                <a:latin typeface="Arial"/>
              </a:rPr>
              <a:t>3</a:t>
            </a:r>
          </a:p>
        </p:txBody>
      </p:sp>
      <p:sp>
        <p:nvSpPr>
          <p:cNvPr id="15" name="TextBox 14"/>
          <p:cNvSpPr txBox="1"/>
          <p:nvPr/>
        </p:nvSpPr>
        <p:spPr>
          <a:xfrm>
            <a:off x="1379220" y="3261360"/>
            <a:ext cx="10058400" cy="693420"/>
          </a:xfrm>
          <a:prstGeom prst="rect">
            <a:avLst/>
          </a:prstGeom>
          <a:noFill/>
        </p:spPr>
        <p:txBody>
          <a:bodyPr wrap="square" anchor="ctr" lIns="0" rIns="0" tIns="0" bIns="0">
            <a:spAutoFit/>
          </a:bodyPr>
          <a:lstStyle/>
          <a:p>
            <a:pPr algn="l">
              <a:lnSpc>
                <a:spcPct val="100000"/>
              </a:lnSpc>
              <a:spcBef>
                <a:spcPts val="400"/>
              </a:spcBef>
              <a:spcAft>
                <a:spcPts val="100"/>
              </a:spcAft>
            </a:pPr>
            <a:r>
              <a:rPr sz="1550" b="1" i="0">
                <a:solidFill>
                  <a:srgbClr val="0B2545"/>
                </a:solidFill>
                <a:latin typeface="Arial"/>
              </a:rPr>
              <a:t>3. Cover the closest hazard first</a:t>
            </a:r>
          </a:p>
          <a:p>
            <a:pPr algn="l">
              <a:lnSpc>
                <a:spcPct val="100000"/>
              </a:lnSpc>
              <a:spcBef>
                <a:spcPts val="0"/>
              </a:spcBef>
              <a:spcAft>
                <a:spcPts val="400"/>
              </a:spcAft>
            </a:pPr>
            <a:r>
              <a:rPr sz="1250" b="0" i="0">
                <a:solidFill>
                  <a:srgbClr val="5B6B7B"/>
                </a:solidFill>
                <a:latin typeface="Arial"/>
              </a:rPr>
              <a:t>Apply line hose/blankets to the nearest energized phase, then work outward to additional phases.</a:t>
            </a:r>
          </a:p>
        </p:txBody>
      </p:sp>
      <p:sp>
        <p:nvSpPr>
          <p:cNvPr id="16" name="Oval 15"/>
          <p:cNvSpPr/>
          <p:nvPr/>
        </p:nvSpPr>
        <p:spPr>
          <a:xfrm>
            <a:off x="640080" y="4027932"/>
            <a:ext cx="583692" cy="583692"/>
          </a:xfrm>
          <a:prstGeom prst="ellipse">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4027932"/>
            <a:ext cx="583692" cy="583692"/>
          </a:xfrm>
          <a:prstGeom prst="rect">
            <a:avLst/>
          </a:prstGeom>
          <a:noFill/>
        </p:spPr>
        <p:txBody>
          <a:bodyPr wrap="square" anchor="ctr" lIns="0" rIns="0" tIns="0" bIns="0">
            <a:spAutoFit/>
          </a:bodyPr>
          <a:lstStyle/>
          <a:p>
            <a:pPr algn="ctr">
              <a:lnSpc>
                <a:spcPct val="105000"/>
              </a:lnSpc>
              <a:spcBef>
                <a:spcPts val="400"/>
              </a:spcBef>
              <a:spcAft>
                <a:spcPts val="400"/>
              </a:spcAft>
            </a:pPr>
            <a:r>
              <a:rPr sz="2000" b="1" i="0">
                <a:solidFill>
                  <a:srgbClr val="0B2545"/>
                </a:solidFill>
                <a:latin typeface="Arial"/>
              </a:rPr>
              <a:t>4</a:t>
            </a:r>
          </a:p>
        </p:txBody>
      </p:sp>
      <p:sp>
        <p:nvSpPr>
          <p:cNvPr id="18" name="TextBox 17"/>
          <p:cNvSpPr txBox="1"/>
          <p:nvPr/>
        </p:nvSpPr>
        <p:spPr>
          <a:xfrm>
            <a:off x="1379220" y="4009644"/>
            <a:ext cx="10058400" cy="693420"/>
          </a:xfrm>
          <a:prstGeom prst="rect">
            <a:avLst/>
          </a:prstGeom>
          <a:noFill/>
        </p:spPr>
        <p:txBody>
          <a:bodyPr wrap="square" anchor="ctr" lIns="0" rIns="0" tIns="0" bIns="0">
            <a:spAutoFit/>
          </a:bodyPr>
          <a:lstStyle/>
          <a:p>
            <a:pPr algn="l">
              <a:lnSpc>
                <a:spcPct val="100000"/>
              </a:lnSpc>
              <a:spcBef>
                <a:spcPts val="400"/>
              </a:spcBef>
              <a:spcAft>
                <a:spcPts val="100"/>
              </a:spcAft>
            </a:pPr>
            <a:r>
              <a:rPr sz="1550" b="1" i="0">
                <a:solidFill>
                  <a:srgbClr val="0B2545"/>
                </a:solidFill>
                <a:latin typeface="Arial"/>
              </a:rPr>
              <a:t>4. Cover the second points</a:t>
            </a:r>
          </a:p>
          <a:p>
            <a:pPr algn="l">
              <a:lnSpc>
                <a:spcPct val="100000"/>
              </a:lnSpc>
              <a:spcBef>
                <a:spcPts val="0"/>
              </a:spcBef>
              <a:spcAft>
                <a:spcPts val="400"/>
              </a:spcAft>
            </a:pPr>
            <a:r>
              <a:rPr sz="1250" b="0" i="0">
                <a:solidFill>
                  <a:srgbClr val="5B6B7B"/>
                </a:solidFill>
                <a:latin typeface="Arial"/>
              </a:rPr>
              <a:t>Cover the neutral, ground wire, guys, crossarm hardware — anything that could be your second point of contact.</a:t>
            </a:r>
          </a:p>
        </p:txBody>
      </p:sp>
      <p:sp>
        <p:nvSpPr>
          <p:cNvPr id="19" name="Oval 18"/>
          <p:cNvSpPr/>
          <p:nvPr/>
        </p:nvSpPr>
        <p:spPr>
          <a:xfrm>
            <a:off x="640080" y="4776216"/>
            <a:ext cx="583692" cy="583692"/>
          </a:xfrm>
          <a:prstGeom prst="ellipse">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4776216"/>
            <a:ext cx="583692" cy="583692"/>
          </a:xfrm>
          <a:prstGeom prst="rect">
            <a:avLst/>
          </a:prstGeom>
          <a:noFill/>
        </p:spPr>
        <p:txBody>
          <a:bodyPr wrap="square" anchor="ctr" lIns="0" rIns="0" tIns="0" bIns="0">
            <a:spAutoFit/>
          </a:bodyPr>
          <a:lstStyle/>
          <a:p>
            <a:pPr algn="ctr">
              <a:lnSpc>
                <a:spcPct val="105000"/>
              </a:lnSpc>
              <a:spcBef>
                <a:spcPts val="400"/>
              </a:spcBef>
              <a:spcAft>
                <a:spcPts val="400"/>
              </a:spcAft>
            </a:pPr>
            <a:r>
              <a:rPr sz="2000" b="1" i="0">
                <a:solidFill>
                  <a:srgbClr val="0B2545"/>
                </a:solidFill>
                <a:latin typeface="Arial"/>
              </a:rPr>
              <a:t>5</a:t>
            </a:r>
          </a:p>
        </p:txBody>
      </p:sp>
      <p:sp>
        <p:nvSpPr>
          <p:cNvPr id="21" name="TextBox 20"/>
          <p:cNvSpPr txBox="1"/>
          <p:nvPr/>
        </p:nvSpPr>
        <p:spPr>
          <a:xfrm>
            <a:off x="1379220" y="4757928"/>
            <a:ext cx="10058400" cy="693420"/>
          </a:xfrm>
          <a:prstGeom prst="rect">
            <a:avLst/>
          </a:prstGeom>
          <a:noFill/>
        </p:spPr>
        <p:txBody>
          <a:bodyPr wrap="square" anchor="ctr" lIns="0" rIns="0" tIns="0" bIns="0">
            <a:spAutoFit/>
          </a:bodyPr>
          <a:lstStyle/>
          <a:p>
            <a:pPr algn="l">
              <a:lnSpc>
                <a:spcPct val="100000"/>
              </a:lnSpc>
              <a:spcBef>
                <a:spcPts val="400"/>
              </a:spcBef>
              <a:spcAft>
                <a:spcPts val="100"/>
              </a:spcAft>
            </a:pPr>
            <a:r>
              <a:rPr sz="1550" b="1" i="0">
                <a:solidFill>
                  <a:srgbClr val="0B2545"/>
                </a:solidFill>
                <a:latin typeface="Arial"/>
              </a:rPr>
              <a:t>5. Work the job</a:t>
            </a:r>
          </a:p>
          <a:p>
            <a:pPr algn="l">
              <a:lnSpc>
                <a:spcPct val="100000"/>
              </a:lnSpc>
              <a:spcBef>
                <a:spcPts val="0"/>
              </a:spcBef>
              <a:spcAft>
                <a:spcPts val="400"/>
              </a:spcAft>
            </a:pPr>
            <a:r>
              <a:rPr sz="1250" b="0" i="0">
                <a:solidFill>
                  <a:srgbClr val="5B6B7B"/>
                </a:solidFill>
                <a:latin typeface="Arial"/>
              </a:rPr>
              <a:t>With the zone insulated, perform the task maintaining gloves, MAD, and positioning throughout.</a:t>
            </a:r>
          </a:p>
        </p:txBody>
      </p:sp>
      <p:sp>
        <p:nvSpPr>
          <p:cNvPr id="22" name="Oval 21"/>
          <p:cNvSpPr/>
          <p:nvPr/>
        </p:nvSpPr>
        <p:spPr>
          <a:xfrm>
            <a:off x="640080" y="5524500"/>
            <a:ext cx="583692" cy="583692"/>
          </a:xfrm>
          <a:prstGeom prst="ellipse">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5524500"/>
            <a:ext cx="583692" cy="583692"/>
          </a:xfrm>
          <a:prstGeom prst="rect">
            <a:avLst/>
          </a:prstGeom>
          <a:noFill/>
        </p:spPr>
        <p:txBody>
          <a:bodyPr wrap="square" anchor="ctr" lIns="0" rIns="0" tIns="0" bIns="0">
            <a:spAutoFit/>
          </a:bodyPr>
          <a:lstStyle/>
          <a:p>
            <a:pPr algn="ctr">
              <a:lnSpc>
                <a:spcPct val="105000"/>
              </a:lnSpc>
              <a:spcBef>
                <a:spcPts val="400"/>
              </a:spcBef>
              <a:spcAft>
                <a:spcPts val="400"/>
              </a:spcAft>
            </a:pPr>
            <a:r>
              <a:rPr sz="2000" b="1" i="0">
                <a:solidFill>
                  <a:srgbClr val="0B2545"/>
                </a:solidFill>
                <a:latin typeface="Arial"/>
              </a:rPr>
              <a:t>6</a:t>
            </a:r>
          </a:p>
        </p:txBody>
      </p:sp>
      <p:sp>
        <p:nvSpPr>
          <p:cNvPr id="24" name="TextBox 23"/>
          <p:cNvSpPr txBox="1"/>
          <p:nvPr/>
        </p:nvSpPr>
        <p:spPr>
          <a:xfrm>
            <a:off x="1379220" y="5506212"/>
            <a:ext cx="10058400" cy="693420"/>
          </a:xfrm>
          <a:prstGeom prst="rect">
            <a:avLst/>
          </a:prstGeom>
          <a:noFill/>
        </p:spPr>
        <p:txBody>
          <a:bodyPr wrap="square" anchor="ctr" lIns="0" rIns="0" tIns="0" bIns="0">
            <a:spAutoFit/>
          </a:bodyPr>
          <a:lstStyle/>
          <a:p>
            <a:pPr algn="l">
              <a:lnSpc>
                <a:spcPct val="100000"/>
              </a:lnSpc>
              <a:spcBef>
                <a:spcPts val="400"/>
              </a:spcBef>
              <a:spcAft>
                <a:spcPts val="100"/>
              </a:spcAft>
            </a:pPr>
            <a:r>
              <a:rPr sz="1550" b="1" i="0">
                <a:solidFill>
                  <a:srgbClr val="0B2545"/>
                </a:solidFill>
                <a:latin typeface="Arial"/>
              </a:rPr>
              <a:t>6. Remove in reverse</a:t>
            </a:r>
          </a:p>
          <a:p>
            <a:pPr algn="l">
              <a:lnSpc>
                <a:spcPct val="100000"/>
              </a:lnSpc>
              <a:spcBef>
                <a:spcPts val="0"/>
              </a:spcBef>
              <a:spcAft>
                <a:spcPts val="400"/>
              </a:spcAft>
            </a:pPr>
            <a:r>
              <a:rPr sz="1250" b="0" i="0">
                <a:solidFill>
                  <a:srgbClr val="5B6B7B"/>
                </a:solidFill>
                <a:latin typeface="Arial"/>
              </a:rPr>
              <a:t>Strip cover-up last-on/first-off — keep protection nearest you in place until the end.</a:t>
            </a:r>
          </a:p>
        </p:txBody>
      </p:sp>
      <p:sp>
        <p:nvSpPr>
          <p:cNvPr id="25" name="Rectangle 24"/>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3 — Working Energized</a:t>
            </a:r>
          </a:p>
        </p:txBody>
      </p:sp>
      <p:sp>
        <p:nvSpPr>
          <p:cNvPr id="27" name="TextBox 26"/>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3.5 EQUIPMENT</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Cover-Up Equipment</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783080"/>
            <a:ext cx="5349240" cy="4297680"/>
          </a:xfrm>
          <a:prstGeom prst="roundRect">
            <a:avLst/>
          </a:prstGeom>
          <a:solidFill>
            <a:srgbClr val="EEF2F7"/>
          </a:solidFill>
          <a:ln w="12700">
            <a:solidFill>
              <a:srgbClr val="CF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40080" y="1783080"/>
            <a:ext cx="5349240" cy="566928"/>
          </a:xfrm>
          <a:prstGeom prst="roundRect">
            <a:avLst/>
          </a:prstGeom>
          <a:solidFill>
            <a:srgbClr val="1340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2066543"/>
            <a:ext cx="5349240" cy="283464"/>
          </a:xfrm>
          <a:prstGeom prst="rect">
            <a:avLst/>
          </a:prstGeom>
          <a:solidFill>
            <a:srgbClr val="1340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1837943"/>
            <a:ext cx="4892040" cy="475488"/>
          </a:xfrm>
          <a:prstGeom prst="rect">
            <a:avLst/>
          </a:prstGeom>
          <a:noFill/>
        </p:spPr>
        <p:txBody>
          <a:bodyPr wrap="square" anchor="ctr" lIns="0" rIns="0" tIns="0" bIns="0">
            <a:spAutoFit/>
          </a:bodyPr>
          <a:lstStyle/>
          <a:p>
            <a:pPr algn="l">
              <a:lnSpc>
                <a:spcPct val="105000"/>
              </a:lnSpc>
              <a:spcBef>
                <a:spcPts val="400"/>
              </a:spcBef>
              <a:spcAft>
                <a:spcPts val="400"/>
              </a:spcAft>
            </a:pPr>
            <a:r>
              <a:rPr sz="1600" b="1" i="0">
                <a:solidFill>
                  <a:srgbClr val="FFFFFF"/>
                </a:solidFill>
                <a:latin typeface="Arial"/>
              </a:rPr>
              <a:t>Types of cover-up</a:t>
            </a:r>
          </a:p>
        </p:txBody>
      </p:sp>
      <p:sp>
        <p:nvSpPr>
          <p:cNvPr id="11" name="TextBox 10"/>
          <p:cNvSpPr txBox="1"/>
          <p:nvPr/>
        </p:nvSpPr>
        <p:spPr>
          <a:xfrm>
            <a:off x="914400" y="2514600"/>
            <a:ext cx="4800600" cy="3383280"/>
          </a:xfrm>
          <a:prstGeom prst="rect">
            <a:avLst/>
          </a:prstGeom>
          <a:noFill/>
        </p:spPr>
        <p:txBody>
          <a:bodyPr wrap="square" anchor="t" lIns="0" rIns="0" tIns="0" bIns="0">
            <a:spAutoFit/>
          </a:bodyPr>
          <a:lstStyle/>
          <a:p>
            <a:pPr algn="l">
              <a:lnSpc>
                <a:spcPct val="103000"/>
              </a:lnSpc>
              <a:spcBef>
                <a:spcPts val="500"/>
              </a:spcBef>
              <a:spcAft>
                <a:spcPts val="200"/>
              </a:spcAft>
            </a:pPr>
            <a:r>
              <a:rPr sz="1400" b="0" i="0">
                <a:solidFill>
                  <a:srgbClr val="1A2B3C"/>
                </a:solidFill>
                <a:latin typeface="Arial"/>
              </a:rPr>
              <a:t>■  Line hose — tubular cover for conductors</a:t>
            </a:r>
          </a:p>
          <a:p>
            <a:pPr algn="l">
              <a:lnSpc>
                <a:spcPct val="103000"/>
              </a:lnSpc>
              <a:spcBef>
                <a:spcPts val="500"/>
              </a:spcBef>
              <a:spcAft>
                <a:spcPts val="200"/>
              </a:spcAft>
            </a:pPr>
            <a:r>
              <a:rPr sz="1400" b="0" i="0">
                <a:solidFill>
                  <a:srgbClr val="1A2B3C"/>
                </a:solidFill>
                <a:latin typeface="Arial"/>
              </a:rPr>
              <a:t>■  Insulator hoods — cover pin/post insulators &amp; tops</a:t>
            </a:r>
          </a:p>
          <a:p>
            <a:pPr algn="l">
              <a:lnSpc>
                <a:spcPct val="103000"/>
              </a:lnSpc>
              <a:spcBef>
                <a:spcPts val="500"/>
              </a:spcBef>
              <a:spcAft>
                <a:spcPts val="200"/>
              </a:spcAft>
            </a:pPr>
            <a:r>
              <a:rPr sz="1400" b="0" i="0">
                <a:solidFill>
                  <a:srgbClr val="1A2B3C"/>
                </a:solidFill>
                <a:latin typeface="Arial"/>
              </a:rPr>
              <a:t>■  Conductor/line covers &amp; connector covers</a:t>
            </a:r>
          </a:p>
          <a:p>
            <a:pPr algn="l">
              <a:lnSpc>
                <a:spcPct val="103000"/>
              </a:lnSpc>
              <a:spcBef>
                <a:spcPts val="500"/>
              </a:spcBef>
              <a:spcAft>
                <a:spcPts val="200"/>
              </a:spcAft>
            </a:pPr>
            <a:r>
              <a:rPr sz="1400" b="0" i="0">
                <a:solidFill>
                  <a:srgbClr val="1A2B3C"/>
                </a:solidFill>
                <a:latin typeface="Arial"/>
              </a:rPr>
              <a:t>■  Insulating blankets — wrap irregular shapes, hardware</a:t>
            </a:r>
          </a:p>
          <a:p>
            <a:pPr algn="l">
              <a:lnSpc>
                <a:spcPct val="103000"/>
              </a:lnSpc>
              <a:spcBef>
                <a:spcPts val="500"/>
              </a:spcBef>
              <a:spcAft>
                <a:spcPts val="200"/>
              </a:spcAft>
            </a:pPr>
            <a:r>
              <a:rPr sz="1400" b="0" i="0">
                <a:solidFill>
                  <a:srgbClr val="1A2B3C"/>
                </a:solidFill>
                <a:latin typeface="Arial"/>
              </a:rPr>
              <a:t>■  Dead-end &amp; pole/crossarm covers, guy guards</a:t>
            </a:r>
          </a:p>
        </p:txBody>
      </p:sp>
      <p:sp>
        <p:nvSpPr>
          <p:cNvPr id="12" name="Rounded Rectangle 11"/>
          <p:cNvSpPr/>
          <p:nvPr/>
        </p:nvSpPr>
        <p:spPr>
          <a:xfrm>
            <a:off x="6309359" y="1783080"/>
            <a:ext cx="5349240" cy="4297680"/>
          </a:xfrm>
          <a:prstGeom prst="roundRect">
            <a:avLst/>
          </a:prstGeom>
          <a:solidFill>
            <a:srgbClr val="EEF2F7"/>
          </a:solidFill>
          <a:ln w="12700">
            <a:solidFill>
              <a:srgbClr val="CF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09359" y="1783080"/>
            <a:ext cx="5349240" cy="566928"/>
          </a:xfrm>
          <a:prstGeom prst="round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59" y="2066543"/>
            <a:ext cx="5349240" cy="28346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37959" y="1837943"/>
            <a:ext cx="4892040" cy="475488"/>
          </a:xfrm>
          <a:prstGeom prst="rect">
            <a:avLst/>
          </a:prstGeom>
          <a:noFill/>
        </p:spPr>
        <p:txBody>
          <a:bodyPr wrap="square" anchor="ctr" lIns="0" rIns="0" tIns="0" bIns="0">
            <a:spAutoFit/>
          </a:bodyPr>
          <a:lstStyle/>
          <a:p>
            <a:pPr algn="l">
              <a:lnSpc>
                <a:spcPct val="105000"/>
              </a:lnSpc>
              <a:spcBef>
                <a:spcPts val="400"/>
              </a:spcBef>
              <a:spcAft>
                <a:spcPts val="400"/>
              </a:spcAft>
            </a:pPr>
            <a:r>
              <a:rPr sz="1600" b="1" i="0">
                <a:solidFill>
                  <a:srgbClr val="FFFFFF"/>
                </a:solidFill>
                <a:latin typeface="Arial"/>
              </a:rPr>
              <a:t>Selection &amp; care</a:t>
            </a:r>
          </a:p>
        </p:txBody>
      </p:sp>
      <p:sp>
        <p:nvSpPr>
          <p:cNvPr id="16" name="TextBox 15"/>
          <p:cNvSpPr txBox="1"/>
          <p:nvPr/>
        </p:nvSpPr>
        <p:spPr>
          <a:xfrm>
            <a:off x="6583679" y="2514600"/>
            <a:ext cx="4800600" cy="3383280"/>
          </a:xfrm>
          <a:prstGeom prst="rect">
            <a:avLst/>
          </a:prstGeom>
          <a:noFill/>
        </p:spPr>
        <p:txBody>
          <a:bodyPr wrap="square" anchor="t" lIns="0" rIns="0" tIns="0" bIns="0">
            <a:spAutoFit/>
          </a:bodyPr>
          <a:lstStyle/>
          <a:p>
            <a:pPr algn="l">
              <a:lnSpc>
                <a:spcPct val="103000"/>
              </a:lnSpc>
              <a:spcBef>
                <a:spcPts val="500"/>
              </a:spcBef>
              <a:spcAft>
                <a:spcPts val="200"/>
              </a:spcAft>
            </a:pPr>
            <a:r>
              <a:rPr sz="1400" b="0" i="0">
                <a:solidFill>
                  <a:srgbClr val="1A2B3C"/>
                </a:solidFill>
                <a:latin typeface="Arial"/>
              </a:rPr>
              <a:t>■  Match the voltage rating to (or above) the system</a:t>
            </a:r>
          </a:p>
          <a:p>
            <a:pPr algn="l">
              <a:lnSpc>
                <a:spcPct val="103000"/>
              </a:lnSpc>
              <a:spcBef>
                <a:spcPts val="500"/>
              </a:spcBef>
              <a:spcAft>
                <a:spcPts val="200"/>
              </a:spcAft>
            </a:pPr>
            <a:r>
              <a:rPr sz="1400" b="0" i="0">
                <a:solidFill>
                  <a:srgbClr val="1A2B3C"/>
                </a:solidFill>
                <a:latin typeface="Arial"/>
              </a:rPr>
              <a:t>■  Inspect for cuts, ozone cracks, embedded metal, swelling</a:t>
            </a:r>
          </a:p>
          <a:p>
            <a:pPr algn="l">
              <a:lnSpc>
                <a:spcPct val="103000"/>
              </a:lnSpc>
              <a:spcBef>
                <a:spcPts val="500"/>
              </a:spcBef>
              <a:spcAft>
                <a:spcPts val="200"/>
              </a:spcAft>
            </a:pPr>
            <a:r>
              <a:rPr sz="1400" b="0" i="0">
                <a:solidFill>
                  <a:srgbClr val="1A2B3C"/>
                </a:solidFill>
                <a:latin typeface="Arial"/>
              </a:rPr>
              <a:t>■  Keep clean &amp; dry; store properly — no sharp folds</a:t>
            </a:r>
          </a:p>
          <a:p>
            <a:pPr algn="l">
              <a:lnSpc>
                <a:spcPct val="103000"/>
              </a:lnSpc>
              <a:spcBef>
                <a:spcPts val="500"/>
              </a:spcBef>
              <a:spcAft>
                <a:spcPts val="200"/>
              </a:spcAft>
            </a:pPr>
            <a:r>
              <a:rPr sz="1400" b="0" i="0">
                <a:solidFill>
                  <a:srgbClr val="1A2B3C"/>
                </a:solidFill>
                <a:latin typeface="Arial"/>
              </a:rPr>
              <a:t>■  Use approved clip pins/connectors so it stays put</a:t>
            </a:r>
          </a:p>
          <a:p>
            <a:pPr algn="l">
              <a:lnSpc>
                <a:spcPct val="103000"/>
              </a:lnSpc>
              <a:spcBef>
                <a:spcPts val="500"/>
              </a:spcBef>
              <a:spcAft>
                <a:spcPts val="200"/>
              </a:spcAft>
            </a:pPr>
            <a:r>
              <a:rPr sz="1400" b="0" i="0">
                <a:solidFill>
                  <a:srgbClr val="1A2B3C"/>
                </a:solidFill>
                <a:latin typeface="Arial"/>
              </a:rPr>
              <a:t>■  Removed from service &amp; retested per schedule if suspect</a:t>
            </a:r>
          </a:p>
        </p:txBody>
      </p:sp>
      <p:sp>
        <p:nvSpPr>
          <p:cNvPr id="17" name="Rectangle 16"/>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3 — Working Energized</a:t>
            </a:r>
          </a:p>
        </p:txBody>
      </p:sp>
      <p:sp>
        <p:nvSpPr>
          <p:cNvPr id="19" name="TextBox 18"/>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3.6 DE-ENERGIZE / LOTO</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De-Energizing &amp; Lockout/Tagout (LOTO)</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783080"/>
            <a:ext cx="6949440" cy="4297680"/>
          </a:xfrm>
          <a:prstGeom prst="rect">
            <a:avLst/>
          </a:prstGeom>
          <a:noFill/>
        </p:spPr>
        <p:txBody>
          <a:bodyPr wrap="square" anchor="t" lIns="0" rIns="0" tIns="0" bIns="0">
            <a:spAutoFit/>
          </a:bodyPr>
          <a:lstStyle/>
          <a:p>
            <a:pPr algn="l">
              <a:lnSpc>
                <a:spcPct val="105000"/>
              </a:lnSpc>
              <a:spcBef>
                <a:spcPts val="700"/>
              </a:spcBef>
              <a:spcAft>
                <a:spcPts val="200"/>
              </a:spcAft>
            </a:pPr>
            <a:r>
              <a:rPr sz="1700" b="0" i="0">
                <a:solidFill>
                  <a:srgbClr val="1A2B3C"/>
                </a:solidFill>
                <a:latin typeface="Arial"/>
              </a:rPr>
              <a:t>■  When a line can be de-energized, follow the formal switching &amp; clearance procedure</a:t>
            </a:r>
          </a:p>
          <a:p>
            <a:pPr algn="l">
              <a:lnSpc>
                <a:spcPct val="105000"/>
              </a:lnSpc>
              <a:spcBef>
                <a:spcPts val="700"/>
              </a:spcBef>
              <a:spcAft>
                <a:spcPts val="200"/>
              </a:spcAft>
            </a:pPr>
            <a:r>
              <a:rPr sz="1700" b="0" i="0">
                <a:solidFill>
                  <a:srgbClr val="1A2B3C"/>
                </a:solidFill>
                <a:latin typeface="Arial"/>
              </a:rPr>
              <a:t>■  The classic verification sequence — do not skip a step:</a:t>
            </a:r>
          </a:p>
          <a:p>
            <a:pPr algn="l" lvl="1">
              <a:lnSpc>
                <a:spcPct val="102000"/>
              </a:lnSpc>
              <a:spcBef>
                <a:spcPts val="200"/>
              </a:spcBef>
              <a:spcAft>
                <a:spcPts val="100"/>
              </a:spcAft>
            </a:pPr>
            <a:r>
              <a:rPr sz="1400" b="0" i="0">
                <a:solidFill>
                  <a:srgbClr val="334455"/>
                </a:solidFill>
                <a:latin typeface="Arial"/>
              </a:rPr>
              <a:t>–  1. Identify the correct circuit/section (right line, right structure)</a:t>
            </a:r>
          </a:p>
          <a:p>
            <a:pPr algn="l" lvl="1">
              <a:lnSpc>
                <a:spcPct val="102000"/>
              </a:lnSpc>
              <a:spcBef>
                <a:spcPts val="200"/>
              </a:spcBef>
              <a:spcAft>
                <a:spcPts val="100"/>
              </a:spcAft>
            </a:pPr>
            <a:r>
              <a:rPr sz="1400" b="0" i="0">
                <a:solidFill>
                  <a:srgbClr val="334455"/>
                </a:solidFill>
                <a:latin typeface="Arial"/>
              </a:rPr>
              <a:t>–  2. Open the disconnects and render them visibly open</a:t>
            </a:r>
          </a:p>
          <a:p>
            <a:pPr algn="l" lvl="1">
              <a:lnSpc>
                <a:spcPct val="102000"/>
              </a:lnSpc>
              <a:spcBef>
                <a:spcPts val="200"/>
              </a:spcBef>
              <a:spcAft>
                <a:spcPts val="100"/>
              </a:spcAft>
            </a:pPr>
            <a:r>
              <a:rPr sz="1400" b="0" i="0">
                <a:solidFill>
                  <a:srgbClr val="334455"/>
                </a:solidFill>
                <a:latin typeface="Arial"/>
              </a:rPr>
              <a:t>–  3. Lock and TAG the points of isolation — each worker's own lock</a:t>
            </a:r>
          </a:p>
          <a:p>
            <a:pPr algn="l" lvl="1">
              <a:lnSpc>
                <a:spcPct val="102000"/>
              </a:lnSpc>
              <a:spcBef>
                <a:spcPts val="200"/>
              </a:spcBef>
              <a:spcAft>
                <a:spcPts val="100"/>
              </a:spcAft>
            </a:pPr>
            <a:r>
              <a:rPr sz="1400" b="0" i="0">
                <a:solidFill>
                  <a:srgbClr val="334455"/>
                </a:solidFill>
                <a:latin typeface="Arial"/>
              </a:rPr>
              <a:t>–  4. TEST for absence of voltage with a tested-good detector (test-before-touch)</a:t>
            </a:r>
          </a:p>
          <a:p>
            <a:pPr algn="l" lvl="1">
              <a:lnSpc>
                <a:spcPct val="102000"/>
              </a:lnSpc>
              <a:spcBef>
                <a:spcPts val="200"/>
              </a:spcBef>
              <a:spcAft>
                <a:spcPts val="100"/>
              </a:spcAft>
            </a:pPr>
            <a:r>
              <a:rPr sz="1400" b="0" i="0">
                <a:solidFill>
                  <a:srgbClr val="334455"/>
                </a:solidFill>
                <a:latin typeface="Arial"/>
              </a:rPr>
              <a:t>–  5. Apply protective GROUNDS to create an equipotential, drained zone</a:t>
            </a:r>
          </a:p>
          <a:p>
            <a:pPr algn="l">
              <a:lnSpc>
                <a:spcPct val="105000"/>
              </a:lnSpc>
              <a:spcBef>
                <a:spcPts val="700"/>
              </a:spcBef>
              <a:spcAft>
                <a:spcPts val="200"/>
              </a:spcAft>
            </a:pPr>
            <a:r>
              <a:rPr sz="1700" b="0" i="0">
                <a:solidFill>
                  <a:srgbClr val="1A2B3C"/>
                </a:solidFill>
                <a:latin typeface="Arial"/>
              </a:rPr>
              <a:t>■  Hold the clearance; only the holder releases it after all workers are clear</a:t>
            </a:r>
          </a:p>
        </p:txBody>
      </p:sp>
      <p:sp>
        <p:nvSpPr>
          <p:cNvPr id="8" name="Rounded Rectangle 7"/>
          <p:cNvSpPr/>
          <p:nvPr/>
        </p:nvSpPr>
        <p:spPr>
          <a:xfrm>
            <a:off x="7863840" y="1874519"/>
            <a:ext cx="3776472" cy="3931920"/>
          </a:xfrm>
          <a:prstGeom prst="roundRect">
            <a:avLst/>
          </a:prstGeom>
          <a:solidFill>
            <a:srgbClr val="FDF4DE"/>
          </a:solidFill>
          <a:ln w="19050">
            <a:solidFill>
              <a:srgbClr val="C88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863840" y="1874519"/>
            <a:ext cx="3776472" cy="548640"/>
          </a:xfrm>
          <a:prstGeom prst="roundRect">
            <a:avLst/>
          </a:prstGeom>
          <a:solidFill>
            <a:srgbClr val="C88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63840" y="2148839"/>
            <a:ext cx="3776472" cy="274320"/>
          </a:xfrm>
          <a:prstGeom prst="rect">
            <a:avLst/>
          </a:prstGeom>
          <a:solidFill>
            <a:srgbClr val="C88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92440" y="1920239"/>
            <a:ext cx="3319272" cy="475488"/>
          </a:xfrm>
          <a:prstGeom prst="rect">
            <a:avLst/>
          </a:prstGeom>
          <a:noFill/>
        </p:spPr>
        <p:txBody>
          <a:bodyPr wrap="square" anchor="ctr" lIns="0" rIns="0" tIns="0" bIns="0">
            <a:spAutoFit/>
          </a:bodyPr>
          <a:lstStyle/>
          <a:p>
            <a:pPr algn="l">
              <a:lnSpc>
                <a:spcPct val="105000"/>
              </a:lnSpc>
              <a:spcBef>
                <a:spcPts val="400"/>
              </a:spcBef>
              <a:spcAft>
                <a:spcPts val="400"/>
              </a:spcAft>
            </a:pPr>
            <a:r>
              <a:rPr sz="1400" b="1" i="0">
                <a:solidFill>
                  <a:srgbClr val="FFFFFF"/>
                </a:solidFill>
                <a:latin typeface="Arial"/>
              </a:rPr>
              <a:t>WARNING  ⚠</a:t>
            </a:r>
          </a:p>
        </p:txBody>
      </p:sp>
      <p:sp>
        <p:nvSpPr>
          <p:cNvPr id="12" name="TextBox 11"/>
          <p:cNvSpPr txBox="1"/>
          <p:nvPr/>
        </p:nvSpPr>
        <p:spPr>
          <a:xfrm>
            <a:off x="8138160" y="2587752"/>
            <a:ext cx="3227832" cy="3063239"/>
          </a:xfrm>
          <a:prstGeom prst="rect">
            <a:avLst/>
          </a:prstGeom>
          <a:noFill/>
        </p:spPr>
        <p:txBody>
          <a:bodyPr wrap="square" anchor="t" lIns="0" rIns="0" tIns="0" bIns="0">
            <a:spAutoFit/>
          </a:bodyPr>
          <a:lstStyle/>
          <a:p>
            <a:pPr algn="l">
              <a:lnSpc>
                <a:spcPct val="105000"/>
              </a:lnSpc>
              <a:spcBef>
                <a:spcPts val="400"/>
              </a:spcBef>
              <a:spcAft>
                <a:spcPts val="400"/>
              </a:spcAft>
            </a:pPr>
            <a:r>
              <a:rPr sz="1550" b="1" i="0">
                <a:solidFill>
                  <a:srgbClr val="C88A00"/>
                </a:solidFill>
                <a:latin typeface="Arial"/>
              </a:rPr>
              <a:t>Test your tester</a:t>
            </a:r>
          </a:p>
          <a:p>
            <a:pPr algn="l">
              <a:lnSpc>
                <a:spcPct val="105000"/>
              </a:lnSpc>
              <a:spcBef>
                <a:spcPts val="300"/>
              </a:spcBef>
              <a:spcAft>
                <a:spcPts val="100"/>
              </a:spcAft>
            </a:pPr>
            <a:r>
              <a:rPr sz="1300" b="0" i="0">
                <a:solidFill>
                  <a:srgbClr val="1A2B3C"/>
                </a:solidFill>
                <a:latin typeface="Arial"/>
              </a:rPr>
              <a:t>–  Prove the voltage detector works on a known source BEFORE and AFTER testing the line.</a:t>
            </a:r>
          </a:p>
          <a:p>
            <a:pPr algn="l">
              <a:lnSpc>
                <a:spcPct val="105000"/>
              </a:lnSpc>
              <a:spcBef>
                <a:spcPts val="300"/>
              </a:spcBef>
              <a:spcAft>
                <a:spcPts val="100"/>
              </a:spcAft>
            </a:pPr>
            <a:r>
              <a:rPr sz="1300" b="0" i="0">
                <a:solidFill>
                  <a:srgbClr val="1A2B3C"/>
                </a:solidFill>
                <a:latin typeface="Arial"/>
              </a:rPr>
              <a:t>–  Treat every conductor as energized until YOU have verified it dead and grounded.</a:t>
            </a:r>
          </a:p>
        </p:txBody>
      </p:sp>
      <p:sp>
        <p:nvSpPr>
          <p:cNvPr id="13" name="Rectangle 12"/>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3 — Working Energized</a:t>
            </a:r>
          </a:p>
        </p:txBody>
      </p:sp>
      <p:sp>
        <p:nvSpPr>
          <p:cNvPr id="15" name="TextBox 14"/>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3.7 GROUNDING &amp; EPZ</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Grounding &amp; The Equipotential Zone</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783080"/>
            <a:ext cx="6949440" cy="4297680"/>
          </a:xfrm>
          <a:prstGeom prst="rect">
            <a:avLst/>
          </a:prstGeom>
          <a:noFill/>
        </p:spPr>
        <p:txBody>
          <a:bodyPr wrap="square" anchor="t" lIns="0" rIns="0" tIns="0" bIns="0">
            <a:spAutoFit/>
          </a:bodyPr>
          <a:lstStyle/>
          <a:p>
            <a:pPr algn="l">
              <a:lnSpc>
                <a:spcPct val="105000"/>
              </a:lnSpc>
              <a:spcBef>
                <a:spcPts val="700"/>
              </a:spcBef>
              <a:spcAft>
                <a:spcPts val="200"/>
              </a:spcAft>
            </a:pPr>
            <a:r>
              <a:rPr sz="1700" b="0" i="0">
                <a:solidFill>
                  <a:srgbClr val="1A2B3C"/>
                </a:solidFill>
                <a:latin typeface="Arial"/>
              </a:rPr>
              <a:t>■  Protective grounding does NOT just 'drain' the line — it protects YOU if it is re-energized</a:t>
            </a:r>
          </a:p>
          <a:p>
            <a:pPr algn="l">
              <a:lnSpc>
                <a:spcPct val="105000"/>
              </a:lnSpc>
              <a:spcBef>
                <a:spcPts val="700"/>
              </a:spcBef>
              <a:spcAft>
                <a:spcPts val="200"/>
              </a:spcAft>
            </a:pPr>
            <a:r>
              <a:rPr sz="1700" b="0" i="0">
                <a:solidFill>
                  <a:srgbClr val="1A2B3C"/>
                </a:solidFill>
                <a:latin typeface="Arial"/>
              </a:rPr>
              <a:t>■  If the line is accidentally energized, grounds provide a low-resistance path that trips protection fast</a:t>
            </a:r>
          </a:p>
          <a:p>
            <a:pPr algn="l">
              <a:lnSpc>
                <a:spcPct val="105000"/>
              </a:lnSpc>
              <a:spcBef>
                <a:spcPts val="700"/>
              </a:spcBef>
              <a:spcAft>
                <a:spcPts val="200"/>
              </a:spcAft>
            </a:pPr>
            <a:r>
              <a:rPr sz="1700" b="0" i="0">
                <a:solidFill>
                  <a:srgbClr val="1A2B3C"/>
                </a:solidFill>
                <a:latin typeface="Arial"/>
              </a:rPr>
              <a:t>■  Equipotential zone (EPZ): bond everything you could touch to the SAME potential</a:t>
            </a:r>
          </a:p>
          <a:p>
            <a:pPr algn="l" lvl="1">
              <a:lnSpc>
                <a:spcPct val="102000"/>
              </a:lnSpc>
              <a:spcBef>
                <a:spcPts val="200"/>
              </a:spcBef>
              <a:spcAft>
                <a:spcPts val="100"/>
              </a:spcAft>
            </a:pPr>
            <a:r>
              <a:rPr sz="1400" b="0" i="0">
                <a:solidFill>
                  <a:srgbClr val="334455"/>
                </a:solidFill>
                <a:latin typeface="Arial"/>
              </a:rPr>
              <a:t>–  If everything around you is at the same voltage, no current flows through you — like the bird</a:t>
            </a:r>
          </a:p>
          <a:p>
            <a:pPr algn="l">
              <a:lnSpc>
                <a:spcPct val="105000"/>
              </a:lnSpc>
              <a:spcBef>
                <a:spcPts val="700"/>
              </a:spcBef>
              <a:spcAft>
                <a:spcPts val="200"/>
              </a:spcAft>
            </a:pPr>
            <a:r>
              <a:rPr sz="1700" b="0" i="0">
                <a:solidFill>
                  <a:srgbClr val="1A2B3C"/>
                </a:solidFill>
                <a:latin typeface="Arial"/>
              </a:rPr>
              <a:t>■  Bonding: connect conductors, structures, and equipment together; ground that bonded system</a:t>
            </a:r>
          </a:p>
          <a:p>
            <a:pPr algn="l">
              <a:lnSpc>
                <a:spcPct val="105000"/>
              </a:lnSpc>
              <a:spcBef>
                <a:spcPts val="700"/>
              </a:spcBef>
              <a:spcAft>
                <a:spcPts val="200"/>
              </a:spcAft>
            </a:pPr>
            <a:r>
              <a:rPr sz="1700" b="0" i="0">
                <a:solidFill>
                  <a:srgbClr val="1A2B3C"/>
                </a:solidFill>
                <a:latin typeface="Arial"/>
              </a:rPr>
              <a:t>■  Grounds must be sized for available fault current and connected in the correct order</a:t>
            </a:r>
          </a:p>
          <a:p>
            <a:pPr algn="l" lvl="1">
              <a:lnSpc>
                <a:spcPct val="102000"/>
              </a:lnSpc>
              <a:spcBef>
                <a:spcPts val="200"/>
              </a:spcBef>
              <a:spcAft>
                <a:spcPts val="100"/>
              </a:spcAft>
            </a:pPr>
            <a:r>
              <a:rPr sz="1400" b="0" i="0">
                <a:solidFill>
                  <a:srgbClr val="334455"/>
                </a:solidFill>
                <a:latin typeface="Arial"/>
              </a:rPr>
              <a:t>–  Connect to ground/structure FIRST, then to the conductor; remove in REVERSE</a:t>
            </a:r>
          </a:p>
        </p:txBody>
      </p:sp>
      <p:sp>
        <p:nvSpPr>
          <p:cNvPr id="8" name="Rounded Rectangle 7"/>
          <p:cNvSpPr/>
          <p:nvPr/>
        </p:nvSpPr>
        <p:spPr>
          <a:xfrm>
            <a:off x="7863840" y="1874519"/>
            <a:ext cx="3776472" cy="3931920"/>
          </a:xfrm>
          <a:prstGeom prst="roundRect">
            <a:avLst/>
          </a:prstGeom>
          <a:solidFill>
            <a:srgbClr val="E7EEF6"/>
          </a:solidFill>
          <a:ln w="19050">
            <a:solidFill>
              <a:srgbClr val="1340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863840" y="1874519"/>
            <a:ext cx="3776472" cy="548640"/>
          </a:xfrm>
          <a:prstGeom prst="roundRect">
            <a:avLst/>
          </a:prstGeom>
          <a:solidFill>
            <a:srgbClr val="1340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63840" y="2148839"/>
            <a:ext cx="3776472" cy="274320"/>
          </a:xfrm>
          <a:prstGeom prst="rect">
            <a:avLst/>
          </a:prstGeom>
          <a:solidFill>
            <a:srgbClr val="1340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92440" y="1920239"/>
            <a:ext cx="3319272" cy="475488"/>
          </a:xfrm>
          <a:prstGeom prst="rect">
            <a:avLst/>
          </a:prstGeom>
          <a:noFill/>
        </p:spPr>
        <p:txBody>
          <a:bodyPr wrap="square" anchor="ctr" lIns="0" rIns="0" tIns="0" bIns="0">
            <a:spAutoFit/>
          </a:bodyPr>
          <a:lstStyle/>
          <a:p>
            <a:pPr algn="l">
              <a:lnSpc>
                <a:spcPct val="105000"/>
              </a:lnSpc>
              <a:spcBef>
                <a:spcPts val="400"/>
              </a:spcBef>
              <a:spcAft>
                <a:spcPts val="400"/>
              </a:spcAft>
            </a:pPr>
            <a:r>
              <a:rPr sz="1400" b="1" i="0">
                <a:solidFill>
                  <a:srgbClr val="FFFFFF"/>
                </a:solidFill>
                <a:latin typeface="Arial"/>
              </a:rPr>
              <a:t>KEY CONCEPT</a:t>
            </a:r>
          </a:p>
        </p:txBody>
      </p:sp>
      <p:sp>
        <p:nvSpPr>
          <p:cNvPr id="12" name="TextBox 11"/>
          <p:cNvSpPr txBox="1"/>
          <p:nvPr/>
        </p:nvSpPr>
        <p:spPr>
          <a:xfrm>
            <a:off x="8138160" y="2587752"/>
            <a:ext cx="3227832" cy="3063239"/>
          </a:xfrm>
          <a:prstGeom prst="rect">
            <a:avLst/>
          </a:prstGeom>
          <a:noFill/>
        </p:spPr>
        <p:txBody>
          <a:bodyPr wrap="square" anchor="t" lIns="0" rIns="0" tIns="0" bIns="0">
            <a:spAutoFit/>
          </a:bodyPr>
          <a:lstStyle/>
          <a:p>
            <a:pPr algn="l">
              <a:lnSpc>
                <a:spcPct val="105000"/>
              </a:lnSpc>
              <a:spcBef>
                <a:spcPts val="400"/>
              </a:spcBef>
              <a:spcAft>
                <a:spcPts val="400"/>
              </a:spcAft>
            </a:pPr>
            <a:r>
              <a:rPr sz="1550" b="1" i="0">
                <a:solidFill>
                  <a:srgbClr val="134074"/>
                </a:solidFill>
                <a:latin typeface="Arial"/>
              </a:rPr>
              <a:t>Why grounds save lives</a:t>
            </a:r>
          </a:p>
          <a:p>
            <a:pPr algn="l">
              <a:lnSpc>
                <a:spcPct val="105000"/>
              </a:lnSpc>
              <a:spcBef>
                <a:spcPts val="300"/>
              </a:spcBef>
              <a:spcAft>
                <a:spcPts val="100"/>
              </a:spcAft>
            </a:pPr>
            <a:r>
              <a:rPr sz="1300" b="0" i="0">
                <a:solidFill>
                  <a:srgbClr val="1A2B3C"/>
                </a:solidFill>
                <a:latin typeface="Arial"/>
              </a:rPr>
              <a:t>–  A worker inside a properly bonded EPZ rides the voltage up and down together — no difference of potential across the body.</a:t>
            </a:r>
          </a:p>
          <a:p>
            <a:pPr algn="l">
              <a:lnSpc>
                <a:spcPct val="105000"/>
              </a:lnSpc>
              <a:spcBef>
                <a:spcPts val="300"/>
              </a:spcBef>
              <a:spcAft>
                <a:spcPts val="100"/>
              </a:spcAft>
            </a:pPr>
            <a:r>
              <a:rPr sz="1300" b="0" i="0">
                <a:solidFill>
                  <a:srgbClr val="1A2B3C"/>
                </a:solidFill>
                <a:latin typeface="Arial"/>
              </a:rPr>
              <a:t>–  Grounds are sized to carry fault current long enough for the breaker/recloser to operate.</a:t>
            </a:r>
          </a:p>
        </p:txBody>
      </p:sp>
      <p:sp>
        <p:nvSpPr>
          <p:cNvPr id="13" name="Rectangle 12"/>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3 — Working Energized</a:t>
            </a:r>
          </a:p>
        </p:txBody>
      </p:sp>
      <p:sp>
        <p:nvSpPr>
          <p:cNvPr id="15" name="TextBox 14"/>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3.8 INDUCED VOLTAGE</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Induced Voltage — The Hidden Hazard on 'Dead' Lines</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27632"/>
            <a:ext cx="10881360" cy="548640"/>
          </a:xfrm>
          <a:prstGeom prst="rect">
            <a:avLst/>
          </a:prstGeom>
          <a:noFill/>
        </p:spPr>
        <p:txBody>
          <a:bodyPr wrap="square" anchor="t" lIns="0" rIns="0" tIns="0" bIns="0">
            <a:spAutoFit/>
          </a:bodyPr>
          <a:lstStyle/>
          <a:p>
            <a:pPr algn="l">
              <a:lnSpc>
                <a:spcPct val="105000"/>
              </a:lnSpc>
              <a:spcBef>
                <a:spcPts val="400"/>
              </a:spcBef>
              <a:spcAft>
                <a:spcPts val="400"/>
              </a:spcAft>
            </a:pPr>
            <a:r>
              <a:rPr sz="1550" b="0" i="1">
                <a:solidFill>
                  <a:srgbClr val="5B6B7B"/>
                </a:solidFill>
                <a:latin typeface="Arial"/>
              </a:rPr>
              <a:t>“Dead” is not the same as “grounded.” Induction is why we ground at the work location.</a:t>
            </a:r>
          </a:p>
        </p:txBody>
      </p:sp>
      <p:sp>
        <p:nvSpPr>
          <p:cNvPr id="8" name="TextBox 7"/>
          <p:cNvSpPr txBox="1"/>
          <p:nvPr/>
        </p:nvSpPr>
        <p:spPr>
          <a:xfrm>
            <a:off x="658368" y="2240280"/>
            <a:ext cx="10927080" cy="3703320"/>
          </a:xfrm>
          <a:prstGeom prst="rect">
            <a:avLst/>
          </a:prstGeom>
          <a:noFill/>
        </p:spPr>
        <p:txBody>
          <a:bodyPr wrap="square" anchor="t" lIns="0" rIns="0" tIns="0" bIns="0">
            <a:spAutoFit/>
          </a:bodyPr>
          <a:lstStyle/>
          <a:p>
            <a:pPr algn="l">
              <a:lnSpc>
                <a:spcPct val="105000"/>
              </a:lnSpc>
              <a:spcBef>
                <a:spcPts val="700"/>
              </a:spcBef>
              <a:spcAft>
                <a:spcPts val="200"/>
              </a:spcAft>
            </a:pPr>
            <a:r>
              <a:rPr sz="1800" b="0" i="0">
                <a:solidFill>
                  <a:srgbClr val="1A2B3C"/>
                </a:solidFill>
                <a:latin typeface="Arial"/>
              </a:rPr>
              <a:t>■  A de-energized line running parallel to an energized one can pick up voltage by induction</a:t>
            </a:r>
          </a:p>
          <a:p>
            <a:pPr algn="l" lvl="1">
              <a:lnSpc>
                <a:spcPct val="103000"/>
              </a:lnSpc>
              <a:spcBef>
                <a:spcPts val="200"/>
              </a:spcBef>
              <a:spcAft>
                <a:spcPts val="200"/>
              </a:spcAft>
            </a:pPr>
            <a:r>
              <a:rPr sz="1500" b="0" i="0">
                <a:solidFill>
                  <a:srgbClr val="334455"/>
                </a:solidFill>
                <a:latin typeface="Arial"/>
              </a:rPr>
              <a:t>–  Magnetic (current) and electrostatic (voltage) coupling from the live circuit</a:t>
            </a:r>
          </a:p>
          <a:p>
            <a:pPr algn="l">
              <a:lnSpc>
                <a:spcPct val="105000"/>
              </a:lnSpc>
              <a:spcBef>
                <a:spcPts val="700"/>
              </a:spcBef>
              <a:spcAft>
                <a:spcPts val="200"/>
              </a:spcAft>
            </a:pPr>
            <a:r>
              <a:rPr sz="1800" b="0" i="0">
                <a:solidFill>
                  <a:srgbClr val="1A2B3C"/>
                </a:solidFill>
                <a:latin typeface="Arial"/>
              </a:rPr>
              <a:t>■  The longer the parallel and the higher the live circuit's load, the greater the induced voltage</a:t>
            </a:r>
          </a:p>
          <a:p>
            <a:pPr algn="l">
              <a:lnSpc>
                <a:spcPct val="105000"/>
              </a:lnSpc>
              <a:spcBef>
                <a:spcPts val="700"/>
              </a:spcBef>
              <a:spcAft>
                <a:spcPts val="200"/>
              </a:spcAft>
            </a:pPr>
            <a:r>
              <a:rPr sz="1800" b="0" i="0">
                <a:solidFill>
                  <a:srgbClr val="1A2B3C"/>
                </a:solidFill>
                <a:latin typeface="Arial"/>
              </a:rPr>
              <a:t>■  An ungrounded 'dead' line can hold enough induced potential to shock or kill</a:t>
            </a:r>
          </a:p>
          <a:p>
            <a:pPr algn="l">
              <a:lnSpc>
                <a:spcPct val="105000"/>
              </a:lnSpc>
              <a:spcBef>
                <a:spcPts val="700"/>
              </a:spcBef>
              <a:spcAft>
                <a:spcPts val="200"/>
              </a:spcAft>
            </a:pPr>
            <a:r>
              <a:rPr sz="1800" b="0" i="0">
                <a:solidFill>
                  <a:srgbClr val="1A2B3C"/>
                </a:solidFill>
                <a:latin typeface="Arial"/>
              </a:rPr>
              <a:t>■  Control it by GROUNDING — and by working within a bonded equipotential zone</a:t>
            </a:r>
          </a:p>
          <a:p>
            <a:pPr algn="l" lvl="1">
              <a:lnSpc>
                <a:spcPct val="103000"/>
              </a:lnSpc>
              <a:spcBef>
                <a:spcPts val="200"/>
              </a:spcBef>
              <a:spcAft>
                <a:spcPts val="200"/>
              </a:spcAft>
            </a:pPr>
            <a:r>
              <a:rPr sz="1500" b="0" i="0">
                <a:solidFill>
                  <a:srgbClr val="334455"/>
                </a:solidFill>
                <a:latin typeface="Arial"/>
              </a:rPr>
              <a:t>–  Grounds at the work site (not just at the ends) keep induced potential off the worker</a:t>
            </a:r>
          </a:p>
          <a:p>
            <a:pPr algn="l">
              <a:lnSpc>
                <a:spcPct val="105000"/>
              </a:lnSpc>
              <a:spcBef>
                <a:spcPts val="700"/>
              </a:spcBef>
              <a:spcAft>
                <a:spcPts val="200"/>
              </a:spcAft>
            </a:pPr>
            <a:r>
              <a:rPr sz="1800" b="0" i="0">
                <a:solidFill>
                  <a:srgbClr val="1A2B3C"/>
                </a:solidFill>
                <a:latin typeface="Arial"/>
              </a:rPr>
              <a:t>■  Switching, transmission, and parallel-circuit work demand extra attention to induction</a:t>
            </a:r>
          </a:p>
        </p:txBody>
      </p:sp>
      <p:sp>
        <p:nvSpPr>
          <p:cNvPr id="9" name="Rectangle 8"/>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3 — Working Energized</a:t>
            </a:r>
          </a:p>
        </p:txBody>
      </p:sp>
      <p:sp>
        <p:nvSpPr>
          <p:cNvPr id="11" name="TextBox 10"/>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ILLUSTRATED</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The Hierarchy of Controls</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ig_hierarchy.png"/>
          <p:cNvPicPr>
            <a:picLocks noChangeAspect="1"/>
          </p:cNvPicPr>
          <p:nvPr/>
        </p:nvPicPr>
        <p:blipFill>
          <a:blip r:embed="rId2"/>
          <a:stretch>
            <a:fillRect/>
          </a:stretch>
        </p:blipFill>
        <p:spPr>
          <a:xfrm>
            <a:off x="3573305" y="1783080"/>
            <a:ext cx="5042341" cy="3703320"/>
          </a:xfrm>
          <a:prstGeom prst="rect">
            <a:avLst/>
          </a:prstGeom>
        </p:spPr>
      </p:pic>
      <p:sp>
        <p:nvSpPr>
          <p:cNvPr id="8" name="TextBox 7"/>
          <p:cNvSpPr txBox="1"/>
          <p:nvPr/>
        </p:nvSpPr>
        <p:spPr>
          <a:xfrm>
            <a:off x="822960" y="5650992"/>
            <a:ext cx="10515600" cy="640080"/>
          </a:xfrm>
          <a:prstGeom prst="rect">
            <a:avLst/>
          </a:prstGeom>
          <a:noFill/>
        </p:spPr>
        <p:txBody>
          <a:bodyPr wrap="square" anchor="t" lIns="0" rIns="0" tIns="0" bIns="0">
            <a:spAutoFit/>
          </a:bodyPr>
          <a:lstStyle/>
          <a:p>
            <a:pPr algn="ctr">
              <a:lnSpc>
                <a:spcPct val="118000"/>
              </a:lnSpc>
              <a:spcBef>
                <a:spcPts val="400"/>
              </a:spcBef>
              <a:spcAft>
                <a:spcPts val="400"/>
              </a:spcAft>
            </a:pPr>
            <a:r>
              <a:rPr sz="1300" b="0" i="1">
                <a:solidFill>
                  <a:srgbClr val="5B6B7B"/>
                </a:solidFill>
                <a:latin typeface="Arial"/>
              </a:rPr>
              <a:t>Work from the top down: de-energize first; PPE is the last line, never the only line.</a:t>
            </a:r>
          </a:p>
        </p:txBody>
      </p:sp>
      <p:sp>
        <p:nvSpPr>
          <p:cNvPr id="9" name="Rectangle 8"/>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3 — Working Energized</a:t>
            </a:r>
          </a:p>
        </p:txBody>
      </p:sp>
      <p:sp>
        <p:nvSpPr>
          <p:cNvPr id="11" name="TextBox 10"/>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ILLUSTRATED</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Minimum Approach Distance</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ig_mad.png"/>
          <p:cNvPicPr>
            <a:picLocks noChangeAspect="1"/>
          </p:cNvPicPr>
          <p:nvPr/>
        </p:nvPicPr>
        <p:blipFill>
          <a:blip r:embed="rId2"/>
          <a:stretch>
            <a:fillRect/>
          </a:stretch>
        </p:blipFill>
        <p:spPr>
          <a:xfrm>
            <a:off x="3573305" y="1783080"/>
            <a:ext cx="5042341" cy="3703320"/>
          </a:xfrm>
          <a:prstGeom prst="rect">
            <a:avLst/>
          </a:prstGeom>
        </p:spPr>
      </p:pic>
      <p:sp>
        <p:nvSpPr>
          <p:cNvPr id="8" name="TextBox 7"/>
          <p:cNvSpPr txBox="1"/>
          <p:nvPr/>
        </p:nvSpPr>
        <p:spPr>
          <a:xfrm>
            <a:off x="822960" y="5650992"/>
            <a:ext cx="10515600" cy="640080"/>
          </a:xfrm>
          <a:prstGeom prst="rect">
            <a:avLst/>
          </a:prstGeom>
          <a:noFill/>
        </p:spPr>
        <p:txBody>
          <a:bodyPr wrap="square" anchor="t" lIns="0" rIns="0" tIns="0" bIns="0">
            <a:spAutoFit/>
          </a:bodyPr>
          <a:lstStyle/>
          <a:p>
            <a:pPr algn="ctr">
              <a:lnSpc>
                <a:spcPct val="118000"/>
              </a:lnSpc>
              <a:spcBef>
                <a:spcPts val="400"/>
              </a:spcBef>
              <a:spcAft>
                <a:spcPts val="400"/>
              </a:spcAft>
            </a:pPr>
            <a:r>
              <a:rPr sz="1300" b="0" i="1">
                <a:solidFill>
                  <a:srgbClr val="5B6B7B"/>
                </a:solidFill>
                <a:latin typeface="Arial"/>
              </a:rPr>
              <a:t>Keep body, tools, and equipment outside the minimum approach distance for your voltage.</a:t>
            </a:r>
          </a:p>
        </p:txBody>
      </p:sp>
      <p:sp>
        <p:nvSpPr>
          <p:cNvPr id="9" name="Rectangle 8"/>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3 — Working Energized</a:t>
            </a:r>
          </a:p>
        </p:txBody>
      </p:sp>
      <p:sp>
        <p:nvSpPr>
          <p:cNvPr id="11" name="TextBox 10"/>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ILLUSTRATED</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The Insulated Aerial Device</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ig_bucket.png"/>
          <p:cNvPicPr>
            <a:picLocks noChangeAspect="1"/>
          </p:cNvPicPr>
          <p:nvPr/>
        </p:nvPicPr>
        <p:blipFill>
          <a:blip r:embed="rId2"/>
          <a:stretch>
            <a:fillRect/>
          </a:stretch>
        </p:blipFill>
        <p:spPr>
          <a:xfrm>
            <a:off x="3573305" y="1783080"/>
            <a:ext cx="5042341" cy="3703320"/>
          </a:xfrm>
          <a:prstGeom prst="rect">
            <a:avLst/>
          </a:prstGeom>
        </p:spPr>
      </p:pic>
      <p:sp>
        <p:nvSpPr>
          <p:cNvPr id="8" name="TextBox 7"/>
          <p:cNvSpPr txBox="1"/>
          <p:nvPr/>
        </p:nvSpPr>
        <p:spPr>
          <a:xfrm>
            <a:off x="822960" y="5650992"/>
            <a:ext cx="10515600" cy="640080"/>
          </a:xfrm>
          <a:prstGeom prst="rect">
            <a:avLst/>
          </a:prstGeom>
          <a:noFill/>
        </p:spPr>
        <p:txBody>
          <a:bodyPr wrap="square" anchor="t" lIns="0" rIns="0" tIns="0" bIns="0">
            <a:spAutoFit/>
          </a:bodyPr>
          <a:lstStyle/>
          <a:p>
            <a:pPr algn="ctr">
              <a:lnSpc>
                <a:spcPct val="118000"/>
              </a:lnSpc>
              <a:spcBef>
                <a:spcPts val="400"/>
              </a:spcBef>
              <a:spcAft>
                <a:spcPts val="400"/>
              </a:spcAft>
            </a:pPr>
            <a:r>
              <a:rPr sz="1300" b="0" i="1">
                <a:solidFill>
                  <a:srgbClr val="5B6B7B"/>
                </a:solidFill>
                <a:latin typeface="Arial"/>
              </a:rPr>
              <a:t>The fiberglass upper boom is a dielectric insulating gap between the bucket and ground.</a:t>
            </a:r>
          </a:p>
        </p:txBody>
      </p:sp>
      <p:sp>
        <p:nvSpPr>
          <p:cNvPr id="9" name="Rectangle 8"/>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3 — Working Energized</a:t>
            </a:r>
          </a:p>
        </p:txBody>
      </p:sp>
      <p:sp>
        <p:nvSpPr>
          <p:cNvPr id="11" name="TextBox 10"/>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ILLUSTRATED</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The Second Point of Contact</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ig_secondpoint.png"/>
          <p:cNvPicPr>
            <a:picLocks noChangeAspect="1"/>
          </p:cNvPicPr>
          <p:nvPr/>
        </p:nvPicPr>
        <p:blipFill>
          <a:blip r:embed="rId2"/>
          <a:stretch>
            <a:fillRect/>
          </a:stretch>
        </p:blipFill>
        <p:spPr>
          <a:xfrm>
            <a:off x="1445957" y="1783080"/>
            <a:ext cx="9297037" cy="3703320"/>
          </a:xfrm>
          <a:prstGeom prst="rect">
            <a:avLst/>
          </a:prstGeom>
        </p:spPr>
      </p:pic>
      <p:sp>
        <p:nvSpPr>
          <p:cNvPr id="8" name="TextBox 7"/>
          <p:cNvSpPr txBox="1"/>
          <p:nvPr/>
        </p:nvSpPr>
        <p:spPr>
          <a:xfrm>
            <a:off x="822960" y="5650992"/>
            <a:ext cx="10515600" cy="640080"/>
          </a:xfrm>
          <a:prstGeom prst="rect">
            <a:avLst/>
          </a:prstGeom>
          <a:noFill/>
        </p:spPr>
        <p:txBody>
          <a:bodyPr wrap="square" anchor="t" lIns="0" rIns="0" tIns="0" bIns="0">
            <a:spAutoFit/>
          </a:bodyPr>
          <a:lstStyle/>
          <a:p>
            <a:pPr algn="ctr">
              <a:lnSpc>
                <a:spcPct val="118000"/>
              </a:lnSpc>
              <a:spcBef>
                <a:spcPts val="400"/>
              </a:spcBef>
              <a:spcAft>
                <a:spcPts val="400"/>
              </a:spcAft>
            </a:pPr>
            <a:r>
              <a:rPr sz="1300" b="0" i="1">
                <a:solidFill>
                  <a:srgbClr val="5B6B7B"/>
                </a:solidFill>
                <a:latin typeface="Arial"/>
              </a:rPr>
              <a:t>Eliminate the second point of contact — cover it or remove it — and the circuit can't close through you.</a:t>
            </a:r>
          </a:p>
        </p:txBody>
      </p:sp>
      <p:sp>
        <p:nvSpPr>
          <p:cNvPr id="9" name="Rectangle 8"/>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3 — Working Energized</a:t>
            </a:r>
          </a:p>
        </p:txBody>
      </p:sp>
      <p:sp>
        <p:nvSpPr>
          <p:cNvPr id="11" name="TextBox 10"/>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ILLUSTRATED</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Cover-Up at the Pole Top</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ig_coverup.png"/>
          <p:cNvPicPr>
            <a:picLocks noChangeAspect="1"/>
          </p:cNvPicPr>
          <p:nvPr/>
        </p:nvPicPr>
        <p:blipFill>
          <a:blip r:embed="rId2"/>
          <a:stretch>
            <a:fillRect/>
          </a:stretch>
        </p:blipFill>
        <p:spPr>
          <a:xfrm>
            <a:off x="3573305" y="1783080"/>
            <a:ext cx="5042341" cy="3703320"/>
          </a:xfrm>
          <a:prstGeom prst="rect">
            <a:avLst/>
          </a:prstGeom>
        </p:spPr>
      </p:pic>
      <p:sp>
        <p:nvSpPr>
          <p:cNvPr id="8" name="TextBox 7"/>
          <p:cNvSpPr txBox="1"/>
          <p:nvPr/>
        </p:nvSpPr>
        <p:spPr>
          <a:xfrm>
            <a:off x="822960" y="5650992"/>
            <a:ext cx="10515600" cy="640080"/>
          </a:xfrm>
          <a:prstGeom prst="rect">
            <a:avLst/>
          </a:prstGeom>
          <a:noFill/>
        </p:spPr>
        <p:txBody>
          <a:bodyPr wrap="square" anchor="t" lIns="0" rIns="0" tIns="0" bIns="0">
            <a:spAutoFit/>
          </a:bodyPr>
          <a:lstStyle/>
          <a:p>
            <a:pPr algn="ctr">
              <a:lnSpc>
                <a:spcPct val="118000"/>
              </a:lnSpc>
              <a:spcBef>
                <a:spcPts val="400"/>
              </a:spcBef>
              <a:spcAft>
                <a:spcPts val="400"/>
              </a:spcAft>
            </a:pPr>
            <a:r>
              <a:rPr sz="1300" b="0" i="1">
                <a:solidFill>
                  <a:srgbClr val="5B6B7B"/>
                </a:solidFill>
                <a:latin typeface="Arial"/>
              </a:rPr>
              <a:t>Insulate every energized and grounded part within reach: nearest first, remove in reverse.</a:t>
            </a:r>
          </a:p>
        </p:txBody>
      </p:sp>
      <p:sp>
        <p:nvSpPr>
          <p:cNvPr id="9" name="Rectangle 8"/>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3 — Working Energized</a:t>
            </a:r>
          </a:p>
        </p:txBody>
      </p:sp>
      <p:sp>
        <p:nvSpPr>
          <p:cNvPr id="11" name="TextBox 10"/>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ILLUSTRATED</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The De-Energize / LOTO Sequence</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ig_loto.png"/>
          <p:cNvPicPr>
            <a:picLocks noChangeAspect="1"/>
          </p:cNvPicPr>
          <p:nvPr/>
        </p:nvPicPr>
        <p:blipFill>
          <a:blip r:embed="rId2"/>
          <a:stretch>
            <a:fillRect/>
          </a:stretch>
        </p:blipFill>
        <p:spPr>
          <a:xfrm>
            <a:off x="761695" y="1783080"/>
            <a:ext cx="10665561" cy="3703320"/>
          </a:xfrm>
          <a:prstGeom prst="rect">
            <a:avLst/>
          </a:prstGeom>
        </p:spPr>
      </p:pic>
      <p:sp>
        <p:nvSpPr>
          <p:cNvPr id="8" name="TextBox 7"/>
          <p:cNvSpPr txBox="1"/>
          <p:nvPr/>
        </p:nvSpPr>
        <p:spPr>
          <a:xfrm>
            <a:off x="822960" y="5650992"/>
            <a:ext cx="10515600" cy="640080"/>
          </a:xfrm>
          <a:prstGeom prst="rect">
            <a:avLst/>
          </a:prstGeom>
          <a:noFill/>
        </p:spPr>
        <p:txBody>
          <a:bodyPr wrap="square" anchor="t" lIns="0" rIns="0" tIns="0" bIns="0">
            <a:spAutoFit/>
          </a:bodyPr>
          <a:lstStyle/>
          <a:p>
            <a:pPr algn="ctr">
              <a:lnSpc>
                <a:spcPct val="118000"/>
              </a:lnSpc>
              <a:spcBef>
                <a:spcPts val="400"/>
              </a:spcBef>
              <a:spcAft>
                <a:spcPts val="400"/>
              </a:spcAft>
            </a:pPr>
            <a:r>
              <a:rPr sz="1300" b="0" i="1">
                <a:solidFill>
                  <a:srgbClr val="5B6B7B"/>
                </a:solidFill>
                <a:latin typeface="Arial"/>
              </a:rPr>
              <a:t>Identify → open → lock &amp; tag → test → ground.  Never skip a step.</a:t>
            </a:r>
          </a:p>
        </p:txBody>
      </p:sp>
      <p:sp>
        <p:nvSpPr>
          <p:cNvPr id="9" name="Rectangle 8"/>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3 — Working Energized</a:t>
            </a:r>
          </a:p>
        </p:txBody>
      </p:sp>
      <p:sp>
        <p:nvSpPr>
          <p:cNvPr id="11" name="TextBox 10"/>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ILLUSTRATED</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The Equipotential Zone</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ig_epz.png"/>
          <p:cNvPicPr>
            <a:picLocks noChangeAspect="1"/>
          </p:cNvPicPr>
          <p:nvPr/>
        </p:nvPicPr>
        <p:blipFill>
          <a:blip r:embed="rId2"/>
          <a:stretch>
            <a:fillRect/>
          </a:stretch>
        </p:blipFill>
        <p:spPr>
          <a:xfrm>
            <a:off x="3573305" y="1783080"/>
            <a:ext cx="5042341" cy="3703320"/>
          </a:xfrm>
          <a:prstGeom prst="rect">
            <a:avLst/>
          </a:prstGeom>
        </p:spPr>
      </p:pic>
      <p:sp>
        <p:nvSpPr>
          <p:cNvPr id="8" name="TextBox 7"/>
          <p:cNvSpPr txBox="1"/>
          <p:nvPr/>
        </p:nvSpPr>
        <p:spPr>
          <a:xfrm>
            <a:off x="822960" y="5650992"/>
            <a:ext cx="10515600" cy="640080"/>
          </a:xfrm>
          <a:prstGeom prst="rect">
            <a:avLst/>
          </a:prstGeom>
          <a:noFill/>
        </p:spPr>
        <p:txBody>
          <a:bodyPr wrap="square" anchor="t" lIns="0" rIns="0" tIns="0" bIns="0">
            <a:spAutoFit/>
          </a:bodyPr>
          <a:lstStyle/>
          <a:p>
            <a:pPr algn="ctr">
              <a:lnSpc>
                <a:spcPct val="118000"/>
              </a:lnSpc>
              <a:spcBef>
                <a:spcPts val="400"/>
              </a:spcBef>
              <a:spcAft>
                <a:spcPts val="400"/>
              </a:spcAft>
            </a:pPr>
            <a:r>
              <a:rPr sz="1300" b="0" i="1">
                <a:solidFill>
                  <a:srgbClr val="5B6B7B"/>
                </a:solidFill>
                <a:latin typeface="Arial"/>
              </a:rPr>
              <a:t>Bond and ground a work zone to one potential — no difference across the body means no current.</a:t>
            </a:r>
          </a:p>
        </p:txBody>
      </p:sp>
      <p:sp>
        <p:nvSpPr>
          <p:cNvPr id="9" name="Rectangle 8"/>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3 — Working Energized</a:t>
            </a:r>
          </a:p>
        </p:txBody>
      </p:sp>
      <p:sp>
        <p:nvSpPr>
          <p:cNvPr id="11" name="TextBox 10"/>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ILLUSTRATED</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How Induced Voltage Appears</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ig_induced.png"/>
          <p:cNvPicPr>
            <a:picLocks noChangeAspect="1"/>
          </p:cNvPicPr>
          <p:nvPr/>
        </p:nvPicPr>
        <p:blipFill>
          <a:blip r:embed="rId2"/>
          <a:stretch>
            <a:fillRect/>
          </a:stretch>
        </p:blipFill>
        <p:spPr>
          <a:xfrm>
            <a:off x="1013701" y="1783080"/>
            <a:ext cx="10161548" cy="3703320"/>
          </a:xfrm>
          <a:prstGeom prst="rect">
            <a:avLst/>
          </a:prstGeom>
        </p:spPr>
      </p:pic>
      <p:sp>
        <p:nvSpPr>
          <p:cNvPr id="8" name="TextBox 7"/>
          <p:cNvSpPr txBox="1"/>
          <p:nvPr/>
        </p:nvSpPr>
        <p:spPr>
          <a:xfrm>
            <a:off x="822960" y="5650992"/>
            <a:ext cx="10515600" cy="640080"/>
          </a:xfrm>
          <a:prstGeom prst="rect">
            <a:avLst/>
          </a:prstGeom>
          <a:noFill/>
        </p:spPr>
        <p:txBody>
          <a:bodyPr wrap="square" anchor="t" lIns="0" rIns="0" tIns="0" bIns="0">
            <a:spAutoFit/>
          </a:bodyPr>
          <a:lstStyle/>
          <a:p>
            <a:pPr algn="ctr">
              <a:lnSpc>
                <a:spcPct val="118000"/>
              </a:lnSpc>
              <a:spcBef>
                <a:spcPts val="400"/>
              </a:spcBef>
              <a:spcAft>
                <a:spcPts val="400"/>
              </a:spcAft>
            </a:pPr>
            <a:r>
              <a:rPr sz="1300" b="0" i="1">
                <a:solidFill>
                  <a:srgbClr val="5B6B7B"/>
                </a:solidFill>
                <a:latin typeface="Arial"/>
              </a:rPr>
              <a:t>A parallel live line couples voltage onto a dead one — ground at the work site, not just the ends.</a:t>
            </a:r>
          </a:p>
        </p:txBody>
      </p:sp>
      <p:sp>
        <p:nvSpPr>
          <p:cNvPr id="9" name="Rectangle 8"/>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3 — Working Energized</a:t>
            </a:r>
          </a:p>
        </p:txBody>
      </p:sp>
      <p:sp>
        <p:nvSpPr>
          <p:cNvPr id="11" name="TextBox 10"/>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MODULE 3 RECAP</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Module 3 — Key Takeaways</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783080"/>
            <a:ext cx="10927080" cy="4160520"/>
          </a:xfrm>
          <a:prstGeom prst="rect">
            <a:avLst/>
          </a:prstGeom>
          <a:noFill/>
        </p:spPr>
        <p:txBody>
          <a:bodyPr wrap="square" anchor="t" lIns="0" rIns="0" tIns="0" bIns="0">
            <a:spAutoFit/>
          </a:bodyPr>
          <a:lstStyle/>
          <a:p>
            <a:pPr algn="l">
              <a:lnSpc>
                <a:spcPct val="105000"/>
              </a:lnSpc>
              <a:spcBef>
                <a:spcPts val="700"/>
              </a:spcBef>
              <a:spcAft>
                <a:spcPts val="200"/>
              </a:spcAft>
            </a:pPr>
            <a:r>
              <a:rPr sz="1800" b="0" i="0">
                <a:solidFill>
                  <a:srgbClr val="1A2B3C"/>
                </a:solidFill>
                <a:latin typeface="Arial"/>
              </a:rPr>
              <a:t>■  Prefer de-energizing; when working hot, isolate AND insulate — never rely on one control</a:t>
            </a:r>
          </a:p>
          <a:p>
            <a:pPr algn="l">
              <a:lnSpc>
                <a:spcPct val="105000"/>
              </a:lnSpc>
              <a:spcBef>
                <a:spcPts val="700"/>
              </a:spcBef>
              <a:spcAft>
                <a:spcPts val="200"/>
              </a:spcAft>
            </a:pPr>
            <a:r>
              <a:rPr sz="1800" b="0" i="0">
                <a:solidFill>
                  <a:srgbClr val="1A2B3C"/>
                </a:solidFill>
                <a:latin typeface="Arial"/>
              </a:rPr>
              <a:t>■  Maintain MAD for your voltage; anything conductive counts toward the distance</a:t>
            </a:r>
          </a:p>
          <a:p>
            <a:pPr algn="l">
              <a:lnSpc>
                <a:spcPct val="105000"/>
              </a:lnSpc>
              <a:spcBef>
                <a:spcPts val="700"/>
              </a:spcBef>
              <a:spcAft>
                <a:spcPts val="200"/>
              </a:spcAft>
            </a:pPr>
            <a:r>
              <a:rPr sz="1800" b="0" i="0">
                <a:solidFill>
                  <a:srgbClr val="1A2B3C"/>
                </a:solidFill>
                <a:latin typeface="Arial"/>
              </a:rPr>
              <a:t>■  THE SECOND POINT OF CONTACT completes the circuit — find it, cover it, remove it, every time</a:t>
            </a:r>
          </a:p>
          <a:p>
            <a:pPr algn="l">
              <a:lnSpc>
                <a:spcPct val="105000"/>
              </a:lnSpc>
              <a:spcBef>
                <a:spcPts val="700"/>
              </a:spcBef>
              <a:spcAft>
                <a:spcPts val="200"/>
              </a:spcAft>
            </a:pPr>
            <a:r>
              <a:rPr sz="1800" b="0" i="0">
                <a:solidFill>
                  <a:srgbClr val="1A2B3C"/>
                </a:solidFill>
                <a:latin typeface="Arial"/>
              </a:rPr>
              <a:t>■  Cover-up backs up your gloves and MAD: nearest first, remove in reverse</a:t>
            </a:r>
          </a:p>
          <a:p>
            <a:pPr algn="l">
              <a:lnSpc>
                <a:spcPct val="105000"/>
              </a:lnSpc>
              <a:spcBef>
                <a:spcPts val="700"/>
              </a:spcBef>
              <a:spcAft>
                <a:spcPts val="200"/>
              </a:spcAft>
            </a:pPr>
            <a:r>
              <a:rPr sz="1800" b="0" i="0">
                <a:solidFill>
                  <a:srgbClr val="1A2B3C"/>
                </a:solidFill>
                <a:latin typeface="Arial"/>
              </a:rPr>
              <a:t>■  De-energize properly: identify, open, lock/tag, TEST, then GROUND</a:t>
            </a:r>
          </a:p>
          <a:p>
            <a:pPr algn="l">
              <a:lnSpc>
                <a:spcPct val="105000"/>
              </a:lnSpc>
              <a:spcBef>
                <a:spcPts val="700"/>
              </a:spcBef>
              <a:spcAft>
                <a:spcPts val="200"/>
              </a:spcAft>
            </a:pPr>
            <a:r>
              <a:rPr sz="1800" b="0" i="0">
                <a:solidFill>
                  <a:srgbClr val="1A2B3C"/>
                </a:solidFill>
                <a:latin typeface="Arial"/>
              </a:rPr>
              <a:t>■  Bond an equipotential zone and ground at the work site — it defeats re-energization AND induction</a:t>
            </a:r>
          </a:p>
        </p:txBody>
      </p:sp>
      <p:sp>
        <p:nvSpPr>
          <p:cNvPr id="8" name="Rectangle 7"/>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3 — Working Energized</a:t>
            </a:r>
          </a:p>
        </p:txBody>
      </p:sp>
      <p:sp>
        <p:nvSpPr>
          <p:cNvPr id="10" name="TextBox 9"/>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a:gsLst>
              <a:gs pos="0">
                <a:srgbClr val="0B2545"/>
              </a:gs>
              <a:gs pos="100000">
                <a:srgbClr val="071830"/>
              </a:gs>
            </a:gsLst>
            <a:lin ang="27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371600"/>
            <a:ext cx="3840480" cy="2926080"/>
          </a:xfrm>
          <a:prstGeom prst="rect">
            <a:avLst/>
          </a:prstGeom>
          <a:noFill/>
        </p:spPr>
        <p:txBody>
          <a:bodyPr wrap="square" anchor="ctr" lIns="0" rIns="0" tIns="0" bIns="0">
            <a:spAutoFit/>
          </a:bodyPr>
          <a:lstStyle/>
          <a:p>
            <a:pPr algn="l">
              <a:lnSpc>
                <a:spcPct val="105000"/>
              </a:lnSpc>
              <a:spcBef>
                <a:spcPts val="400"/>
              </a:spcBef>
              <a:spcAft>
                <a:spcPts val="0"/>
              </a:spcAft>
            </a:pPr>
            <a:r>
              <a:rPr sz="1800" b="1" i="0">
                <a:solidFill>
                  <a:srgbClr val="F5B100"/>
                </a:solidFill>
                <a:latin typeface="Arial"/>
              </a:rPr>
              <a:t>MODULE</a:t>
            </a:r>
          </a:p>
          <a:p>
            <a:pPr algn="l">
              <a:lnSpc>
                <a:spcPct val="90000"/>
              </a:lnSpc>
              <a:spcBef>
                <a:spcPts val="0"/>
              </a:spcBef>
              <a:spcAft>
                <a:spcPts val="400"/>
              </a:spcAft>
            </a:pPr>
            <a:r>
              <a:rPr sz="15000" b="1" i="0">
                <a:solidFill>
                  <a:srgbClr val="FFFFFF"/>
                </a:solidFill>
                <a:latin typeface="Arial"/>
              </a:rPr>
              <a:t>4</a:t>
            </a:r>
          </a:p>
        </p:txBody>
      </p:sp>
      <p:sp>
        <p:nvSpPr>
          <p:cNvPr id="5" name="Rectangle 4"/>
          <p:cNvSpPr/>
          <p:nvPr/>
        </p:nvSpPr>
        <p:spPr>
          <a:xfrm>
            <a:off x="4800600" y="1554480"/>
            <a:ext cx="36576" cy="3657600"/>
          </a:xfrm>
          <a:prstGeom prst="rect">
            <a:avLst/>
          </a:prstGeom>
          <a:solidFill>
            <a:srgbClr val="2A47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12080" y="1691640"/>
            <a:ext cx="6400800" cy="1463040"/>
          </a:xfrm>
          <a:prstGeom prst="rect">
            <a:avLst/>
          </a:prstGeom>
          <a:noFill/>
        </p:spPr>
        <p:txBody>
          <a:bodyPr wrap="square" anchor="t" lIns="0" rIns="0" tIns="0" bIns="0">
            <a:spAutoFit/>
          </a:bodyPr>
          <a:lstStyle/>
          <a:p>
            <a:pPr algn="l">
              <a:lnSpc>
                <a:spcPct val="100000"/>
              </a:lnSpc>
              <a:spcBef>
                <a:spcPts val="400"/>
              </a:spcBef>
              <a:spcAft>
                <a:spcPts val="400"/>
              </a:spcAft>
            </a:pPr>
            <a:r>
              <a:rPr sz="3400" b="1" i="0">
                <a:solidFill>
                  <a:srgbClr val="FFFFFF"/>
                </a:solidFill>
                <a:latin typeface="Arial"/>
              </a:rPr>
              <a:t>Tools of the Trade</a:t>
            </a:r>
          </a:p>
        </p:txBody>
      </p:sp>
      <p:sp>
        <p:nvSpPr>
          <p:cNvPr id="7" name="Rectangle 6"/>
          <p:cNvSpPr/>
          <p:nvPr/>
        </p:nvSpPr>
        <p:spPr>
          <a:xfrm>
            <a:off x="5230368" y="3063240"/>
            <a:ext cx="1371600" cy="4572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212080" y="3337560"/>
            <a:ext cx="6400800" cy="2926080"/>
          </a:xfrm>
          <a:prstGeom prst="rect">
            <a:avLst/>
          </a:prstGeom>
          <a:noFill/>
        </p:spPr>
        <p:txBody>
          <a:bodyPr wrap="square" anchor="t" lIns="0" rIns="0" tIns="0" bIns="0">
            <a:spAutoFit/>
          </a:bodyPr>
          <a:lstStyle/>
          <a:p>
            <a:pPr algn="l">
              <a:lnSpc>
                <a:spcPct val="105000"/>
              </a:lnSpc>
              <a:spcBef>
                <a:spcPts val="600"/>
              </a:spcBef>
              <a:spcAft>
                <a:spcPts val="600"/>
              </a:spcAft>
            </a:pPr>
            <a:r>
              <a:rPr sz="1600" b="0" i="0">
                <a:solidFill>
                  <a:srgbClr val="CFDCEC"/>
                </a:solidFill>
                <a:latin typeface="Arial"/>
              </a:rPr>
              <a:t>—  Rubber insulating gloves &amp; sleeves</a:t>
            </a:r>
          </a:p>
          <a:p>
            <a:pPr algn="l">
              <a:lnSpc>
                <a:spcPct val="105000"/>
              </a:lnSpc>
              <a:spcBef>
                <a:spcPts val="600"/>
              </a:spcBef>
              <a:spcAft>
                <a:spcPts val="600"/>
              </a:spcAft>
            </a:pPr>
            <a:r>
              <a:rPr sz="1600" b="0" i="0">
                <a:solidFill>
                  <a:srgbClr val="CFDCEC"/>
                </a:solidFill>
                <a:latin typeface="Arial"/>
              </a:rPr>
              <a:t>—  Live-line (hot-stick) tools</a:t>
            </a:r>
          </a:p>
          <a:p>
            <a:pPr algn="l">
              <a:lnSpc>
                <a:spcPct val="105000"/>
              </a:lnSpc>
              <a:spcBef>
                <a:spcPts val="600"/>
              </a:spcBef>
              <a:spcAft>
                <a:spcPts val="600"/>
              </a:spcAft>
            </a:pPr>
            <a:r>
              <a:rPr sz="1600" b="0" i="0">
                <a:solidFill>
                  <a:srgbClr val="CFDCEC"/>
                </a:solidFill>
                <a:latin typeface="Arial"/>
              </a:rPr>
              <a:t>—  Protective grounds &amp; testers</a:t>
            </a:r>
          </a:p>
          <a:p>
            <a:pPr algn="l">
              <a:lnSpc>
                <a:spcPct val="105000"/>
              </a:lnSpc>
              <a:spcBef>
                <a:spcPts val="600"/>
              </a:spcBef>
              <a:spcAft>
                <a:spcPts val="600"/>
              </a:spcAft>
            </a:pPr>
            <a:r>
              <a:rPr sz="1600" b="0" i="0">
                <a:solidFill>
                  <a:srgbClr val="CFDCEC"/>
                </a:solidFill>
                <a:latin typeface="Arial"/>
              </a:rPr>
              <a:t>—  Arc-rated FR clothing &amp; PPE</a:t>
            </a:r>
          </a:p>
          <a:p>
            <a:pPr algn="l">
              <a:lnSpc>
                <a:spcPct val="105000"/>
              </a:lnSpc>
              <a:spcBef>
                <a:spcPts val="600"/>
              </a:spcBef>
              <a:spcAft>
                <a:spcPts val="600"/>
              </a:spcAft>
            </a:pPr>
            <a:r>
              <a:rPr sz="1600" b="0" i="0">
                <a:solidFill>
                  <a:srgbClr val="CFDCEC"/>
                </a:solidFill>
                <a:latin typeface="Arial"/>
              </a:rPr>
              <a:t>—  Inspection, testing &amp; care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4.1 RUBBER GLOVES</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Rubber Insulating Gloves — Your First Line of Defense</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783080"/>
            <a:ext cx="10927080" cy="4160520"/>
          </a:xfrm>
          <a:prstGeom prst="rect">
            <a:avLst/>
          </a:prstGeom>
          <a:noFill/>
        </p:spPr>
        <p:txBody>
          <a:bodyPr wrap="square" anchor="t" lIns="0" rIns="0" tIns="0" bIns="0">
            <a:spAutoFit/>
          </a:bodyPr>
          <a:lstStyle/>
          <a:p>
            <a:pPr algn="l">
              <a:lnSpc>
                <a:spcPct val="105000"/>
              </a:lnSpc>
              <a:spcBef>
                <a:spcPts val="700"/>
              </a:spcBef>
              <a:spcAft>
                <a:spcPts val="200"/>
              </a:spcAft>
            </a:pPr>
            <a:r>
              <a:rPr sz="1800" b="0" i="0">
                <a:solidFill>
                  <a:srgbClr val="1A2B3C"/>
                </a:solidFill>
                <a:latin typeface="Arial"/>
              </a:rPr>
              <a:t>■  Rubber gloves insulate your hands from energized parts in the rubber-glove method</a:t>
            </a:r>
          </a:p>
          <a:p>
            <a:pPr algn="l">
              <a:lnSpc>
                <a:spcPct val="105000"/>
              </a:lnSpc>
              <a:spcBef>
                <a:spcPts val="700"/>
              </a:spcBef>
              <a:spcAft>
                <a:spcPts val="200"/>
              </a:spcAft>
            </a:pPr>
            <a:r>
              <a:rPr sz="1800" b="0" i="0">
                <a:solidFill>
                  <a:srgbClr val="1A2B3C"/>
                </a:solidFill>
                <a:latin typeface="Arial"/>
              </a:rPr>
              <a:t>■  Always worn with leather protector gloves OVER them</a:t>
            </a:r>
          </a:p>
          <a:p>
            <a:pPr algn="l" lvl="1">
              <a:lnSpc>
                <a:spcPct val="103000"/>
              </a:lnSpc>
              <a:spcBef>
                <a:spcPts val="200"/>
              </a:spcBef>
              <a:spcAft>
                <a:spcPts val="200"/>
              </a:spcAft>
            </a:pPr>
            <a:r>
              <a:rPr sz="1500" b="0" i="0">
                <a:solidFill>
                  <a:srgbClr val="334455"/>
                </a:solidFill>
                <a:latin typeface="Arial"/>
              </a:rPr>
              <a:t>–  The leather shields the rubber from cuts, abrasion, and UV — the rubber does the insulating</a:t>
            </a:r>
          </a:p>
          <a:p>
            <a:pPr algn="l">
              <a:lnSpc>
                <a:spcPct val="105000"/>
              </a:lnSpc>
              <a:spcBef>
                <a:spcPts val="700"/>
              </a:spcBef>
              <a:spcAft>
                <a:spcPts val="200"/>
              </a:spcAft>
            </a:pPr>
            <a:r>
              <a:rPr sz="1800" b="0" i="0">
                <a:solidFill>
                  <a:srgbClr val="1A2B3C"/>
                </a:solidFill>
                <a:latin typeface="Arial"/>
              </a:rPr>
              <a:t>■  Selected by VOLTAGE CLASS — each class has a max use voltage and proof-test voltage</a:t>
            </a:r>
          </a:p>
          <a:p>
            <a:pPr algn="l">
              <a:lnSpc>
                <a:spcPct val="105000"/>
              </a:lnSpc>
              <a:spcBef>
                <a:spcPts val="700"/>
              </a:spcBef>
              <a:spcAft>
                <a:spcPts val="200"/>
              </a:spcAft>
            </a:pPr>
            <a:r>
              <a:rPr sz="1800" b="0" i="0">
                <a:solidFill>
                  <a:srgbClr val="1A2B3C"/>
                </a:solidFill>
                <a:latin typeface="Arial"/>
              </a:rPr>
              <a:t>■  Field-inspect before EVERY use:</a:t>
            </a:r>
          </a:p>
          <a:p>
            <a:pPr algn="l" lvl="1">
              <a:lnSpc>
                <a:spcPct val="103000"/>
              </a:lnSpc>
              <a:spcBef>
                <a:spcPts val="200"/>
              </a:spcBef>
              <a:spcAft>
                <a:spcPts val="200"/>
              </a:spcAft>
            </a:pPr>
            <a:r>
              <a:rPr sz="1500" b="0" i="0">
                <a:solidFill>
                  <a:srgbClr val="334455"/>
                </a:solidFill>
                <a:latin typeface="Arial"/>
              </a:rPr>
              <a:t>–  Air-test (roll/inflate) to find pinholes; check for cuts, cracks, swelling, embedded debris</a:t>
            </a:r>
          </a:p>
          <a:p>
            <a:pPr algn="l" lvl="1">
              <a:lnSpc>
                <a:spcPct val="103000"/>
              </a:lnSpc>
              <a:spcBef>
                <a:spcPts val="200"/>
              </a:spcBef>
              <a:spcAft>
                <a:spcPts val="200"/>
              </a:spcAft>
            </a:pPr>
            <a:r>
              <a:rPr sz="1500" b="0" i="0">
                <a:solidFill>
                  <a:srgbClr val="334455"/>
                </a:solidFill>
                <a:latin typeface="Arial"/>
              </a:rPr>
              <a:t>–  Inspect inside and out; check for chemical or ozone damage</a:t>
            </a:r>
          </a:p>
          <a:p>
            <a:pPr algn="l">
              <a:lnSpc>
                <a:spcPct val="105000"/>
              </a:lnSpc>
              <a:spcBef>
                <a:spcPts val="700"/>
              </a:spcBef>
              <a:spcAft>
                <a:spcPts val="200"/>
              </a:spcAft>
            </a:pPr>
            <a:r>
              <a:rPr sz="1800" b="0" i="0">
                <a:solidFill>
                  <a:srgbClr val="1A2B3C"/>
                </a:solidFill>
                <a:latin typeface="Arial"/>
              </a:rPr>
              <a:t>■  Retest electrically on a schedule (typically every 6 months) at a certified lab</a:t>
            </a:r>
          </a:p>
          <a:p>
            <a:pPr algn="l">
              <a:lnSpc>
                <a:spcPct val="105000"/>
              </a:lnSpc>
              <a:spcBef>
                <a:spcPts val="700"/>
              </a:spcBef>
              <a:spcAft>
                <a:spcPts val="200"/>
              </a:spcAft>
            </a:pPr>
            <a:r>
              <a:rPr sz="1800" b="0" i="0">
                <a:solidFill>
                  <a:srgbClr val="1A2B3C"/>
                </a:solidFill>
                <a:latin typeface="Arial"/>
              </a:rPr>
              <a:t>■  Store in a glove bag, fingers up, away from heat, ozone, sunlight, and sharp objects</a:t>
            </a:r>
          </a:p>
        </p:txBody>
      </p:sp>
      <p:sp>
        <p:nvSpPr>
          <p:cNvPr id="8" name="Rectangle 7"/>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4 — Tools of the Trade</a:t>
            </a:r>
          </a:p>
        </p:txBody>
      </p:sp>
      <p:sp>
        <p:nvSpPr>
          <p:cNvPr id="10" name="TextBox 9"/>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4.1 GLOVE CLASSES</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Rubber Glove Voltage Classes (ASTM D120 / IEC)</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640080" y="1828800"/>
          <a:ext cx="10908789" cy="2980944"/>
        </p:xfrm>
        <a:graphic>
          <a:graphicData uri="http://schemas.openxmlformats.org/drawingml/2006/table">
            <a:tbl>
              <a:tblPr firstRow="1" bandRow="1">
                <a:tableStyleId>{5C22544A-7EE6-4342-B048-85BDC9FD1C3A}</a:tableStyleId>
              </a:tblPr>
              <a:tblGrid>
                <a:gridCol w="1818131"/>
                <a:gridCol w="4090796"/>
                <a:gridCol w="2499931"/>
                <a:gridCol w="2499931"/>
              </a:tblGrid>
              <a:tr h="425849">
                <a:tc>
                  <a:txBody>
                    <a:bodyPr wrap="square"/>
                    <a:lstStyle/>
                    <a:p>
                      <a:pPr algn="l"/>
                      <a:r>
                        <a:rPr sz="1300" b="1">
                          <a:solidFill>
                            <a:srgbClr val="FFFFFF"/>
                          </a:solidFill>
                          <a:latin typeface="Arial"/>
                        </a:rPr>
                        <a:t>Class</a:t>
                      </a:r>
                    </a:p>
                  </a:txBody>
                  <a:tcPr anchor="ctr" marL="91440" marR="73152" marT="36576" marB="36576">
                    <a:solidFill>
                      <a:srgbClr val="0B2545"/>
                    </a:solidFill>
                  </a:tcPr>
                </a:tc>
                <a:tc>
                  <a:txBody>
                    <a:bodyPr wrap="square"/>
                    <a:lstStyle/>
                    <a:p>
                      <a:pPr algn="l"/>
                      <a:r>
                        <a:rPr sz="1300" b="1">
                          <a:solidFill>
                            <a:srgbClr val="FFFFFF"/>
                          </a:solidFill>
                          <a:latin typeface="Arial"/>
                        </a:rPr>
                        <a:t>Max Use Voltage (AC, ph-ph)</a:t>
                      </a:r>
                    </a:p>
                  </a:txBody>
                  <a:tcPr anchor="ctr" marL="91440" marR="73152" marT="36576" marB="36576">
                    <a:solidFill>
                      <a:srgbClr val="0B2545"/>
                    </a:solidFill>
                  </a:tcPr>
                </a:tc>
                <a:tc>
                  <a:txBody>
                    <a:bodyPr wrap="square"/>
                    <a:lstStyle/>
                    <a:p>
                      <a:pPr algn="l"/>
                      <a:r>
                        <a:rPr sz="1300" b="1">
                          <a:solidFill>
                            <a:srgbClr val="FFFFFF"/>
                          </a:solidFill>
                          <a:latin typeface="Arial"/>
                        </a:rPr>
                        <a:t>Color (label)</a:t>
                      </a:r>
                    </a:p>
                  </a:txBody>
                  <a:tcPr anchor="ctr" marL="91440" marR="73152" marT="36576" marB="36576">
                    <a:solidFill>
                      <a:srgbClr val="0B2545"/>
                    </a:solidFill>
                  </a:tcPr>
                </a:tc>
                <a:tc>
                  <a:txBody>
                    <a:bodyPr wrap="square"/>
                    <a:lstStyle/>
                    <a:p>
                      <a:pPr algn="l"/>
                      <a:r>
                        <a:rPr sz="1300" b="1">
                          <a:solidFill>
                            <a:srgbClr val="FFFFFF"/>
                          </a:solidFill>
                          <a:latin typeface="Arial"/>
                        </a:rPr>
                        <a:t>Proof Test</a:t>
                      </a:r>
                    </a:p>
                  </a:txBody>
                  <a:tcPr anchor="ctr" marL="91440" marR="73152" marT="36576" marB="36576">
                    <a:solidFill>
                      <a:srgbClr val="0B2545"/>
                    </a:solidFill>
                  </a:tcPr>
                </a:tc>
              </a:tr>
              <a:tr h="425849">
                <a:tc>
                  <a:txBody>
                    <a:bodyPr wrap="square"/>
                    <a:lstStyle/>
                    <a:p>
                      <a:pPr algn="l"/>
                      <a:r>
                        <a:rPr sz="1250" b="1">
                          <a:solidFill>
                            <a:srgbClr val="0B2545"/>
                          </a:solidFill>
                          <a:latin typeface="Arial"/>
                        </a:rPr>
                        <a:t>Class 00</a:t>
                      </a:r>
                    </a:p>
                  </a:txBody>
                  <a:tcPr anchor="ctr" marL="91440" marR="73152" marT="27432" marB="27432">
                    <a:solidFill>
                      <a:srgbClr val="FFFFFF"/>
                    </a:solidFill>
                  </a:tcPr>
                </a:tc>
                <a:tc>
                  <a:txBody>
                    <a:bodyPr wrap="square"/>
                    <a:lstStyle/>
                    <a:p>
                      <a:pPr algn="l"/>
                      <a:r>
                        <a:rPr sz="1250" b="0">
                          <a:solidFill>
                            <a:srgbClr val="1A2B3C"/>
                          </a:solidFill>
                          <a:latin typeface="Arial"/>
                        </a:rPr>
                        <a:t>500 V</a:t>
                      </a:r>
                    </a:p>
                  </a:txBody>
                  <a:tcPr anchor="ctr" marL="91440" marR="73152" marT="27432" marB="27432">
                    <a:solidFill>
                      <a:srgbClr val="FFFFFF"/>
                    </a:solidFill>
                  </a:tcPr>
                </a:tc>
                <a:tc>
                  <a:txBody>
                    <a:bodyPr wrap="square"/>
                    <a:lstStyle/>
                    <a:p>
                      <a:pPr algn="l"/>
                      <a:r>
                        <a:rPr sz="1250" b="0">
                          <a:solidFill>
                            <a:srgbClr val="1A2B3C"/>
                          </a:solidFill>
                          <a:latin typeface="Arial"/>
                        </a:rPr>
                        <a:t>Beige</a:t>
                      </a:r>
                    </a:p>
                  </a:txBody>
                  <a:tcPr anchor="ctr" marL="91440" marR="73152" marT="27432" marB="27432">
                    <a:solidFill>
                      <a:srgbClr val="FFFFFF"/>
                    </a:solidFill>
                  </a:tcPr>
                </a:tc>
                <a:tc>
                  <a:txBody>
                    <a:bodyPr wrap="square"/>
                    <a:lstStyle/>
                    <a:p>
                      <a:pPr algn="l"/>
                      <a:r>
                        <a:rPr sz="1250" b="0">
                          <a:solidFill>
                            <a:srgbClr val="1A2B3C"/>
                          </a:solidFill>
                          <a:latin typeface="Arial"/>
                        </a:rPr>
                        <a:t>2,500 V</a:t>
                      </a:r>
                    </a:p>
                  </a:txBody>
                  <a:tcPr anchor="ctr" marL="91440" marR="73152" marT="27432" marB="27432">
                    <a:solidFill>
                      <a:srgbClr val="FFFFFF"/>
                    </a:solidFill>
                  </a:tcPr>
                </a:tc>
              </a:tr>
              <a:tr h="425849">
                <a:tc>
                  <a:txBody>
                    <a:bodyPr wrap="square"/>
                    <a:lstStyle/>
                    <a:p>
                      <a:pPr algn="l"/>
                      <a:r>
                        <a:rPr sz="1250" b="1">
                          <a:solidFill>
                            <a:srgbClr val="0B2545"/>
                          </a:solidFill>
                          <a:latin typeface="Arial"/>
                        </a:rPr>
                        <a:t>Class 0</a:t>
                      </a:r>
                    </a:p>
                  </a:txBody>
                  <a:tcPr anchor="ctr" marL="91440" marR="73152" marT="27432" marB="27432">
                    <a:solidFill>
                      <a:srgbClr val="EEF2F7"/>
                    </a:solidFill>
                  </a:tcPr>
                </a:tc>
                <a:tc>
                  <a:txBody>
                    <a:bodyPr wrap="square"/>
                    <a:lstStyle/>
                    <a:p>
                      <a:pPr algn="l"/>
                      <a:r>
                        <a:rPr sz="1250" b="0">
                          <a:solidFill>
                            <a:srgbClr val="1A2B3C"/>
                          </a:solidFill>
                          <a:latin typeface="Arial"/>
                        </a:rPr>
                        <a:t>1,000 V</a:t>
                      </a:r>
                    </a:p>
                  </a:txBody>
                  <a:tcPr anchor="ctr" marL="91440" marR="73152" marT="27432" marB="27432">
                    <a:solidFill>
                      <a:srgbClr val="EEF2F7"/>
                    </a:solidFill>
                  </a:tcPr>
                </a:tc>
                <a:tc>
                  <a:txBody>
                    <a:bodyPr wrap="square"/>
                    <a:lstStyle/>
                    <a:p>
                      <a:pPr algn="l"/>
                      <a:r>
                        <a:rPr sz="1250" b="0">
                          <a:solidFill>
                            <a:srgbClr val="1A2B3C"/>
                          </a:solidFill>
                          <a:latin typeface="Arial"/>
                        </a:rPr>
                        <a:t>Red</a:t>
                      </a:r>
                    </a:p>
                  </a:txBody>
                  <a:tcPr anchor="ctr" marL="91440" marR="73152" marT="27432" marB="27432">
                    <a:solidFill>
                      <a:srgbClr val="EEF2F7"/>
                    </a:solidFill>
                  </a:tcPr>
                </a:tc>
                <a:tc>
                  <a:txBody>
                    <a:bodyPr wrap="square"/>
                    <a:lstStyle/>
                    <a:p>
                      <a:pPr algn="l"/>
                      <a:r>
                        <a:rPr sz="1250" b="0">
                          <a:solidFill>
                            <a:srgbClr val="1A2B3C"/>
                          </a:solidFill>
                          <a:latin typeface="Arial"/>
                        </a:rPr>
                        <a:t>5,000 V</a:t>
                      </a:r>
                    </a:p>
                  </a:txBody>
                  <a:tcPr anchor="ctr" marL="91440" marR="73152" marT="27432" marB="27432">
                    <a:solidFill>
                      <a:srgbClr val="EEF2F7"/>
                    </a:solidFill>
                  </a:tcPr>
                </a:tc>
              </a:tr>
              <a:tr h="425849">
                <a:tc>
                  <a:txBody>
                    <a:bodyPr wrap="square"/>
                    <a:lstStyle/>
                    <a:p>
                      <a:pPr algn="l"/>
                      <a:r>
                        <a:rPr sz="1250" b="1">
                          <a:solidFill>
                            <a:srgbClr val="0B2545"/>
                          </a:solidFill>
                          <a:latin typeface="Arial"/>
                        </a:rPr>
                        <a:t>Class 1</a:t>
                      </a:r>
                    </a:p>
                  </a:txBody>
                  <a:tcPr anchor="ctr" marL="91440" marR="73152" marT="27432" marB="27432">
                    <a:solidFill>
                      <a:srgbClr val="FFFFFF"/>
                    </a:solidFill>
                  </a:tcPr>
                </a:tc>
                <a:tc>
                  <a:txBody>
                    <a:bodyPr wrap="square"/>
                    <a:lstStyle/>
                    <a:p>
                      <a:pPr algn="l"/>
                      <a:r>
                        <a:rPr sz="1250" b="0">
                          <a:solidFill>
                            <a:srgbClr val="1A2B3C"/>
                          </a:solidFill>
                          <a:latin typeface="Arial"/>
                        </a:rPr>
                        <a:t>7,500 V</a:t>
                      </a:r>
                    </a:p>
                  </a:txBody>
                  <a:tcPr anchor="ctr" marL="91440" marR="73152" marT="27432" marB="27432">
                    <a:solidFill>
                      <a:srgbClr val="FFFFFF"/>
                    </a:solidFill>
                  </a:tcPr>
                </a:tc>
                <a:tc>
                  <a:txBody>
                    <a:bodyPr wrap="square"/>
                    <a:lstStyle/>
                    <a:p>
                      <a:pPr algn="l"/>
                      <a:r>
                        <a:rPr sz="1250" b="0">
                          <a:solidFill>
                            <a:srgbClr val="1A2B3C"/>
                          </a:solidFill>
                          <a:latin typeface="Arial"/>
                        </a:rPr>
                        <a:t>White</a:t>
                      </a:r>
                    </a:p>
                  </a:txBody>
                  <a:tcPr anchor="ctr" marL="91440" marR="73152" marT="27432" marB="27432">
                    <a:solidFill>
                      <a:srgbClr val="FFFFFF"/>
                    </a:solidFill>
                  </a:tcPr>
                </a:tc>
                <a:tc>
                  <a:txBody>
                    <a:bodyPr wrap="square"/>
                    <a:lstStyle/>
                    <a:p>
                      <a:pPr algn="l"/>
                      <a:r>
                        <a:rPr sz="1250" b="0">
                          <a:solidFill>
                            <a:srgbClr val="1A2B3C"/>
                          </a:solidFill>
                          <a:latin typeface="Arial"/>
                        </a:rPr>
                        <a:t>10,000 V</a:t>
                      </a:r>
                    </a:p>
                  </a:txBody>
                  <a:tcPr anchor="ctr" marL="91440" marR="73152" marT="27432" marB="27432">
                    <a:solidFill>
                      <a:srgbClr val="FFFFFF"/>
                    </a:solidFill>
                  </a:tcPr>
                </a:tc>
              </a:tr>
              <a:tr h="425849">
                <a:tc>
                  <a:txBody>
                    <a:bodyPr wrap="square"/>
                    <a:lstStyle/>
                    <a:p>
                      <a:pPr algn="l"/>
                      <a:r>
                        <a:rPr sz="1250" b="1">
                          <a:solidFill>
                            <a:srgbClr val="0B2545"/>
                          </a:solidFill>
                          <a:latin typeface="Arial"/>
                        </a:rPr>
                        <a:t>Class 2</a:t>
                      </a:r>
                    </a:p>
                  </a:txBody>
                  <a:tcPr anchor="ctr" marL="91440" marR="73152" marT="27432" marB="27432">
                    <a:solidFill>
                      <a:srgbClr val="EEF2F7"/>
                    </a:solidFill>
                  </a:tcPr>
                </a:tc>
                <a:tc>
                  <a:txBody>
                    <a:bodyPr wrap="square"/>
                    <a:lstStyle/>
                    <a:p>
                      <a:pPr algn="l"/>
                      <a:r>
                        <a:rPr sz="1250" b="0">
                          <a:solidFill>
                            <a:srgbClr val="1A2B3C"/>
                          </a:solidFill>
                          <a:latin typeface="Arial"/>
                        </a:rPr>
                        <a:t>17,000 V</a:t>
                      </a:r>
                    </a:p>
                  </a:txBody>
                  <a:tcPr anchor="ctr" marL="91440" marR="73152" marT="27432" marB="27432">
                    <a:solidFill>
                      <a:srgbClr val="EEF2F7"/>
                    </a:solidFill>
                  </a:tcPr>
                </a:tc>
                <a:tc>
                  <a:txBody>
                    <a:bodyPr wrap="square"/>
                    <a:lstStyle/>
                    <a:p>
                      <a:pPr algn="l"/>
                      <a:r>
                        <a:rPr sz="1250" b="0">
                          <a:solidFill>
                            <a:srgbClr val="1A2B3C"/>
                          </a:solidFill>
                          <a:latin typeface="Arial"/>
                        </a:rPr>
                        <a:t>Yellow</a:t>
                      </a:r>
                    </a:p>
                  </a:txBody>
                  <a:tcPr anchor="ctr" marL="91440" marR="73152" marT="27432" marB="27432">
                    <a:solidFill>
                      <a:srgbClr val="EEF2F7"/>
                    </a:solidFill>
                  </a:tcPr>
                </a:tc>
                <a:tc>
                  <a:txBody>
                    <a:bodyPr wrap="square"/>
                    <a:lstStyle/>
                    <a:p>
                      <a:pPr algn="l"/>
                      <a:r>
                        <a:rPr sz="1250" b="0">
                          <a:solidFill>
                            <a:srgbClr val="1A2B3C"/>
                          </a:solidFill>
                          <a:latin typeface="Arial"/>
                        </a:rPr>
                        <a:t>20,000 V</a:t>
                      </a:r>
                    </a:p>
                  </a:txBody>
                  <a:tcPr anchor="ctr" marL="91440" marR="73152" marT="27432" marB="27432">
                    <a:solidFill>
                      <a:srgbClr val="EEF2F7"/>
                    </a:solidFill>
                  </a:tcPr>
                </a:tc>
              </a:tr>
              <a:tr h="425849">
                <a:tc>
                  <a:txBody>
                    <a:bodyPr wrap="square"/>
                    <a:lstStyle/>
                    <a:p>
                      <a:pPr algn="l"/>
                      <a:r>
                        <a:rPr sz="1250" b="1">
                          <a:solidFill>
                            <a:srgbClr val="0B2545"/>
                          </a:solidFill>
                          <a:latin typeface="Arial"/>
                        </a:rPr>
                        <a:t>Class 3</a:t>
                      </a:r>
                    </a:p>
                  </a:txBody>
                  <a:tcPr anchor="ctr" marL="91440" marR="73152" marT="27432" marB="27432">
                    <a:solidFill>
                      <a:srgbClr val="FFFFFF"/>
                    </a:solidFill>
                  </a:tcPr>
                </a:tc>
                <a:tc>
                  <a:txBody>
                    <a:bodyPr wrap="square"/>
                    <a:lstStyle/>
                    <a:p>
                      <a:pPr algn="l"/>
                      <a:r>
                        <a:rPr sz="1250" b="0">
                          <a:solidFill>
                            <a:srgbClr val="1A2B3C"/>
                          </a:solidFill>
                          <a:latin typeface="Arial"/>
                        </a:rPr>
                        <a:t>26,500 V</a:t>
                      </a:r>
                    </a:p>
                  </a:txBody>
                  <a:tcPr anchor="ctr" marL="91440" marR="73152" marT="27432" marB="27432">
                    <a:solidFill>
                      <a:srgbClr val="FFFFFF"/>
                    </a:solidFill>
                  </a:tcPr>
                </a:tc>
                <a:tc>
                  <a:txBody>
                    <a:bodyPr wrap="square"/>
                    <a:lstStyle/>
                    <a:p>
                      <a:pPr algn="l"/>
                      <a:r>
                        <a:rPr sz="1250" b="0">
                          <a:solidFill>
                            <a:srgbClr val="1A2B3C"/>
                          </a:solidFill>
                          <a:latin typeface="Arial"/>
                        </a:rPr>
                        <a:t>Green</a:t>
                      </a:r>
                    </a:p>
                  </a:txBody>
                  <a:tcPr anchor="ctr" marL="91440" marR="73152" marT="27432" marB="27432">
                    <a:solidFill>
                      <a:srgbClr val="FFFFFF"/>
                    </a:solidFill>
                  </a:tcPr>
                </a:tc>
                <a:tc>
                  <a:txBody>
                    <a:bodyPr wrap="square"/>
                    <a:lstStyle/>
                    <a:p>
                      <a:pPr algn="l"/>
                      <a:r>
                        <a:rPr sz="1250" b="0">
                          <a:solidFill>
                            <a:srgbClr val="1A2B3C"/>
                          </a:solidFill>
                          <a:latin typeface="Arial"/>
                        </a:rPr>
                        <a:t>30,000 V</a:t>
                      </a:r>
                    </a:p>
                  </a:txBody>
                  <a:tcPr anchor="ctr" marL="91440" marR="73152" marT="27432" marB="27432">
                    <a:solidFill>
                      <a:srgbClr val="FFFFFF"/>
                    </a:solidFill>
                  </a:tcPr>
                </a:tc>
              </a:tr>
              <a:tr h="425850">
                <a:tc>
                  <a:txBody>
                    <a:bodyPr wrap="square"/>
                    <a:lstStyle/>
                    <a:p>
                      <a:pPr algn="l"/>
                      <a:r>
                        <a:rPr sz="1250" b="1">
                          <a:solidFill>
                            <a:srgbClr val="0B2545"/>
                          </a:solidFill>
                          <a:latin typeface="Arial"/>
                        </a:rPr>
                        <a:t>Class 4</a:t>
                      </a:r>
                    </a:p>
                  </a:txBody>
                  <a:tcPr anchor="ctr" marL="91440" marR="73152" marT="27432" marB="27432">
                    <a:solidFill>
                      <a:srgbClr val="EEF2F7"/>
                    </a:solidFill>
                  </a:tcPr>
                </a:tc>
                <a:tc>
                  <a:txBody>
                    <a:bodyPr wrap="square"/>
                    <a:lstStyle/>
                    <a:p>
                      <a:pPr algn="l"/>
                      <a:r>
                        <a:rPr sz="1250" b="0">
                          <a:solidFill>
                            <a:srgbClr val="1A2B3C"/>
                          </a:solidFill>
                          <a:latin typeface="Arial"/>
                        </a:rPr>
                        <a:t>36,000 V</a:t>
                      </a:r>
                    </a:p>
                  </a:txBody>
                  <a:tcPr anchor="ctr" marL="91440" marR="73152" marT="27432" marB="27432">
                    <a:solidFill>
                      <a:srgbClr val="EEF2F7"/>
                    </a:solidFill>
                  </a:tcPr>
                </a:tc>
                <a:tc>
                  <a:txBody>
                    <a:bodyPr wrap="square"/>
                    <a:lstStyle/>
                    <a:p>
                      <a:pPr algn="l"/>
                      <a:r>
                        <a:rPr sz="1250" b="0">
                          <a:solidFill>
                            <a:srgbClr val="1A2B3C"/>
                          </a:solidFill>
                          <a:latin typeface="Arial"/>
                        </a:rPr>
                        <a:t>Orange</a:t>
                      </a:r>
                    </a:p>
                  </a:txBody>
                  <a:tcPr anchor="ctr" marL="91440" marR="73152" marT="27432" marB="27432">
                    <a:solidFill>
                      <a:srgbClr val="EEF2F7"/>
                    </a:solidFill>
                  </a:tcPr>
                </a:tc>
                <a:tc>
                  <a:txBody>
                    <a:bodyPr wrap="square"/>
                    <a:lstStyle/>
                    <a:p>
                      <a:pPr algn="l"/>
                      <a:r>
                        <a:rPr sz="1250" b="0">
                          <a:solidFill>
                            <a:srgbClr val="1A2B3C"/>
                          </a:solidFill>
                          <a:latin typeface="Arial"/>
                        </a:rPr>
                        <a:t>40,000 V</a:t>
                      </a:r>
                    </a:p>
                  </a:txBody>
                  <a:tcPr anchor="ctr" marL="91440" marR="73152" marT="27432" marB="27432">
                    <a:solidFill>
                      <a:srgbClr val="EEF2F7"/>
                    </a:solidFill>
                  </a:tcPr>
                </a:tc>
              </a:tr>
            </a:tbl>
          </a:graphicData>
        </a:graphic>
      </p:graphicFrame>
      <p:sp>
        <p:nvSpPr>
          <p:cNvPr id="8" name="TextBox 7"/>
          <p:cNvSpPr txBox="1"/>
          <p:nvPr/>
        </p:nvSpPr>
        <p:spPr>
          <a:xfrm>
            <a:off x="658368" y="4974336"/>
            <a:ext cx="10881360" cy="822960"/>
          </a:xfrm>
          <a:prstGeom prst="rect">
            <a:avLst/>
          </a:prstGeom>
          <a:noFill/>
        </p:spPr>
        <p:txBody>
          <a:bodyPr wrap="square" anchor="t" lIns="0" rIns="0" tIns="0" bIns="0">
            <a:spAutoFit/>
          </a:bodyPr>
          <a:lstStyle/>
          <a:p>
            <a:pPr algn="l">
              <a:lnSpc>
                <a:spcPct val="110000"/>
              </a:lnSpc>
              <a:spcBef>
                <a:spcPts val="400"/>
              </a:spcBef>
              <a:spcAft>
                <a:spcPts val="400"/>
              </a:spcAft>
            </a:pPr>
            <a:r>
              <a:rPr sz="1200" b="0" i="1">
                <a:solidFill>
                  <a:srgbClr val="5B6B7B"/>
                </a:solidFill>
                <a:latin typeface="Arial"/>
              </a:rPr>
              <a:t>Always select a class rated AT or ABOVE the maximum voltage you may contact. Label color aids quick identification; the printed rating governs. Same class system applies to insulating sleeves and many blankets.</a:t>
            </a:r>
          </a:p>
        </p:txBody>
      </p:sp>
      <p:sp>
        <p:nvSpPr>
          <p:cNvPr id="9" name="Rectangle 8"/>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4 — Tools of the Trade</a:t>
            </a:r>
          </a:p>
        </p:txBody>
      </p:sp>
      <p:sp>
        <p:nvSpPr>
          <p:cNvPr id="11" name="TextBox 10"/>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4.2 SLEEVES &amp; COVER</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Rubber Sleeves, Blankets &amp; Line Hose</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783080"/>
            <a:ext cx="5349240" cy="4297680"/>
          </a:xfrm>
          <a:prstGeom prst="roundRect">
            <a:avLst/>
          </a:prstGeom>
          <a:solidFill>
            <a:srgbClr val="EEF2F7"/>
          </a:solidFill>
          <a:ln w="12700">
            <a:solidFill>
              <a:srgbClr val="CF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40080" y="1783080"/>
            <a:ext cx="5349240" cy="566928"/>
          </a:xfrm>
          <a:prstGeom prst="roundRect">
            <a:avLst/>
          </a:prstGeom>
          <a:solidFill>
            <a:srgbClr val="1340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2066543"/>
            <a:ext cx="5349240" cy="283464"/>
          </a:xfrm>
          <a:prstGeom prst="rect">
            <a:avLst/>
          </a:prstGeom>
          <a:solidFill>
            <a:srgbClr val="1340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1837943"/>
            <a:ext cx="4892040" cy="475488"/>
          </a:xfrm>
          <a:prstGeom prst="rect">
            <a:avLst/>
          </a:prstGeom>
          <a:noFill/>
        </p:spPr>
        <p:txBody>
          <a:bodyPr wrap="square" anchor="ctr" lIns="0" rIns="0" tIns="0" bIns="0">
            <a:spAutoFit/>
          </a:bodyPr>
          <a:lstStyle/>
          <a:p>
            <a:pPr algn="l">
              <a:lnSpc>
                <a:spcPct val="105000"/>
              </a:lnSpc>
              <a:spcBef>
                <a:spcPts val="400"/>
              </a:spcBef>
              <a:spcAft>
                <a:spcPts val="400"/>
              </a:spcAft>
            </a:pPr>
            <a:r>
              <a:rPr sz="1600" b="1" i="0">
                <a:solidFill>
                  <a:srgbClr val="FFFFFF"/>
                </a:solidFill>
                <a:latin typeface="Arial"/>
              </a:rPr>
              <a:t>Sleeves</a:t>
            </a:r>
          </a:p>
        </p:txBody>
      </p:sp>
      <p:sp>
        <p:nvSpPr>
          <p:cNvPr id="11" name="TextBox 10"/>
          <p:cNvSpPr txBox="1"/>
          <p:nvPr/>
        </p:nvSpPr>
        <p:spPr>
          <a:xfrm>
            <a:off x="914400" y="2514600"/>
            <a:ext cx="4800600" cy="3383280"/>
          </a:xfrm>
          <a:prstGeom prst="rect">
            <a:avLst/>
          </a:prstGeom>
          <a:noFill/>
        </p:spPr>
        <p:txBody>
          <a:bodyPr wrap="square" anchor="t" lIns="0" rIns="0" tIns="0" bIns="0">
            <a:spAutoFit/>
          </a:bodyPr>
          <a:lstStyle/>
          <a:p>
            <a:pPr algn="l">
              <a:lnSpc>
                <a:spcPct val="103000"/>
              </a:lnSpc>
              <a:spcBef>
                <a:spcPts val="500"/>
              </a:spcBef>
              <a:spcAft>
                <a:spcPts val="200"/>
              </a:spcAft>
            </a:pPr>
            <a:r>
              <a:rPr sz="1400" b="0" i="0">
                <a:solidFill>
                  <a:srgbClr val="1A2B3C"/>
                </a:solidFill>
                <a:latin typeface="Arial"/>
              </a:rPr>
              <a:t>■  Insulate the forearm, upper arm, and shoulder</a:t>
            </a:r>
          </a:p>
          <a:p>
            <a:pPr algn="l">
              <a:lnSpc>
                <a:spcPct val="103000"/>
              </a:lnSpc>
              <a:spcBef>
                <a:spcPts val="500"/>
              </a:spcBef>
              <a:spcAft>
                <a:spcPts val="200"/>
              </a:spcAft>
            </a:pPr>
            <a:r>
              <a:rPr sz="1400" b="0" i="0">
                <a:solidFill>
                  <a:srgbClr val="1A2B3C"/>
                </a:solidFill>
                <a:latin typeface="Arial"/>
              </a:rPr>
              <a:t>■  Worn when the arm could contact an energized/grounded part</a:t>
            </a:r>
          </a:p>
          <a:p>
            <a:pPr algn="l">
              <a:lnSpc>
                <a:spcPct val="103000"/>
              </a:lnSpc>
              <a:spcBef>
                <a:spcPts val="500"/>
              </a:spcBef>
              <a:spcAft>
                <a:spcPts val="200"/>
              </a:spcAft>
            </a:pPr>
            <a:r>
              <a:rPr sz="1400" b="0" i="0">
                <a:solidFill>
                  <a:srgbClr val="1A2B3C"/>
                </a:solidFill>
                <a:latin typeface="Arial"/>
              </a:rPr>
              <a:t>■  Same voltage-class system as gloves</a:t>
            </a:r>
          </a:p>
          <a:p>
            <a:pPr algn="l">
              <a:lnSpc>
                <a:spcPct val="103000"/>
              </a:lnSpc>
              <a:spcBef>
                <a:spcPts val="500"/>
              </a:spcBef>
              <a:spcAft>
                <a:spcPts val="200"/>
              </a:spcAft>
            </a:pPr>
            <a:r>
              <a:rPr sz="1400" b="0" i="0">
                <a:solidFill>
                  <a:srgbClr val="1A2B3C"/>
                </a:solidFill>
                <a:latin typeface="Arial"/>
              </a:rPr>
              <a:t>■  Inspected &amp; retested like gloves</a:t>
            </a:r>
          </a:p>
        </p:txBody>
      </p:sp>
      <p:sp>
        <p:nvSpPr>
          <p:cNvPr id="12" name="Rounded Rectangle 11"/>
          <p:cNvSpPr/>
          <p:nvPr/>
        </p:nvSpPr>
        <p:spPr>
          <a:xfrm>
            <a:off x="6309359" y="1783080"/>
            <a:ext cx="5349240" cy="4297680"/>
          </a:xfrm>
          <a:prstGeom prst="roundRect">
            <a:avLst/>
          </a:prstGeom>
          <a:solidFill>
            <a:srgbClr val="EEF2F7"/>
          </a:solidFill>
          <a:ln w="12700">
            <a:solidFill>
              <a:srgbClr val="CF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09359" y="1783080"/>
            <a:ext cx="5349240" cy="566928"/>
          </a:xfrm>
          <a:prstGeom prst="roundRect">
            <a:avLst/>
          </a:prstGeom>
          <a:solidFill>
            <a:srgbClr val="3A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59" y="2066543"/>
            <a:ext cx="5349240" cy="283464"/>
          </a:xfrm>
          <a:prstGeom prst="rect">
            <a:avLst/>
          </a:prstGeom>
          <a:solidFill>
            <a:srgbClr val="3A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37959" y="1837943"/>
            <a:ext cx="4892040" cy="475488"/>
          </a:xfrm>
          <a:prstGeom prst="rect">
            <a:avLst/>
          </a:prstGeom>
          <a:noFill/>
        </p:spPr>
        <p:txBody>
          <a:bodyPr wrap="square" anchor="ctr" lIns="0" rIns="0" tIns="0" bIns="0">
            <a:spAutoFit/>
          </a:bodyPr>
          <a:lstStyle/>
          <a:p>
            <a:pPr algn="l">
              <a:lnSpc>
                <a:spcPct val="105000"/>
              </a:lnSpc>
              <a:spcBef>
                <a:spcPts val="400"/>
              </a:spcBef>
              <a:spcAft>
                <a:spcPts val="400"/>
              </a:spcAft>
            </a:pPr>
            <a:r>
              <a:rPr sz="1600" b="1" i="0">
                <a:solidFill>
                  <a:srgbClr val="FFFFFF"/>
                </a:solidFill>
                <a:latin typeface="Arial"/>
              </a:rPr>
              <a:t>Blankets &amp; line hose</a:t>
            </a:r>
          </a:p>
        </p:txBody>
      </p:sp>
      <p:sp>
        <p:nvSpPr>
          <p:cNvPr id="16" name="TextBox 15"/>
          <p:cNvSpPr txBox="1"/>
          <p:nvPr/>
        </p:nvSpPr>
        <p:spPr>
          <a:xfrm>
            <a:off x="6583679" y="2514600"/>
            <a:ext cx="4800600" cy="3383280"/>
          </a:xfrm>
          <a:prstGeom prst="rect">
            <a:avLst/>
          </a:prstGeom>
          <a:noFill/>
        </p:spPr>
        <p:txBody>
          <a:bodyPr wrap="square" anchor="t" lIns="0" rIns="0" tIns="0" bIns="0">
            <a:spAutoFit/>
          </a:bodyPr>
          <a:lstStyle/>
          <a:p>
            <a:pPr algn="l">
              <a:lnSpc>
                <a:spcPct val="103000"/>
              </a:lnSpc>
              <a:spcBef>
                <a:spcPts val="500"/>
              </a:spcBef>
              <a:spcAft>
                <a:spcPts val="200"/>
              </a:spcAft>
            </a:pPr>
            <a:r>
              <a:rPr sz="1400" b="0" i="0">
                <a:solidFill>
                  <a:srgbClr val="1A2B3C"/>
                </a:solidFill>
                <a:latin typeface="Arial"/>
              </a:rPr>
              <a:t>■  Blankets: flexible cover for irregular shapes &amp; hardware</a:t>
            </a:r>
          </a:p>
          <a:p>
            <a:pPr algn="l">
              <a:lnSpc>
                <a:spcPct val="103000"/>
              </a:lnSpc>
              <a:spcBef>
                <a:spcPts val="500"/>
              </a:spcBef>
              <a:spcAft>
                <a:spcPts val="200"/>
              </a:spcAft>
            </a:pPr>
            <a:r>
              <a:rPr sz="1400" b="0" i="0">
                <a:solidFill>
                  <a:srgbClr val="1A2B3C"/>
                </a:solidFill>
                <a:latin typeface="Arial"/>
              </a:rPr>
              <a:t>■  Line hose: slips over conductors to insulate runs</a:t>
            </a:r>
          </a:p>
          <a:p>
            <a:pPr algn="l">
              <a:lnSpc>
                <a:spcPct val="103000"/>
              </a:lnSpc>
              <a:spcBef>
                <a:spcPts val="500"/>
              </a:spcBef>
              <a:spcAft>
                <a:spcPts val="200"/>
              </a:spcAft>
            </a:pPr>
            <a:r>
              <a:rPr sz="1400" b="0" i="0">
                <a:solidFill>
                  <a:srgbClr val="1A2B3C"/>
                </a:solidFill>
                <a:latin typeface="Arial"/>
              </a:rPr>
              <a:t>■  Secured with approved pins/snaps/clamps</a:t>
            </a:r>
          </a:p>
          <a:p>
            <a:pPr algn="l">
              <a:lnSpc>
                <a:spcPct val="103000"/>
              </a:lnSpc>
              <a:spcBef>
                <a:spcPts val="500"/>
              </a:spcBef>
              <a:spcAft>
                <a:spcPts val="200"/>
              </a:spcAft>
            </a:pPr>
            <a:r>
              <a:rPr sz="1400" b="0" i="0">
                <a:solidFill>
                  <a:srgbClr val="1A2B3C"/>
                </a:solidFill>
                <a:latin typeface="Arial"/>
              </a:rPr>
              <a:t>■  Voltage-rated; inspected for cuts, ozone &amp; contamination</a:t>
            </a:r>
          </a:p>
        </p:txBody>
      </p:sp>
      <p:sp>
        <p:nvSpPr>
          <p:cNvPr id="17" name="Rectangle 16"/>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4 — Tools of the Trade</a:t>
            </a:r>
          </a:p>
        </p:txBody>
      </p:sp>
      <p:sp>
        <p:nvSpPr>
          <p:cNvPr id="19" name="TextBox 18"/>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4.3 HOT STICKS</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Live-Line (Hot-Stick) Tools</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27632"/>
            <a:ext cx="10881360" cy="548640"/>
          </a:xfrm>
          <a:prstGeom prst="rect">
            <a:avLst/>
          </a:prstGeom>
          <a:noFill/>
        </p:spPr>
        <p:txBody>
          <a:bodyPr wrap="square" anchor="t" lIns="0" rIns="0" tIns="0" bIns="0">
            <a:spAutoFit/>
          </a:bodyPr>
          <a:lstStyle/>
          <a:p>
            <a:pPr algn="l">
              <a:lnSpc>
                <a:spcPct val="105000"/>
              </a:lnSpc>
              <a:spcBef>
                <a:spcPts val="400"/>
              </a:spcBef>
              <a:spcAft>
                <a:spcPts val="400"/>
              </a:spcAft>
            </a:pPr>
            <a:r>
              <a:rPr sz="1550" b="0" i="1">
                <a:solidFill>
                  <a:srgbClr val="5B6B7B"/>
                </a:solidFill>
                <a:latin typeface="Arial"/>
              </a:rPr>
              <a:t>A hot stick keeps the worker back while the work goes forward — isolation in tool form.</a:t>
            </a:r>
          </a:p>
        </p:txBody>
      </p:sp>
      <p:sp>
        <p:nvSpPr>
          <p:cNvPr id="8" name="TextBox 7"/>
          <p:cNvSpPr txBox="1"/>
          <p:nvPr/>
        </p:nvSpPr>
        <p:spPr>
          <a:xfrm>
            <a:off x="658368" y="2240280"/>
            <a:ext cx="10927080" cy="3703320"/>
          </a:xfrm>
          <a:prstGeom prst="rect">
            <a:avLst/>
          </a:prstGeom>
          <a:noFill/>
        </p:spPr>
        <p:txBody>
          <a:bodyPr wrap="square" anchor="t" lIns="0" rIns="0" tIns="0" bIns="0">
            <a:spAutoFit/>
          </a:bodyPr>
          <a:lstStyle/>
          <a:p>
            <a:pPr algn="l">
              <a:lnSpc>
                <a:spcPct val="105000"/>
              </a:lnSpc>
              <a:spcBef>
                <a:spcPts val="700"/>
              </a:spcBef>
              <a:spcAft>
                <a:spcPts val="200"/>
              </a:spcAft>
            </a:pPr>
            <a:r>
              <a:rPr sz="1800" b="0" i="0">
                <a:solidFill>
                  <a:srgbClr val="1A2B3C"/>
                </a:solidFill>
                <a:latin typeface="Arial"/>
              </a:rPr>
              <a:t>■  Hot sticks are insulating tools (usually fiberglass/epoxy) that extend your reach beyond MAD</a:t>
            </a:r>
          </a:p>
          <a:p>
            <a:pPr algn="l">
              <a:lnSpc>
                <a:spcPct val="105000"/>
              </a:lnSpc>
              <a:spcBef>
                <a:spcPts val="700"/>
              </a:spcBef>
              <a:spcAft>
                <a:spcPts val="200"/>
              </a:spcAft>
            </a:pPr>
            <a:r>
              <a:rPr sz="1800" b="0" i="0">
                <a:solidFill>
                  <a:srgbClr val="1A2B3C"/>
                </a:solidFill>
                <a:latin typeface="Arial"/>
              </a:rPr>
              <a:t>■  Let qualified workers operate, test, install and remove equipment without closing the gap</a:t>
            </a:r>
          </a:p>
          <a:p>
            <a:pPr algn="l">
              <a:lnSpc>
                <a:spcPct val="105000"/>
              </a:lnSpc>
              <a:spcBef>
                <a:spcPts val="700"/>
              </a:spcBef>
              <a:spcAft>
                <a:spcPts val="200"/>
              </a:spcAft>
            </a:pPr>
            <a:r>
              <a:rPr sz="1800" b="0" i="0">
                <a:solidFill>
                  <a:srgbClr val="1A2B3C"/>
                </a:solidFill>
                <a:latin typeface="Arial"/>
              </a:rPr>
              <a:t>■  Common types:</a:t>
            </a:r>
          </a:p>
          <a:p>
            <a:pPr algn="l" lvl="1">
              <a:lnSpc>
                <a:spcPct val="103000"/>
              </a:lnSpc>
              <a:spcBef>
                <a:spcPts val="200"/>
              </a:spcBef>
              <a:spcAft>
                <a:spcPts val="200"/>
              </a:spcAft>
            </a:pPr>
            <a:r>
              <a:rPr sz="1500" b="0" i="0">
                <a:solidFill>
                  <a:srgbClr val="334455"/>
                </a:solidFill>
                <a:latin typeface="Arial"/>
              </a:rPr>
              <a:t>–  Universal / shotgun (telescoping) sticks with interchangeable heads</a:t>
            </a:r>
          </a:p>
          <a:p>
            <a:pPr algn="l" lvl="1">
              <a:lnSpc>
                <a:spcPct val="103000"/>
              </a:lnSpc>
              <a:spcBef>
                <a:spcPts val="200"/>
              </a:spcBef>
              <a:spcAft>
                <a:spcPts val="200"/>
              </a:spcAft>
            </a:pPr>
            <a:r>
              <a:rPr sz="1500" b="0" i="0">
                <a:solidFill>
                  <a:srgbClr val="334455"/>
                </a:solidFill>
                <a:latin typeface="Arial"/>
              </a:rPr>
              <a:t>–  Switch sticks, disconnect sticks, fuse pullers</a:t>
            </a:r>
          </a:p>
          <a:p>
            <a:pPr algn="l" lvl="1">
              <a:lnSpc>
                <a:spcPct val="103000"/>
              </a:lnSpc>
              <a:spcBef>
                <a:spcPts val="200"/>
              </a:spcBef>
              <a:spcAft>
                <a:spcPts val="200"/>
              </a:spcAft>
            </a:pPr>
            <a:r>
              <a:rPr sz="1500" b="0" i="0">
                <a:solidFill>
                  <a:srgbClr val="334455"/>
                </a:solidFill>
                <a:latin typeface="Arial"/>
              </a:rPr>
              <a:t>–  Tie sticks, wire-holding &amp; cleaning tools, measuring sticks</a:t>
            </a:r>
          </a:p>
          <a:p>
            <a:pPr algn="l" lvl="1">
              <a:lnSpc>
                <a:spcPct val="103000"/>
              </a:lnSpc>
              <a:spcBef>
                <a:spcPts val="200"/>
              </a:spcBef>
              <a:spcAft>
                <a:spcPts val="200"/>
              </a:spcAft>
            </a:pPr>
            <a:r>
              <a:rPr sz="1500" b="0" i="0">
                <a:solidFill>
                  <a:srgbClr val="334455"/>
                </a:solidFill>
                <a:latin typeface="Arial"/>
              </a:rPr>
              <a:t>–  Grounding sticks (clamp sticks) for applying protective grounds</a:t>
            </a:r>
          </a:p>
          <a:p>
            <a:pPr algn="l">
              <a:lnSpc>
                <a:spcPct val="105000"/>
              </a:lnSpc>
              <a:spcBef>
                <a:spcPts val="700"/>
              </a:spcBef>
              <a:spcAft>
                <a:spcPts val="200"/>
              </a:spcAft>
            </a:pPr>
            <a:r>
              <a:rPr sz="1800" b="0" i="0">
                <a:solidFill>
                  <a:srgbClr val="1A2B3C"/>
                </a:solidFill>
                <a:latin typeface="Arial"/>
              </a:rPr>
              <a:t>■  Keep them CLEAN and DRY — contamination &amp; moisture ruin the insulating surface</a:t>
            </a:r>
          </a:p>
          <a:p>
            <a:pPr algn="l" lvl="1">
              <a:lnSpc>
                <a:spcPct val="103000"/>
              </a:lnSpc>
              <a:spcBef>
                <a:spcPts val="200"/>
              </a:spcBef>
              <a:spcAft>
                <a:spcPts val="200"/>
              </a:spcAft>
            </a:pPr>
            <a:r>
              <a:rPr sz="1500" b="0" i="0">
                <a:solidFill>
                  <a:srgbClr val="334455"/>
                </a:solidFill>
                <a:latin typeface="Arial"/>
              </a:rPr>
              <a:t>–  Wipe down with an approved cleaner/wax; use a cradle, not the ground</a:t>
            </a:r>
          </a:p>
          <a:p>
            <a:pPr algn="l">
              <a:lnSpc>
                <a:spcPct val="105000"/>
              </a:lnSpc>
              <a:spcBef>
                <a:spcPts val="700"/>
              </a:spcBef>
              <a:spcAft>
                <a:spcPts val="200"/>
              </a:spcAft>
            </a:pPr>
            <a:r>
              <a:rPr sz="1800" b="0" i="0">
                <a:solidFill>
                  <a:srgbClr val="1A2B3C"/>
                </a:solidFill>
                <a:latin typeface="Arial"/>
              </a:rPr>
              <a:t>■  Inspect for scratches, cracks, soft spots; periodic dielectric testing required</a:t>
            </a:r>
          </a:p>
        </p:txBody>
      </p:sp>
      <p:sp>
        <p:nvSpPr>
          <p:cNvPr id="9" name="Rectangle 8"/>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4 — Tools of the Trade</a:t>
            </a:r>
          </a:p>
        </p:txBody>
      </p:sp>
      <p:sp>
        <p:nvSpPr>
          <p:cNvPr id="11" name="TextBox 10"/>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4.4 GROUNDS</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Protective Grounds &amp; Grounding Equipment</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783080"/>
            <a:ext cx="10927080" cy="4160520"/>
          </a:xfrm>
          <a:prstGeom prst="rect">
            <a:avLst/>
          </a:prstGeom>
          <a:noFill/>
        </p:spPr>
        <p:txBody>
          <a:bodyPr wrap="square" anchor="t" lIns="0" rIns="0" tIns="0" bIns="0">
            <a:spAutoFit/>
          </a:bodyPr>
          <a:lstStyle/>
          <a:p>
            <a:pPr algn="l">
              <a:lnSpc>
                <a:spcPct val="105000"/>
              </a:lnSpc>
              <a:spcBef>
                <a:spcPts val="700"/>
              </a:spcBef>
              <a:spcAft>
                <a:spcPts val="200"/>
              </a:spcAft>
            </a:pPr>
            <a:r>
              <a:rPr sz="1800" b="0" i="0">
                <a:solidFill>
                  <a:srgbClr val="1A2B3C"/>
                </a:solidFill>
                <a:latin typeface="Arial"/>
              </a:rPr>
              <a:t>■  Personal protective grounds = flexible copper cables with clamps (ferrules) and ground studs</a:t>
            </a:r>
          </a:p>
          <a:p>
            <a:pPr algn="l">
              <a:lnSpc>
                <a:spcPct val="105000"/>
              </a:lnSpc>
              <a:spcBef>
                <a:spcPts val="700"/>
              </a:spcBef>
              <a:spcAft>
                <a:spcPts val="200"/>
              </a:spcAft>
            </a:pPr>
            <a:r>
              <a:rPr sz="1800" b="0" i="0">
                <a:solidFill>
                  <a:srgbClr val="1A2B3C"/>
                </a:solidFill>
                <a:latin typeface="Arial"/>
              </a:rPr>
              <a:t>■  Sized to carry the available fault current for the clearing time without failing</a:t>
            </a:r>
          </a:p>
          <a:p>
            <a:pPr algn="l" lvl="1">
              <a:lnSpc>
                <a:spcPct val="103000"/>
              </a:lnSpc>
              <a:spcBef>
                <a:spcPts val="200"/>
              </a:spcBef>
              <a:spcAft>
                <a:spcPts val="200"/>
              </a:spcAft>
            </a:pPr>
            <a:r>
              <a:rPr sz="1500" b="0" i="0">
                <a:solidFill>
                  <a:srgbClr val="334455"/>
                </a:solidFill>
                <a:latin typeface="Arial"/>
              </a:rPr>
              <a:t>–  Undersized grounds can fuse and fail under fault — use the correct cable size</a:t>
            </a:r>
          </a:p>
          <a:p>
            <a:pPr algn="l">
              <a:lnSpc>
                <a:spcPct val="105000"/>
              </a:lnSpc>
              <a:spcBef>
                <a:spcPts val="700"/>
              </a:spcBef>
              <a:spcAft>
                <a:spcPts val="200"/>
              </a:spcAft>
            </a:pPr>
            <a:r>
              <a:rPr sz="1800" b="0" i="0">
                <a:solidFill>
                  <a:srgbClr val="1A2B3C"/>
                </a:solidFill>
                <a:latin typeface="Arial"/>
              </a:rPr>
              <a:t>■  Components: cable, clamps, ferrules, ground rods/cluster bars, EPZ jumpers</a:t>
            </a:r>
          </a:p>
          <a:p>
            <a:pPr algn="l">
              <a:lnSpc>
                <a:spcPct val="105000"/>
              </a:lnSpc>
              <a:spcBef>
                <a:spcPts val="700"/>
              </a:spcBef>
              <a:spcAft>
                <a:spcPts val="200"/>
              </a:spcAft>
            </a:pPr>
            <a:r>
              <a:rPr sz="1800" b="0" i="0">
                <a:solidFill>
                  <a:srgbClr val="1A2B3C"/>
                </a:solidFill>
                <a:latin typeface="Arial"/>
              </a:rPr>
              <a:t>■  Apply correctly: clean contact points, tight clamps, ground end FIRST then line end</a:t>
            </a:r>
          </a:p>
          <a:p>
            <a:pPr algn="l">
              <a:lnSpc>
                <a:spcPct val="105000"/>
              </a:lnSpc>
              <a:spcBef>
                <a:spcPts val="700"/>
              </a:spcBef>
              <a:spcAft>
                <a:spcPts val="200"/>
              </a:spcAft>
            </a:pPr>
            <a:r>
              <a:rPr sz="1800" b="0" i="0">
                <a:solidFill>
                  <a:srgbClr val="1A2B3C"/>
                </a:solidFill>
                <a:latin typeface="Arial"/>
              </a:rPr>
              <a:t>■  Use grounding sticks to install/remove — treat the line as energized until grounds are on</a:t>
            </a:r>
          </a:p>
          <a:p>
            <a:pPr algn="l">
              <a:lnSpc>
                <a:spcPct val="105000"/>
              </a:lnSpc>
              <a:spcBef>
                <a:spcPts val="700"/>
              </a:spcBef>
              <a:spcAft>
                <a:spcPts val="200"/>
              </a:spcAft>
            </a:pPr>
            <a:r>
              <a:rPr sz="1800" b="0" i="0">
                <a:solidFill>
                  <a:srgbClr val="1A2B3C"/>
                </a:solidFill>
                <a:latin typeface="Arial"/>
              </a:rPr>
              <a:t>■  Inspect for broken strands, corroded clamps, loose ferrules; remove damaged sets from service</a:t>
            </a:r>
          </a:p>
          <a:p>
            <a:pPr algn="l">
              <a:lnSpc>
                <a:spcPct val="105000"/>
              </a:lnSpc>
              <a:spcBef>
                <a:spcPts val="700"/>
              </a:spcBef>
              <a:spcAft>
                <a:spcPts val="200"/>
              </a:spcAft>
            </a:pPr>
            <a:r>
              <a:rPr sz="1800" b="0" i="0">
                <a:solidFill>
                  <a:srgbClr val="1A2B3C"/>
                </a:solidFill>
                <a:latin typeface="Arial"/>
              </a:rPr>
              <a:t>■  Remove grounds in REVERSE: line end first, ground end last</a:t>
            </a:r>
          </a:p>
        </p:txBody>
      </p:sp>
      <p:sp>
        <p:nvSpPr>
          <p:cNvPr id="8" name="Rectangle 7"/>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4 — Tools of the Trade</a:t>
            </a:r>
          </a:p>
        </p:txBody>
      </p:sp>
      <p:sp>
        <p:nvSpPr>
          <p:cNvPr id="10" name="TextBox 9"/>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4.5 TESTERS</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Voltage Detectors &amp; Testers</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783080"/>
            <a:ext cx="5349240" cy="4297680"/>
          </a:xfrm>
          <a:prstGeom prst="roundRect">
            <a:avLst/>
          </a:prstGeom>
          <a:solidFill>
            <a:srgbClr val="EEF2F7"/>
          </a:solidFill>
          <a:ln w="12700">
            <a:solidFill>
              <a:srgbClr val="CF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40080" y="1783080"/>
            <a:ext cx="5349240" cy="566928"/>
          </a:xfrm>
          <a:prstGeom prst="roundRect">
            <a:avLst/>
          </a:prstGeom>
          <a:solidFill>
            <a:srgbClr val="3A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2066543"/>
            <a:ext cx="5349240" cy="283464"/>
          </a:xfrm>
          <a:prstGeom prst="rect">
            <a:avLst/>
          </a:prstGeom>
          <a:solidFill>
            <a:srgbClr val="3A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1837943"/>
            <a:ext cx="4892040" cy="475488"/>
          </a:xfrm>
          <a:prstGeom prst="rect">
            <a:avLst/>
          </a:prstGeom>
          <a:noFill/>
        </p:spPr>
        <p:txBody>
          <a:bodyPr wrap="square" anchor="ctr" lIns="0" rIns="0" tIns="0" bIns="0">
            <a:spAutoFit/>
          </a:bodyPr>
          <a:lstStyle/>
          <a:p>
            <a:pPr algn="l">
              <a:lnSpc>
                <a:spcPct val="105000"/>
              </a:lnSpc>
              <a:spcBef>
                <a:spcPts val="400"/>
              </a:spcBef>
              <a:spcAft>
                <a:spcPts val="400"/>
              </a:spcAft>
            </a:pPr>
            <a:r>
              <a:rPr sz="1600" b="1" i="0">
                <a:solidFill>
                  <a:srgbClr val="FFFFFF"/>
                </a:solidFill>
                <a:latin typeface="Arial"/>
              </a:rPr>
              <a:t>Types</a:t>
            </a:r>
          </a:p>
        </p:txBody>
      </p:sp>
      <p:sp>
        <p:nvSpPr>
          <p:cNvPr id="11" name="TextBox 10"/>
          <p:cNvSpPr txBox="1"/>
          <p:nvPr/>
        </p:nvSpPr>
        <p:spPr>
          <a:xfrm>
            <a:off x="914400" y="2514600"/>
            <a:ext cx="4800600" cy="3383280"/>
          </a:xfrm>
          <a:prstGeom prst="rect">
            <a:avLst/>
          </a:prstGeom>
          <a:noFill/>
        </p:spPr>
        <p:txBody>
          <a:bodyPr wrap="square" anchor="t" lIns="0" rIns="0" tIns="0" bIns="0">
            <a:spAutoFit/>
          </a:bodyPr>
          <a:lstStyle/>
          <a:p>
            <a:pPr algn="l">
              <a:lnSpc>
                <a:spcPct val="103000"/>
              </a:lnSpc>
              <a:spcBef>
                <a:spcPts val="500"/>
              </a:spcBef>
              <a:spcAft>
                <a:spcPts val="200"/>
              </a:spcAft>
            </a:pPr>
            <a:r>
              <a:rPr sz="1400" b="0" i="0">
                <a:solidFill>
                  <a:srgbClr val="1A2B3C"/>
                </a:solidFill>
                <a:latin typeface="Arial"/>
              </a:rPr>
              <a:t>■  Contact voltage detectors (on a hot stick)</a:t>
            </a:r>
          </a:p>
          <a:p>
            <a:pPr algn="l">
              <a:lnSpc>
                <a:spcPct val="103000"/>
              </a:lnSpc>
              <a:spcBef>
                <a:spcPts val="500"/>
              </a:spcBef>
              <a:spcAft>
                <a:spcPts val="200"/>
              </a:spcAft>
            </a:pPr>
            <a:r>
              <a:rPr sz="1400" b="0" i="0">
                <a:solidFill>
                  <a:srgbClr val="1A2B3C"/>
                </a:solidFill>
                <a:latin typeface="Arial"/>
              </a:rPr>
              <a:t>■  Non-contact / proximity testers (presence of field)</a:t>
            </a:r>
          </a:p>
          <a:p>
            <a:pPr algn="l">
              <a:lnSpc>
                <a:spcPct val="103000"/>
              </a:lnSpc>
              <a:spcBef>
                <a:spcPts val="500"/>
              </a:spcBef>
              <a:spcAft>
                <a:spcPts val="200"/>
              </a:spcAft>
            </a:pPr>
            <a:r>
              <a:rPr sz="1400" b="0" i="0">
                <a:solidFill>
                  <a:srgbClr val="1A2B3C"/>
                </a:solidFill>
                <a:latin typeface="Arial"/>
              </a:rPr>
              <a:t>■  Phasing testers — verify phase relationships</a:t>
            </a:r>
          </a:p>
          <a:p>
            <a:pPr algn="l">
              <a:lnSpc>
                <a:spcPct val="103000"/>
              </a:lnSpc>
              <a:spcBef>
                <a:spcPts val="500"/>
              </a:spcBef>
              <a:spcAft>
                <a:spcPts val="200"/>
              </a:spcAft>
            </a:pPr>
            <a:r>
              <a:rPr sz="1400" b="0" i="0">
                <a:solidFill>
                  <a:srgbClr val="1A2B3C"/>
                </a:solidFill>
                <a:latin typeface="Arial"/>
              </a:rPr>
              <a:t>■  Audible/visual indication of energized condition</a:t>
            </a:r>
          </a:p>
        </p:txBody>
      </p:sp>
      <p:sp>
        <p:nvSpPr>
          <p:cNvPr id="12" name="Rounded Rectangle 11"/>
          <p:cNvSpPr/>
          <p:nvPr/>
        </p:nvSpPr>
        <p:spPr>
          <a:xfrm>
            <a:off x="6309359" y="1783080"/>
            <a:ext cx="5349240" cy="4297680"/>
          </a:xfrm>
          <a:prstGeom prst="roundRect">
            <a:avLst/>
          </a:prstGeom>
          <a:solidFill>
            <a:srgbClr val="EEF2F7"/>
          </a:solidFill>
          <a:ln w="12700">
            <a:solidFill>
              <a:srgbClr val="CF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09359" y="1783080"/>
            <a:ext cx="5349240" cy="566928"/>
          </a:xfrm>
          <a:prstGeom prst="roundRect">
            <a:avLst/>
          </a:prstGeom>
          <a:solidFill>
            <a:srgbClr val="C88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59" y="2066543"/>
            <a:ext cx="5349240" cy="283464"/>
          </a:xfrm>
          <a:prstGeom prst="rect">
            <a:avLst/>
          </a:prstGeom>
          <a:solidFill>
            <a:srgbClr val="C88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37959" y="1837943"/>
            <a:ext cx="4892040" cy="475488"/>
          </a:xfrm>
          <a:prstGeom prst="rect">
            <a:avLst/>
          </a:prstGeom>
          <a:noFill/>
        </p:spPr>
        <p:txBody>
          <a:bodyPr wrap="square" anchor="ctr" lIns="0" rIns="0" tIns="0" bIns="0">
            <a:spAutoFit/>
          </a:bodyPr>
          <a:lstStyle/>
          <a:p>
            <a:pPr algn="l">
              <a:lnSpc>
                <a:spcPct val="105000"/>
              </a:lnSpc>
              <a:spcBef>
                <a:spcPts val="400"/>
              </a:spcBef>
              <a:spcAft>
                <a:spcPts val="400"/>
              </a:spcAft>
            </a:pPr>
            <a:r>
              <a:rPr sz="1600" b="1" i="0">
                <a:solidFill>
                  <a:srgbClr val="FFFFFF"/>
                </a:solidFill>
                <a:latin typeface="Arial"/>
              </a:rPr>
              <a:t>Use it right</a:t>
            </a:r>
          </a:p>
        </p:txBody>
      </p:sp>
      <p:sp>
        <p:nvSpPr>
          <p:cNvPr id="16" name="TextBox 15"/>
          <p:cNvSpPr txBox="1"/>
          <p:nvPr/>
        </p:nvSpPr>
        <p:spPr>
          <a:xfrm>
            <a:off x="6583679" y="2514600"/>
            <a:ext cx="4800600" cy="3383280"/>
          </a:xfrm>
          <a:prstGeom prst="rect">
            <a:avLst/>
          </a:prstGeom>
          <a:noFill/>
        </p:spPr>
        <p:txBody>
          <a:bodyPr wrap="square" anchor="t" lIns="0" rIns="0" tIns="0" bIns="0">
            <a:spAutoFit/>
          </a:bodyPr>
          <a:lstStyle/>
          <a:p>
            <a:pPr algn="l">
              <a:lnSpc>
                <a:spcPct val="103000"/>
              </a:lnSpc>
              <a:spcBef>
                <a:spcPts val="500"/>
              </a:spcBef>
              <a:spcAft>
                <a:spcPts val="200"/>
              </a:spcAft>
            </a:pPr>
            <a:r>
              <a:rPr sz="1400" b="0" i="0">
                <a:solidFill>
                  <a:srgbClr val="1A2B3C"/>
                </a:solidFill>
                <a:latin typeface="Arial"/>
              </a:rPr>
              <a:t>■  TEST the tester on a known source before AND after</a:t>
            </a:r>
          </a:p>
          <a:p>
            <a:pPr algn="l">
              <a:lnSpc>
                <a:spcPct val="103000"/>
              </a:lnSpc>
              <a:spcBef>
                <a:spcPts val="500"/>
              </a:spcBef>
              <a:spcAft>
                <a:spcPts val="200"/>
              </a:spcAft>
            </a:pPr>
            <a:r>
              <a:rPr sz="1400" b="0" i="0">
                <a:solidFill>
                  <a:srgbClr val="1A2B3C"/>
                </a:solidFill>
                <a:latin typeface="Arial"/>
              </a:rPr>
              <a:t>■  Match the detector's range to the system voltage</a:t>
            </a:r>
          </a:p>
          <a:p>
            <a:pPr algn="l">
              <a:lnSpc>
                <a:spcPct val="103000"/>
              </a:lnSpc>
              <a:spcBef>
                <a:spcPts val="500"/>
              </a:spcBef>
              <a:spcAft>
                <a:spcPts val="200"/>
              </a:spcAft>
            </a:pPr>
            <a:r>
              <a:rPr sz="1400" b="0" i="0">
                <a:solidFill>
                  <a:srgbClr val="1A2B3C"/>
                </a:solidFill>
                <a:latin typeface="Arial"/>
              </a:rPr>
              <a:t>■  Test-before-touch on every conductor, every time</a:t>
            </a:r>
          </a:p>
          <a:p>
            <a:pPr algn="l">
              <a:lnSpc>
                <a:spcPct val="103000"/>
              </a:lnSpc>
              <a:spcBef>
                <a:spcPts val="500"/>
              </a:spcBef>
              <a:spcAft>
                <a:spcPts val="200"/>
              </a:spcAft>
            </a:pPr>
            <a:r>
              <a:rPr sz="1400" b="0" i="0">
                <a:solidFill>
                  <a:srgbClr val="1A2B3C"/>
                </a:solidFill>
                <a:latin typeface="Arial"/>
              </a:rPr>
              <a:t>■  A 'no voltage' reading from an unproven tester proves NOTHING</a:t>
            </a:r>
          </a:p>
        </p:txBody>
      </p:sp>
      <p:sp>
        <p:nvSpPr>
          <p:cNvPr id="17" name="Rectangle 16"/>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4 — Tools of the Trade</a:t>
            </a:r>
          </a:p>
        </p:txBody>
      </p:sp>
      <p:sp>
        <p:nvSpPr>
          <p:cNvPr id="19" name="TextBox 18"/>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4.6 FR / PPE</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Arc-Rated FR Clothing &amp; Personal PPE</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783080"/>
            <a:ext cx="10927080" cy="4160520"/>
          </a:xfrm>
          <a:prstGeom prst="rect">
            <a:avLst/>
          </a:prstGeom>
          <a:noFill/>
        </p:spPr>
        <p:txBody>
          <a:bodyPr wrap="square" anchor="t" lIns="0" rIns="0" tIns="0" bIns="0">
            <a:spAutoFit/>
          </a:bodyPr>
          <a:lstStyle/>
          <a:p>
            <a:pPr algn="l">
              <a:lnSpc>
                <a:spcPct val="105000"/>
              </a:lnSpc>
              <a:spcBef>
                <a:spcPts val="700"/>
              </a:spcBef>
              <a:spcAft>
                <a:spcPts val="200"/>
              </a:spcAft>
            </a:pPr>
            <a:r>
              <a:rPr sz="1800" b="0" i="0">
                <a:solidFill>
                  <a:srgbClr val="1A2B3C"/>
                </a:solidFill>
                <a:latin typeface="Arial"/>
              </a:rPr>
              <a:t>■  Flame-resistant (FR) / arc-rated (AR) clothing protects against arc-flash thermal energy</a:t>
            </a:r>
          </a:p>
          <a:p>
            <a:pPr algn="l" lvl="1">
              <a:lnSpc>
                <a:spcPct val="103000"/>
              </a:lnSpc>
              <a:spcBef>
                <a:spcPts val="200"/>
              </a:spcBef>
              <a:spcAft>
                <a:spcPts val="200"/>
              </a:spcAft>
            </a:pPr>
            <a:r>
              <a:rPr sz="1500" b="0" i="0">
                <a:solidFill>
                  <a:srgbClr val="334455"/>
                </a:solidFill>
                <a:latin typeface="Arial"/>
              </a:rPr>
              <a:t>–  Rated in cal/cm² (ATPV / arc rating) — must meet or exceed the job's incident energy</a:t>
            </a:r>
          </a:p>
          <a:p>
            <a:pPr algn="l" lvl="1">
              <a:lnSpc>
                <a:spcPct val="103000"/>
              </a:lnSpc>
              <a:spcBef>
                <a:spcPts val="200"/>
              </a:spcBef>
              <a:spcAft>
                <a:spcPts val="200"/>
              </a:spcAft>
            </a:pPr>
            <a:r>
              <a:rPr sz="1500" b="0" i="0">
                <a:solidFill>
                  <a:srgbClr val="334455"/>
                </a:solidFill>
                <a:latin typeface="Arial"/>
              </a:rPr>
              <a:t>–  Self-extinguishing; will not melt and drip like synthetics (no untreated nylon/poly next to skin)</a:t>
            </a:r>
          </a:p>
          <a:p>
            <a:pPr algn="l">
              <a:lnSpc>
                <a:spcPct val="105000"/>
              </a:lnSpc>
              <a:spcBef>
                <a:spcPts val="700"/>
              </a:spcBef>
              <a:spcAft>
                <a:spcPts val="200"/>
              </a:spcAft>
            </a:pPr>
            <a:r>
              <a:rPr sz="1800" b="0" i="0">
                <a:solidFill>
                  <a:srgbClr val="1A2B3C"/>
                </a:solidFill>
                <a:latin typeface="Arial"/>
              </a:rPr>
              <a:t>■  Layering increases protection; outermost layer must be arc-rated</a:t>
            </a:r>
          </a:p>
          <a:p>
            <a:pPr algn="l">
              <a:lnSpc>
                <a:spcPct val="105000"/>
              </a:lnSpc>
              <a:spcBef>
                <a:spcPts val="700"/>
              </a:spcBef>
              <a:spcAft>
                <a:spcPts val="200"/>
              </a:spcAft>
            </a:pPr>
            <a:r>
              <a:rPr sz="1800" b="0" i="0">
                <a:solidFill>
                  <a:srgbClr val="1A2B3C"/>
                </a:solidFill>
                <a:latin typeface="Arial"/>
              </a:rPr>
              <a:t>■  Head/face/eyes: hard hat (Class E, electrical), arc-rated face shield/hood, safety glasses</a:t>
            </a:r>
          </a:p>
          <a:p>
            <a:pPr algn="l">
              <a:lnSpc>
                <a:spcPct val="105000"/>
              </a:lnSpc>
              <a:spcBef>
                <a:spcPts val="700"/>
              </a:spcBef>
              <a:spcAft>
                <a:spcPts val="200"/>
              </a:spcAft>
            </a:pPr>
            <a:r>
              <a:rPr sz="1800" b="0" i="0">
                <a:solidFill>
                  <a:srgbClr val="1A2B3C"/>
                </a:solidFill>
                <a:latin typeface="Arial"/>
              </a:rPr>
              <a:t>■  Hands: rubber gloves + leather protectors; feet: EH-rated footwear</a:t>
            </a:r>
          </a:p>
          <a:p>
            <a:pPr algn="l">
              <a:lnSpc>
                <a:spcPct val="105000"/>
              </a:lnSpc>
              <a:spcBef>
                <a:spcPts val="700"/>
              </a:spcBef>
              <a:spcAft>
                <a:spcPts val="200"/>
              </a:spcAft>
            </a:pPr>
            <a:r>
              <a:rPr sz="1800" b="0" i="0">
                <a:solidFill>
                  <a:srgbClr val="1A2B3C"/>
                </a:solidFill>
                <a:latin typeface="Arial"/>
              </a:rPr>
              <a:t>■  Hearing protection for arc-blast environments; no exposed conductive jewelry</a:t>
            </a:r>
          </a:p>
          <a:p>
            <a:pPr algn="l">
              <a:lnSpc>
                <a:spcPct val="105000"/>
              </a:lnSpc>
              <a:spcBef>
                <a:spcPts val="700"/>
              </a:spcBef>
              <a:spcAft>
                <a:spcPts val="200"/>
              </a:spcAft>
            </a:pPr>
            <a:r>
              <a:rPr sz="1800" b="0" i="0">
                <a:solidFill>
                  <a:srgbClr val="1A2B3C"/>
                </a:solidFill>
                <a:latin typeface="Arial"/>
              </a:rPr>
              <a:t>■  PPE is the LAST layer — it limits injury when other controls fail; it never replaces them</a:t>
            </a:r>
          </a:p>
        </p:txBody>
      </p:sp>
      <p:sp>
        <p:nvSpPr>
          <p:cNvPr id="8" name="Rectangle 7"/>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4 — Tools of the Trade</a:t>
            </a:r>
          </a:p>
        </p:txBody>
      </p:sp>
      <p:sp>
        <p:nvSpPr>
          <p:cNvPr id="10" name="TextBox 9"/>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4.7 INTERVALS</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PPE &amp; Tool Inspection / Test Intervals (Typical)</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640080" y="1828800"/>
          <a:ext cx="10908790" cy="3822191"/>
        </p:xfrm>
        <a:graphic>
          <a:graphicData uri="http://schemas.openxmlformats.org/drawingml/2006/table">
            <a:tbl>
              <a:tblPr firstRow="1" bandRow="1">
                <a:tableStyleId>{5C22544A-7EE6-4342-B048-85BDC9FD1C3A}</a:tableStyleId>
              </a:tblPr>
              <a:tblGrid>
                <a:gridCol w="3566335"/>
                <a:gridCol w="3356551"/>
                <a:gridCol w="3985904"/>
              </a:tblGrid>
              <a:tr h="424687">
                <a:tc>
                  <a:txBody>
                    <a:bodyPr wrap="square"/>
                    <a:lstStyle/>
                    <a:p>
                      <a:pPr algn="l"/>
                      <a:r>
                        <a:rPr sz="1200" b="1">
                          <a:solidFill>
                            <a:srgbClr val="FFFFFF"/>
                          </a:solidFill>
                          <a:latin typeface="Arial"/>
                        </a:rPr>
                        <a:t>Item</a:t>
                      </a:r>
                    </a:p>
                  </a:txBody>
                  <a:tcPr anchor="ctr" marL="91440" marR="73152" marT="36576" marB="36576">
                    <a:solidFill>
                      <a:srgbClr val="0B2545"/>
                    </a:solidFill>
                  </a:tcPr>
                </a:tc>
                <a:tc>
                  <a:txBody>
                    <a:bodyPr wrap="square"/>
                    <a:lstStyle/>
                    <a:p>
                      <a:pPr algn="l"/>
                      <a:r>
                        <a:rPr sz="1200" b="1">
                          <a:solidFill>
                            <a:srgbClr val="FFFFFF"/>
                          </a:solidFill>
                          <a:latin typeface="Arial"/>
                        </a:rPr>
                        <a:t>Before each use</a:t>
                      </a:r>
                    </a:p>
                  </a:txBody>
                  <a:tcPr anchor="ctr" marL="91440" marR="73152" marT="36576" marB="36576">
                    <a:solidFill>
                      <a:srgbClr val="0B2545"/>
                    </a:solidFill>
                  </a:tcPr>
                </a:tc>
                <a:tc>
                  <a:txBody>
                    <a:bodyPr wrap="square"/>
                    <a:lstStyle/>
                    <a:p>
                      <a:pPr algn="l"/>
                      <a:r>
                        <a:rPr sz="1200" b="1">
                          <a:solidFill>
                            <a:srgbClr val="FFFFFF"/>
                          </a:solidFill>
                          <a:latin typeface="Arial"/>
                        </a:rPr>
                        <a:t>Periodic electrical test</a:t>
                      </a:r>
                    </a:p>
                  </a:txBody>
                  <a:tcPr anchor="ctr" marL="91440" marR="73152" marT="36576" marB="36576">
                    <a:solidFill>
                      <a:srgbClr val="0B2545"/>
                    </a:solidFill>
                  </a:tcPr>
                </a:tc>
              </a:tr>
              <a:tr h="424687">
                <a:tc>
                  <a:txBody>
                    <a:bodyPr wrap="square"/>
                    <a:lstStyle/>
                    <a:p>
                      <a:pPr algn="l"/>
                      <a:r>
                        <a:rPr sz="1150" b="1">
                          <a:solidFill>
                            <a:srgbClr val="0B2545"/>
                          </a:solidFill>
                          <a:latin typeface="Arial"/>
                        </a:rPr>
                        <a:t>Rubber gloves</a:t>
                      </a:r>
                    </a:p>
                  </a:txBody>
                  <a:tcPr anchor="ctr" marL="91440" marR="73152" marT="27432" marB="27432">
                    <a:solidFill>
                      <a:srgbClr val="FFFFFF"/>
                    </a:solidFill>
                  </a:tcPr>
                </a:tc>
                <a:tc>
                  <a:txBody>
                    <a:bodyPr wrap="square"/>
                    <a:lstStyle/>
                    <a:p>
                      <a:pPr algn="l"/>
                      <a:r>
                        <a:rPr sz="1150" b="0">
                          <a:solidFill>
                            <a:srgbClr val="1A2B3C"/>
                          </a:solidFill>
                          <a:latin typeface="Arial"/>
                        </a:rPr>
                        <a:t>Air &amp; visual inspection</a:t>
                      </a:r>
                    </a:p>
                  </a:txBody>
                  <a:tcPr anchor="ctr" marL="91440" marR="73152" marT="27432" marB="27432">
                    <a:solidFill>
                      <a:srgbClr val="FFFFFF"/>
                    </a:solidFill>
                  </a:tcPr>
                </a:tc>
                <a:tc>
                  <a:txBody>
                    <a:bodyPr wrap="square"/>
                    <a:lstStyle/>
                    <a:p>
                      <a:pPr algn="l"/>
                      <a:r>
                        <a:rPr sz="1150" b="0">
                          <a:solidFill>
                            <a:srgbClr val="1A2B3C"/>
                          </a:solidFill>
                          <a:latin typeface="Arial"/>
                        </a:rPr>
                        <a:t>Retest ≈ every 6 months</a:t>
                      </a:r>
                    </a:p>
                  </a:txBody>
                  <a:tcPr anchor="ctr" marL="91440" marR="73152" marT="27432" marB="27432">
                    <a:solidFill>
                      <a:srgbClr val="FFFFFF"/>
                    </a:solidFill>
                  </a:tcPr>
                </a:tc>
              </a:tr>
              <a:tr h="424687">
                <a:tc>
                  <a:txBody>
                    <a:bodyPr wrap="square"/>
                    <a:lstStyle/>
                    <a:p>
                      <a:pPr algn="l"/>
                      <a:r>
                        <a:rPr sz="1150" b="1">
                          <a:solidFill>
                            <a:srgbClr val="0B2545"/>
                          </a:solidFill>
                          <a:latin typeface="Arial"/>
                        </a:rPr>
                        <a:t>Rubber sleeves</a:t>
                      </a:r>
                    </a:p>
                  </a:txBody>
                  <a:tcPr anchor="ctr" marL="91440" marR="73152" marT="27432" marB="27432">
                    <a:solidFill>
                      <a:srgbClr val="EEF2F7"/>
                    </a:solidFill>
                  </a:tcPr>
                </a:tc>
                <a:tc>
                  <a:txBody>
                    <a:bodyPr wrap="square"/>
                    <a:lstStyle/>
                    <a:p>
                      <a:pPr algn="l"/>
                      <a:r>
                        <a:rPr sz="1150" b="0">
                          <a:solidFill>
                            <a:srgbClr val="1A2B3C"/>
                          </a:solidFill>
                          <a:latin typeface="Arial"/>
                        </a:rPr>
                        <a:t>Visual inspection</a:t>
                      </a:r>
                    </a:p>
                  </a:txBody>
                  <a:tcPr anchor="ctr" marL="91440" marR="73152" marT="27432" marB="27432">
                    <a:solidFill>
                      <a:srgbClr val="EEF2F7"/>
                    </a:solidFill>
                  </a:tcPr>
                </a:tc>
                <a:tc>
                  <a:txBody>
                    <a:bodyPr wrap="square"/>
                    <a:lstStyle/>
                    <a:p>
                      <a:pPr algn="l"/>
                      <a:r>
                        <a:rPr sz="1150" b="0">
                          <a:solidFill>
                            <a:srgbClr val="1A2B3C"/>
                          </a:solidFill>
                          <a:latin typeface="Arial"/>
                        </a:rPr>
                        <a:t>Retest ≈ every 6 months</a:t>
                      </a:r>
                    </a:p>
                  </a:txBody>
                  <a:tcPr anchor="ctr" marL="91440" marR="73152" marT="27432" marB="27432">
                    <a:solidFill>
                      <a:srgbClr val="EEF2F7"/>
                    </a:solidFill>
                  </a:tcPr>
                </a:tc>
              </a:tr>
              <a:tr h="424687">
                <a:tc>
                  <a:txBody>
                    <a:bodyPr wrap="square"/>
                    <a:lstStyle/>
                    <a:p>
                      <a:pPr algn="l"/>
                      <a:r>
                        <a:rPr sz="1150" b="1">
                          <a:solidFill>
                            <a:srgbClr val="0B2545"/>
                          </a:solidFill>
                          <a:latin typeface="Arial"/>
                        </a:rPr>
                        <a:t>Insulating blankets</a:t>
                      </a:r>
                    </a:p>
                  </a:txBody>
                  <a:tcPr anchor="ctr" marL="91440" marR="73152" marT="27432" marB="27432">
                    <a:solidFill>
                      <a:srgbClr val="FFFFFF"/>
                    </a:solidFill>
                  </a:tcPr>
                </a:tc>
                <a:tc>
                  <a:txBody>
                    <a:bodyPr wrap="square"/>
                    <a:lstStyle/>
                    <a:p>
                      <a:pPr algn="l"/>
                      <a:r>
                        <a:rPr sz="1150" b="0">
                          <a:solidFill>
                            <a:srgbClr val="1A2B3C"/>
                          </a:solidFill>
                          <a:latin typeface="Arial"/>
                        </a:rPr>
                        <a:t>Visual inspection</a:t>
                      </a:r>
                    </a:p>
                  </a:txBody>
                  <a:tcPr anchor="ctr" marL="91440" marR="73152" marT="27432" marB="27432">
                    <a:solidFill>
                      <a:srgbClr val="FFFFFF"/>
                    </a:solidFill>
                  </a:tcPr>
                </a:tc>
                <a:tc>
                  <a:txBody>
                    <a:bodyPr wrap="square"/>
                    <a:lstStyle/>
                    <a:p>
                      <a:pPr algn="l"/>
                      <a:r>
                        <a:rPr sz="1150" b="0">
                          <a:solidFill>
                            <a:srgbClr val="1A2B3C"/>
                          </a:solidFill>
                          <a:latin typeface="Arial"/>
                        </a:rPr>
                        <a:t>Retest ≈ every 12 months</a:t>
                      </a:r>
                    </a:p>
                  </a:txBody>
                  <a:tcPr anchor="ctr" marL="91440" marR="73152" marT="27432" marB="27432">
                    <a:solidFill>
                      <a:srgbClr val="FFFFFF"/>
                    </a:solidFill>
                  </a:tcPr>
                </a:tc>
              </a:tr>
              <a:tr h="424687">
                <a:tc>
                  <a:txBody>
                    <a:bodyPr wrap="square"/>
                    <a:lstStyle/>
                    <a:p>
                      <a:pPr algn="l"/>
                      <a:r>
                        <a:rPr sz="1150" b="1">
                          <a:solidFill>
                            <a:srgbClr val="0B2545"/>
                          </a:solidFill>
                          <a:latin typeface="Arial"/>
                        </a:rPr>
                        <a:t>Line hose / covers</a:t>
                      </a:r>
                    </a:p>
                  </a:txBody>
                  <a:tcPr anchor="ctr" marL="91440" marR="73152" marT="27432" marB="27432">
                    <a:solidFill>
                      <a:srgbClr val="EEF2F7"/>
                    </a:solidFill>
                  </a:tcPr>
                </a:tc>
                <a:tc>
                  <a:txBody>
                    <a:bodyPr wrap="square"/>
                    <a:lstStyle/>
                    <a:p>
                      <a:pPr algn="l"/>
                      <a:r>
                        <a:rPr sz="1150" b="0">
                          <a:solidFill>
                            <a:srgbClr val="1A2B3C"/>
                          </a:solidFill>
                          <a:latin typeface="Arial"/>
                        </a:rPr>
                        <a:t>Visual inspection</a:t>
                      </a:r>
                    </a:p>
                  </a:txBody>
                  <a:tcPr anchor="ctr" marL="91440" marR="73152" marT="27432" marB="27432">
                    <a:solidFill>
                      <a:srgbClr val="EEF2F7"/>
                    </a:solidFill>
                  </a:tcPr>
                </a:tc>
                <a:tc>
                  <a:txBody>
                    <a:bodyPr wrap="square"/>
                    <a:lstStyle/>
                    <a:p>
                      <a:pPr algn="l"/>
                      <a:r>
                        <a:rPr sz="1150" b="0">
                          <a:solidFill>
                            <a:srgbClr val="1A2B3C"/>
                          </a:solidFill>
                          <a:latin typeface="Arial"/>
                        </a:rPr>
                        <a:t>When suspect / per program</a:t>
                      </a:r>
                    </a:p>
                  </a:txBody>
                  <a:tcPr anchor="ctr" marL="91440" marR="73152" marT="27432" marB="27432">
                    <a:solidFill>
                      <a:srgbClr val="EEF2F7"/>
                    </a:solidFill>
                  </a:tcPr>
                </a:tc>
              </a:tr>
              <a:tr h="424687">
                <a:tc>
                  <a:txBody>
                    <a:bodyPr wrap="square"/>
                    <a:lstStyle/>
                    <a:p>
                      <a:pPr algn="l"/>
                      <a:r>
                        <a:rPr sz="1150" b="1">
                          <a:solidFill>
                            <a:srgbClr val="0B2545"/>
                          </a:solidFill>
                          <a:latin typeface="Arial"/>
                        </a:rPr>
                        <a:t>Hot sticks / live-line tools</a:t>
                      </a:r>
                    </a:p>
                  </a:txBody>
                  <a:tcPr anchor="ctr" marL="91440" marR="73152" marT="27432" marB="27432">
                    <a:solidFill>
                      <a:srgbClr val="FFFFFF"/>
                    </a:solidFill>
                  </a:tcPr>
                </a:tc>
                <a:tc>
                  <a:txBody>
                    <a:bodyPr wrap="square"/>
                    <a:lstStyle/>
                    <a:p>
                      <a:pPr algn="l"/>
                      <a:r>
                        <a:rPr sz="1150" b="0">
                          <a:solidFill>
                            <a:srgbClr val="1A2B3C"/>
                          </a:solidFill>
                          <a:latin typeface="Arial"/>
                        </a:rPr>
                        <a:t>Wipe &amp; visual inspection</a:t>
                      </a:r>
                    </a:p>
                  </a:txBody>
                  <a:tcPr anchor="ctr" marL="91440" marR="73152" marT="27432" marB="27432">
                    <a:solidFill>
                      <a:srgbClr val="FFFFFF"/>
                    </a:solidFill>
                  </a:tcPr>
                </a:tc>
                <a:tc>
                  <a:txBody>
                    <a:bodyPr wrap="square"/>
                    <a:lstStyle/>
                    <a:p>
                      <a:pPr algn="l"/>
                      <a:r>
                        <a:rPr sz="1150" b="0">
                          <a:solidFill>
                            <a:srgbClr val="1A2B3C"/>
                          </a:solidFill>
                          <a:latin typeface="Arial"/>
                        </a:rPr>
                        <a:t>Periodic dielectric test (e.g., every 2 yrs)</a:t>
                      </a:r>
                    </a:p>
                  </a:txBody>
                  <a:tcPr anchor="ctr" marL="91440" marR="73152" marT="27432" marB="27432">
                    <a:solidFill>
                      <a:srgbClr val="FFFFFF"/>
                    </a:solidFill>
                  </a:tcPr>
                </a:tc>
              </a:tr>
              <a:tr h="424687">
                <a:tc>
                  <a:txBody>
                    <a:bodyPr wrap="square"/>
                    <a:lstStyle/>
                    <a:p>
                      <a:pPr algn="l"/>
                      <a:r>
                        <a:rPr sz="1150" b="1">
                          <a:solidFill>
                            <a:srgbClr val="0B2545"/>
                          </a:solidFill>
                          <a:latin typeface="Arial"/>
                        </a:rPr>
                        <a:t>Protective grounds</a:t>
                      </a:r>
                    </a:p>
                  </a:txBody>
                  <a:tcPr anchor="ctr" marL="91440" marR="73152" marT="27432" marB="27432">
                    <a:solidFill>
                      <a:srgbClr val="EEF2F7"/>
                    </a:solidFill>
                  </a:tcPr>
                </a:tc>
                <a:tc>
                  <a:txBody>
                    <a:bodyPr wrap="square"/>
                    <a:lstStyle/>
                    <a:p>
                      <a:pPr algn="l"/>
                      <a:r>
                        <a:rPr sz="1150" b="0">
                          <a:solidFill>
                            <a:srgbClr val="1A2B3C"/>
                          </a:solidFill>
                          <a:latin typeface="Arial"/>
                        </a:rPr>
                        <a:t>Visual; check clamps/strands</a:t>
                      </a:r>
                    </a:p>
                  </a:txBody>
                  <a:tcPr anchor="ctr" marL="91440" marR="73152" marT="27432" marB="27432">
                    <a:solidFill>
                      <a:srgbClr val="EEF2F7"/>
                    </a:solidFill>
                  </a:tcPr>
                </a:tc>
                <a:tc>
                  <a:txBody>
                    <a:bodyPr wrap="square"/>
                    <a:lstStyle/>
                    <a:p>
                      <a:pPr algn="l"/>
                      <a:r>
                        <a:rPr sz="1150" b="0">
                          <a:solidFill>
                            <a:srgbClr val="1A2B3C"/>
                          </a:solidFill>
                          <a:latin typeface="Arial"/>
                        </a:rPr>
                        <a:t>Resistance/condition per program</a:t>
                      </a:r>
                    </a:p>
                  </a:txBody>
                  <a:tcPr anchor="ctr" marL="91440" marR="73152" marT="27432" marB="27432">
                    <a:solidFill>
                      <a:srgbClr val="EEF2F7"/>
                    </a:solidFill>
                  </a:tcPr>
                </a:tc>
              </a:tr>
              <a:tr h="424687">
                <a:tc>
                  <a:txBody>
                    <a:bodyPr wrap="square"/>
                    <a:lstStyle/>
                    <a:p>
                      <a:pPr algn="l"/>
                      <a:r>
                        <a:rPr sz="1150" b="1">
                          <a:solidFill>
                            <a:srgbClr val="0B2545"/>
                          </a:solidFill>
                          <a:latin typeface="Arial"/>
                        </a:rPr>
                        <a:t>Voltage detectors</a:t>
                      </a:r>
                    </a:p>
                  </a:txBody>
                  <a:tcPr anchor="ctr" marL="91440" marR="73152" marT="27432" marB="27432">
                    <a:solidFill>
                      <a:srgbClr val="FFFFFF"/>
                    </a:solidFill>
                  </a:tcPr>
                </a:tc>
                <a:tc>
                  <a:txBody>
                    <a:bodyPr wrap="square"/>
                    <a:lstStyle/>
                    <a:p>
                      <a:pPr algn="l"/>
                      <a:r>
                        <a:rPr sz="1150" b="0">
                          <a:solidFill>
                            <a:srgbClr val="1A2B3C"/>
                          </a:solidFill>
                          <a:latin typeface="Arial"/>
                        </a:rPr>
                        <a:t>Self-test before &amp; after use</a:t>
                      </a:r>
                    </a:p>
                  </a:txBody>
                  <a:tcPr anchor="ctr" marL="91440" marR="73152" marT="27432" marB="27432">
                    <a:solidFill>
                      <a:srgbClr val="FFFFFF"/>
                    </a:solidFill>
                  </a:tcPr>
                </a:tc>
                <a:tc>
                  <a:txBody>
                    <a:bodyPr wrap="square"/>
                    <a:lstStyle/>
                    <a:p>
                      <a:pPr algn="l"/>
                      <a:r>
                        <a:rPr sz="1150" b="0">
                          <a:solidFill>
                            <a:srgbClr val="1A2B3C"/>
                          </a:solidFill>
                          <a:latin typeface="Arial"/>
                        </a:rPr>
                        <a:t>Per manufacturer schedule</a:t>
                      </a:r>
                    </a:p>
                  </a:txBody>
                  <a:tcPr anchor="ctr" marL="91440" marR="73152" marT="27432" marB="27432">
                    <a:solidFill>
                      <a:srgbClr val="FFFFFF"/>
                    </a:solidFill>
                  </a:tcPr>
                </a:tc>
              </a:tr>
              <a:tr h="424695">
                <a:tc>
                  <a:txBody>
                    <a:bodyPr wrap="square"/>
                    <a:lstStyle/>
                    <a:p>
                      <a:pPr algn="l"/>
                      <a:r>
                        <a:rPr sz="1150" b="1">
                          <a:solidFill>
                            <a:srgbClr val="0B2545"/>
                          </a:solidFill>
                          <a:latin typeface="Arial"/>
                        </a:rPr>
                        <a:t>FR clothing</a:t>
                      </a:r>
                    </a:p>
                  </a:txBody>
                  <a:tcPr anchor="ctr" marL="91440" marR="73152" marT="27432" marB="27432">
                    <a:solidFill>
                      <a:srgbClr val="EEF2F7"/>
                    </a:solidFill>
                  </a:tcPr>
                </a:tc>
                <a:tc>
                  <a:txBody>
                    <a:bodyPr wrap="square"/>
                    <a:lstStyle/>
                    <a:p>
                      <a:pPr algn="l"/>
                      <a:r>
                        <a:rPr sz="1150" b="0">
                          <a:solidFill>
                            <a:srgbClr val="1A2B3C"/>
                          </a:solidFill>
                          <a:latin typeface="Arial"/>
                        </a:rPr>
                        <a:t>Inspect for damage/contamination</a:t>
                      </a:r>
                    </a:p>
                  </a:txBody>
                  <a:tcPr anchor="ctr" marL="91440" marR="73152" marT="27432" marB="27432">
                    <a:solidFill>
                      <a:srgbClr val="EEF2F7"/>
                    </a:solidFill>
                  </a:tcPr>
                </a:tc>
                <a:tc>
                  <a:txBody>
                    <a:bodyPr wrap="square"/>
                    <a:lstStyle/>
                    <a:p>
                      <a:pPr algn="l"/>
                      <a:r>
                        <a:rPr sz="1150" b="0">
                          <a:solidFill>
                            <a:srgbClr val="1A2B3C"/>
                          </a:solidFill>
                          <a:latin typeface="Arial"/>
                        </a:rPr>
                        <a:t>Replace when worn/contaminated</a:t>
                      </a:r>
                    </a:p>
                  </a:txBody>
                  <a:tcPr anchor="ctr" marL="91440" marR="73152" marT="27432" marB="27432">
                    <a:solidFill>
                      <a:srgbClr val="EEF2F7"/>
                    </a:solidFill>
                  </a:tcPr>
                </a:tc>
              </a:tr>
            </a:tbl>
          </a:graphicData>
        </a:graphic>
      </p:graphicFrame>
      <p:sp>
        <p:nvSpPr>
          <p:cNvPr id="8" name="TextBox 7"/>
          <p:cNvSpPr txBox="1"/>
          <p:nvPr/>
        </p:nvSpPr>
        <p:spPr>
          <a:xfrm>
            <a:off x="658368" y="5815583"/>
            <a:ext cx="10881360" cy="822960"/>
          </a:xfrm>
          <a:prstGeom prst="rect">
            <a:avLst/>
          </a:prstGeom>
          <a:noFill/>
        </p:spPr>
        <p:txBody>
          <a:bodyPr wrap="square" anchor="t" lIns="0" rIns="0" tIns="0" bIns="0">
            <a:spAutoFit/>
          </a:bodyPr>
          <a:lstStyle/>
          <a:p>
            <a:pPr algn="l">
              <a:lnSpc>
                <a:spcPct val="110000"/>
              </a:lnSpc>
              <a:spcBef>
                <a:spcPts val="400"/>
              </a:spcBef>
              <a:spcAft>
                <a:spcPts val="400"/>
              </a:spcAft>
            </a:pPr>
            <a:r>
              <a:rPr sz="1200" b="0" i="1">
                <a:solidFill>
                  <a:srgbClr val="5B6B7B"/>
                </a:solidFill>
                <a:latin typeface="Arial"/>
              </a:rPr>
              <a:t>Intervals are TYPICAL and governed by OSHA 1910.137, ASTM F496/F478, and your employer's program. If equipment is dropped, suspect, or out of test date — remove it from service.</a:t>
            </a:r>
          </a:p>
        </p:txBody>
      </p:sp>
      <p:sp>
        <p:nvSpPr>
          <p:cNvPr id="9" name="Rectangle 8"/>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4 — Tools of the Trade</a:t>
            </a:r>
          </a:p>
        </p:txBody>
      </p:sp>
      <p:sp>
        <p:nvSpPr>
          <p:cNvPr id="11" name="TextBox 10"/>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ILLUSTRATED</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Rubber Glove Voltage Classes</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ig_gloves.png"/>
          <p:cNvPicPr>
            <a:picLocks noChangeAspect="1"/>
          </p:cNvPicPr>
          <p:nvPr/>
        </p:nvPicPr>
        <p:blipFill>
          <a:blip r:embed="rId2"/>
          <a:stretch>
            <a:fillRect/>
          </a:stretch>
        </p:blipFill>
        <p:spPr>
          <a:xfrm>
            <a:off x="1013701" y="1783080"/>
            <a:ext cx="10161548" cy="3703320"/>
          </a:xfrm>
          <a:prstGeom prst="rect">
            <a:avLst/>
          </a:prstGeom>
        </p:spPr>
      </p:pic>
      <p:sp>
        <p:nvSpPr>
          <p:cNvPr id="8" name="TextBox 7"/>
          <p:cNvSpPr txBox="1"/>
          <p:nvPr/>
        </p:nvSpPr>
        <p:spPr>
          <a:xfrm>
            <a:off x="822960" y="5650992"/>
            <a:ext cx="10515600" cy="640080"/>
          </a:xfrm>
          <a:prstGeom prst="rect">
            <a:avLst/>
          </a:prstGeom>
          <a:noFill/>
        </p:spPr>
        <p:txBody>
          <a:bodyPr wrap="square" anchor="t" lIns="0" rIns="0" tIns="0" bIns="0">
            <a:spAutoFit/>
          </a:bodyPr>
          <a:lstStyle/>
          <a:p>
            <a:pPr algn="ctr">
              <a:lnSpc>
                <a:spcPct val="118000"/>
              </a:lnSpc>
              <a:spcBef>
                <a:spcPts val="400"/>
              </a:spcBef>
              <a:spcAft>
                <a:spcPts val="400"/>
              </a:spcAft>
            </a:pPr>
            <a:r>
              <a:rPr sz="1300" b="0" i="1">
                <a:solidFill>
                  <a:srgbClr val="5B6B7B"/>
                </a:solidFill>
                <a:latin typeface="Arial"/>
              </a:rPr>
              <a:t>Select a glove class rated at or above your system voltage; wear leather protectors over them.</a:t>
            </a:r>
          </a:p>
        </p:txBody>
      </p:sp>
      <p:sp>
        <p:nvSpPr>
          <p:cNvPr id="9" name="Rectangle 8"/>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4 — Tools of the Trade</a:t>
            </a:r>
          </a:p>
        </p:txBody>
      </p:sp>
      <p:sp>
        <p:nvSpPr>
          <p:cNvPr id="11" name="TextBox 10"/>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ILLUSTRATED</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The Live-Line (Hot-Stick) Method</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ig_hotstick.png"/>
          <p:cNvPicPr>
            <a:picLocks noChangeAspect="1"/>
          </p:cNvPicPr>
          <p:nvPr/>
        </p:nvPicPr>
        <p:blipFill>
          <a:blip r:embed="rId2"/>
          <a:stretch>
            <a:fillRect/>
          </a:stretch>
        </p:blipFill>
        <p:spPr>
          <a:xfrm>
            <a:off x="3573305" y="1783080"/>
            <a:ext cx="5042341" cy="3703320"/>
          </a:xfrm>
          <a:prstGeom prst="rect">
            <a:avLst/>
          </a:prstGeom>
        </p:spPr>
      </p:pic>
      <p:sp>
        <p:nvSpPr>
          <p:cNvPr id="8" name="TextBox 7"/>
          <p:cNvSpPr txBox="1"/>
          <p:nvPr/>
        </p:nvSpPr>
        <p:spPr>
          <a:xfrm>
            <a:off x="822960" y="5650992"/>
            <a:ext cx="10515600" cy="640080"/>
          </a:xfrm>
          <a:prstGeom prst="rect">
            <a:avLst/>
          </a:prstGeom>
          <a:noFill/>
        </p:spPr>
        <p:txBody>
          <a:bodyPr wrap="square" anchor="t" lIns="0" rIns="0" tIns="0" bIns="0">
            <a:spAutoFit/>
          </a:bodyPr>
          <a:lstStyle/>
          <a:p>
            <a:pPr algn="ctr">
              <a:lnSpc>
                <a:spcPct val="118000"/>
              </a:lnSpc>
              <a:spcBef>
                <a:spcPts val="400"/>
              </a:spcBef>
              <a:spcAft>
                <a:spcPts val="400"/>
              </a:spcAft>
            </a:pPr>
            <a:r>
              <a:rPr sz="1300" b="0" i="1">
                <a:solidFill>
                  <a:srgbClr val="5B6B7B"/>
                </a:solidFill>
                <a:latin typeface="Arial"/>
              </a:rPr>
              <a:t>A fiberglass live-line tool extends reach beyond MAD — keep it clean and dry.</a:t>
            </a:r>
          </a:p>
        </p:txBody>
      </p:sp>
      <p:sp>
        <p:nvSpPr>
          <p:cNvPr id="9" name="Rectangle 8"/>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4 — Tools of the Trade</a:t>
            </a:r>
          </a:p>
        </p:txBody>
      </p:sp>
      <p:sp>
        <p:nvSpPr>
          <p:cNvPr id="11" name="TextBox 10"/>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ILLUSTRATED</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Phasing &amp; Voltage Testing</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ig_phasing.png"/>
          <p:cNvPicPr>
            <a:picLocks noChangeAspect="1"/>
          </p:cNvPicPr>
          <p:nvPr/>
        </p:nvPicPr>
        <p:blipFill>
          <a:blip r:embed="rId2"/>
          <a:stretch>
            <a:fillRect/>
          </a:stretch>
        </p:blipFill>
        <p:spPr>
          <a:xfrm>
            <a:off x="3573305" y="1783080"/>
            <a:ext cx="5042341" cy="3703320"/>
          </a:xfrm>
          <a:prstGeom prst="rect">
            <a:avLst/>
          </a:prstGeom>
        </p:spPr>
      </p:pic>
      <p:sp>
        <p:nvSpPr>
          <p:cNvPr id="8" name="TextBox 7"/>
          <p:cNvSpPr txBox="1"/>
          <p:nvPr/>
        </p:nvSpPr>
        <p:spPr>
          <a:xfrm>
            <a:off x="822960" y="5650992"/>
            <a:ext cx="10515600" cy="640080"/>
          </a:xfrm>
          <a:prstGeom prst="rect">
            <a:avLst/>
          </a:prstGeom>
          <a:noFill/>
        </p:spPr>
        <p:txBody>
          <a:bodyPr wrap="square" anchor="t" lIns="0" rIns="0" tIns="0" bIns="0">
            <a:spAutoFit/>
          </a:bodyPr>
          <a:lstStyle/>
          <a:p>
            <a:pPr algn="ctr">
              <a:lnSpc>
                <a:spcPct val="118000"/>
              </a:lnSpc>
              <a:spcBef>
                <a:spcPts val="400"/>
              </a:spcBef>
              <a:spcAft>
                <a:spcPts val="400"/>
              </a:spcAft>
            </a:pPr>
            <a:r>
              <a:rPr sz="1300" b="0" i="1">
                <a:solidFill>
                  <a:srgbClr val="5B6B7B"/>
                </a:solidFill>
                <a:latin typeface="Arial"/>
              </a:rPr>
              <a:t>Verify voltage and phase — and prove the tester on a known source before and after.</a:t>
            </a:r>
          </a:p>
        </p:txBody>
      </p:sp>
      <p:sp>
        <p:nvSpPr>
          <p:cNvPr id="9" name="Rectangle 8"/>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4 — Tools of the Trade</a:t>
            </a:r>
          </a:p>
        </p:txBody>
      </p:sp>
      <p:sp>
        <p:nvSpPr>
          <p:cNvPr id="11" name="TextBox 10"/>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ILLUSTRATED</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Protective Grounding Sets</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ig_grounds.png"/>
          <p:cNvPicPr>
            <a:picLocks noChangeAspect="1"/>
          </p:cNvPicPr>
          <p:nvPr/>
        </p:nvPicPr>
        <p:blipFill>
          <a:blip r:embed="rId2"/>
          <a:stretch>
            <a:fillRect/>
          </a:stretch>
        </p:blipFill>
        <p:spPr>
          <a:xfrm>
            <a:off x="3573305" y="1783080"/>
            <a:ext cx="5042341" cy="3703320"/>
          </a:xfrm>
          <a:prstGeom prst="rect">
            <a:avLst/>
          </a:prstGeom>
        </p:spPr>
      </p:pic>
      <p:sp>
        <p:nvSpPr>
          <p:cNvPr id="8" name="TextBox 7"/>
          <p:cNvSpPr txBox="1"/>
          <p:nvPr/>
        </p:nvSpPr>
        <p:spPr>
          <a:xfrm>
            <a:off x="822960" y="5650992"/>
            <a:ext cx="10515600" cy="640080"/>
          </a:xfrm>
          <a:prstGeom prst="rect">
            <a:avLst/>
          </a:prstGeom>
          <a:noFill/>
        </p:spPr>
        <p:txBody>
          <a:bodyPr wrap="square" anchor="t" lIns="0" rIns="0" tIns="0" bIns="0">
            <a:spAutoFit/>
          </a:bodyPr>
          <a:lstStyle/>
          <a:p>
            <a:pPr algn="ctr">
              <a:lnSpc>
                <a:spcPct val="118000"/>
              </a:lnSpc>
              <a:spcBef>
                <a:spcPts val="400"/>
              </a:spcBef>
              <a:spcAft>
                <a:spcPts val="400"/>
              </a:spcAft>
            </a:pPr>
            <a:r>
              <a:rPr sz="1300" b="0" i="1">
                <a:solidFill>
                  <a:srgbClr val="5B6B7B"/>
                </a:solidFill>
                <a:latin typeface="Arial"/>
              </a:rPr>
              <a:t>Grounds carry fault current and trip protection fast: ground end first, line ends last.</a:t>
            </a:r>
          </a:p>
        </p:txBody>
      </p:sp>
      <p:sp>
        <p:nvSpPr>
          <p:cNvPr id="9" name="Rectangle 8"/>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4 — Tools of the Trade</a:t>
            </a:r>
          </a:p>
        </p:txBody>
      </p:sp>
      <p:sp>
        <p:nvSpPr>
          <p:cNvPr id="11" name="TextBox 10"/>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ILLUSTRATED</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Head-to-Toe PPE</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ig_ppe.png"/>
          <p:cNvPicPr>
            <a:picLocks noChangeAspect="1"/>
          </p:cNvPicPr>
          <p:nvPr/>
        </p:nvPicPr>
        <p:blipFill>
          <a:blip r:embed="rId2"/>
          <a:stretch>
            <a:fillRect/>
          </a:stretch>
        </p:blipFill>
        <p:spPr>
          <a:xfrm>
            <a:off x="3573305" y="1783080"/>
            <a:ext cx="5042341" cy="3703320"/>
          </a:xfrm>
          <a:prstGeom prst="rect">
            <a:avLst/>
          </a:prstGeom>
        </p:spPr>
      </p:pic>
      <p:sp>
        <p:nvSpPr>
          <p:cNvPr id="8" name="TextBox 7"/>
          <p:cNvSpPr txBox="1"/>
          <p:nvPr/>
        </p:nvSpPr>
        <p:spPr>
          <a:xfrm>
            <a:off x="822960" y="5650992"/>
            <a:ext cx="10515600" cy="640080"/>
          </a:xfrm>
          <a:prstGeom prst="rect">
            <a:avLst/>
          </a:prstGeom>
          <a:noFill/>
        </p:spPr>
        <p:txBody>
          <a:bodyPr wrap="square" anchor="t" lIns="0" rIns="0" tIns="0" bIns="0">
            <a:spAutoFit/>
          </a:bodyPr>
          <a:lstStyle/>
          <a:p>
            <a:pPr algn="ctr">
              <a:lnSpc>
                <a:spcPct val="118000"/>
              </a:lnSpc>
              <a:spcBef>
                <a:spcPts val="400"/>
              </a:spcBef>
              <a:spcAft>
                <a:spcPts val="400"/>
              </a:spcAft>
            </a:pPr>
            <a:r>
              <a:rPr sz="1300" b="0" i="1">
                <a:solidFill>
                  <a:srgbClr val="5B6B7B"/>
                </a:solidFill>
                <a:latin typeface="Arial"/>
              </a:rPr>
              <a:t>Arc-rated FR clothing, Class E hard hat, face shield, rubber gloves — the last layer of defense.</a:t>
            </a:r>
          </a:p>
        </p:txBody>
      </p:sp>
      <p:sp>
        <p:nvSpPr>
          <p:cNvPr id="9" name="Rectangle 8"/>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4 — Tools of the Trade</a:t>
            </a:r>
          </a:p>
        </p:txBody>
      </p:sp>
      <p:sp>
        <p:nvSpPr>
          <p:cNvPr id="11" name="TextBox 10"/>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MODULE 4 RECAP</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Module 4 — Key Takeaways</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783080"/>
            <a:ext cx="10927080" cy="4160520"/>
          </a:xfrm>
          <a:prstGeom prst="rect">
            <a:avLst/>
          </a:prstGeom>
          <a:noFill/>
        </p:spPr>
        <p:txBody>
          <a:bodyPr wrap="square" anchor="t" lIns="0" rIns="0" tIns="0" bIns="0">
            <a:spAutoFit/>
          </a:bodyPr>
          <a:lstStyle/>
          <a:p>
            <a:pPr algn="l">
              <a:lnSpc>
                <a:spcPct val="105000"/>
              </a:lnSpc>
              <a:spcBef>
                <a:spcPts val="700"/>
              </a:spcBef>
              <a:spcAft>
                <a:spcPts val="200"/>
              </a:spcAft>
            </a:pPr>
            <a:r>
              <a:rPr sz="1800" b="0" i="0">
                <a:solidFill>
                  <a:srgbClr val="1A2B3C"/>
                </a:solidFill>
                <a:latin typeface="Arial"/>
              </a:rPr>
              <a:t>■  Rubber gloves (with leather protectors) are first-line insulation — selected by voltage class</a:t>
            </a:r>
          </a:p>
          <a:p>
            <a:pPr algn="l">
              <a:lnSpc>
                <a:spcPct val="105000"/>
              </a:lnSpc>
              <a:spcBef>
                <a:spcPts val="700"/>
              </a:spcBef>
              <a:spcAft>
                <a:spcPts val="200"/>
              </a:spcAft>
            </a:pPr>
            <a:r>
              <a:rPr sz="1800" b="0" i="0">
                <a:solidFill>
                  <a:srgbClr val="1A2B3C"/>
                </a:solidFill>
                <a:latin typeface="Arial"/>
              </a:rPr>
              <a:t>■  Air-test and inspect rubber goods before every use; honor retest dates</a:t>
            </a:r>
          </a:p>
          <a:p>
            <a:pPr algn="l">
              <a:lnSpc>
                <a:spcPct val="105000"/>
              </a:lnSpc>
              <a:spcBef>
                <a:spcPts val="700"/>
              </a:spcBef>
              <a:spcAft>
                <a:spcPts val="200"/>
              </a:spcAft>
            </a:pPr>
            <a:r>
              <a:rPr sz="1800" b="0" i="0">
                <a:solidFill>
                  <a:srgbClr val="1A2B3C"/>
                </a:solidFill>
                <a:latin typeface="Arial"/>
              </a:rPr>
              <a:t>■  Hot sticks isolate the worker; grounds protect against re-energization — both must be tested &amp; sized</a:t>
            </a:r>
          </a:p>
          <a:p>
            <a:pPr algn="l">
              <a:lnSpc>
                <a:spcPct val="105000"/>
              </a:lnSpc>
              <a:spcBef>
                <a:spcPts val="700"/>
              </a:spcBef>
              <a:spcAft>
                <a:spcPts val="200"/>
              </a:spcAft>
            </a:pPr>
            <a:r>
              <a:rPr sz="1800" b="0" i="0">
                <a:solidFill>
                  <a:srgbClr val="1A2B3C"/>
                </a:solidFill>
                <a:latin typeface="Arial"/>
              </a:rPr>
              <a:t>■  Test your tester before AND after; test-before-touch every time</a:t>
            </a:r>
          </a:p>
          <a:p>
            <a:pPr algn="l">
              <a:lnSpc>
                <a:spcPct val="105000"/>
              </a:lnSpc>
              <a:spcBef>
                <a:spcPts val="700"/>
              </a:spcBef>
              <a:spcAft>
                <a:spcPts val="200"/>
              </a:spcAft>
            </a:pPr>
            <a:r>
              <a:rPr sz="1800" b="0" i="0">
                <a:solidFill>
                  <a:srgbClr val="1A2B3C"/>
                </a:solidFill>
                <a:latin typeface="Arial"/>
              </a:rPr>
              <a:t>■  Arc-rated FR PPE must meet or exceed the incident energy — and it's the last layer, not the plan</a:t>
            </a:r>
          </a:p>
          <a:p>
            <a:pPr algn="l">
              <a:lnSpc>
                <a:spcPct val="105000"/>
              </a:lnSpc>
              <a:spcBef>
                <a:spcPts val="700"/>
              </a:spcBef>
              <a:spcAft>
                <a:spcPts val="200"/>
              </a:spcAft>
            </a:pPr>
            <a:r>
              <a:rPr sz="1800" b="0" i="0">
                <a:solidFill>
                  <a:srgbClr val="1A2B3C"/>
                </a:solidFill>
                <a:latin typeface="Arial"/>
              </a:rPr>
              <a:t>■  Clean, dry, inspected, in-date — or out of service. No exceptions.</a:t>
            </a:r>
          </a:p>
        </p:txBody>
      </p:sp>
      <p:sp>
        <p:nvSpPr>
          <p:cNvPr id="8" name="Rectangle 7"/>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4 — Tools of the Trade</a:t>
            </a:r>
          </a:p>
        </p:txBody>
      </p:sp>
      <p:sp>
        <p:nvSpPr>
          <p:cNvPr id="10" name="TextBox 9"/>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a:gsLst>
              <a:gs pos="0">
                <a:srgbClr val="0B2545"/>
              </a:gs>
              <a:gs pos="100000">
                <a:srgbClr val="071830"/>
              </a:gs>
            </a:gsLst>
            <a:lin ang="27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371600"/>
            <a:ext cx="3840480" cy="2926080"/>
          </a:xfrm>
          <a:prstGeom prst="rect">
            <a:avLst/>
          </a:prstGeom>
          <a:noFill/>
        </p:spPr>
        <p:txBody>
          <a:bodyPr wrap="square" anchor="ctr" lIns="0" rIns="0" tIns="0" bIns="0">
            <a:spAutoFit/>
          </a:bodyPr>
          <a:lstStyle/>
          <a:p>
            <a:pPr algn="l">
              <a:lnSpc>
                <a:spcPct val="105000"/>
              </a:lnSpc>
              <a:spcBef>
                <a:spcPts val="400"/>
              </a:spcBef>
              <a:spcAft>
                <a:spcPts val="0"/>
              </a:spcAft>
            </a:pPr>
            <a:r>
              <a:rPr sz="1800" b="1" i="0">
                <a:solidFill>
                  <a:srgbClr val="F5B100"/>
                </a:solidFill>
                <a:latin typeface="Arial"/>
              </a:rPr>
              <a:t>MODULE</a:t>
            </a:r>
          </a:p>
          <a:p>
            <a:pPr algn="l">
              <a:lnSpc>
                <a:spcPct val="90000"/>
              </a:lnSpc>
              <a:spcBef>
                <a:spcPts val="0"/>
              </a:spcBef>
              <a:spcAft>
                <a:spcPts val="400"/>
              </a:spcAft>
            </a:pPr>
            <a:r>
              <a:rPr sz="15000" b="1" i="0">
                <a:solidFill>
                  <a:srgbClr val="FFFFFF"/>
                </a:solidFill>
                <a:latin typeface="Arial"/>
              </a:rPr>
              <a:t>5</a:t>
            </a:r>
          </a:p>
        </p:txBody>
      </p:sp>
      <p:sp>
        <p:nvSpPr>
          <p:cNvPr id="5" name="Rectangle 4"/>
          <p:cNvSpPr/>
          <p:nvPr/>
        </p:nvSpPr>
        <p:spPr>
          <a:xfrm>
            <a:off x="4800600" y="1554480"/>
            <a:ext cx="36576" cy="3657600"/>
          </a:xfrm>
          <a:prstGeom prst="rect">
            <a:avLst/>
          </a:prstGeom>
          <a:solidFill>
            <a:srgbClr val="2A47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12080" y="1691640"/>
            <a:ext cx="6400800" cy="1463040"/>
          </a:xfrm>
          <a:prstGeom prst="rect">
            <a:avLst/>
          </a:prstGeom>
          <a:noFill/>
        </p:spPr>
        <p:txBody>
          <a:bodyPr wrap="square" anchor="t" lIns="0" rIns="0" tIns="0" bIns="0">
            <a:spAutoFit/>
          </a:bodyPr>
          <a:lstStyle/>
          <a:p>
            <a:pPr algn="l">
              <a:lnSpc>
                <a:spcPct val="100000"/>
              </a:lnSpc>
              <a:spcBef>
                <a:spcPts val="400"/>
              </a:spcBef>
              <a:spcAft>
                <a:spcPts val="400"/>
              </a:spcAft>
            </a:pPr>
            <a:r>
              <a:rPr sz="3400" b="1" i="0">
                <a:solidFill>
                  <a:srgbClr val="FFFFFF"/>
                </a:solidFill>
                <a:latin typeface="Arial"/>
              </a:rPr>
              <a:t>Putting It to Work in the Field</a:t>
            </a:r>
          </a:p>
        </p:txBody>
      </p:sp>
      <p:sp>
        <p:nvSpPr>
          <p:cNvPr id="7" name="Rectangle 6"/>
          <p:cNvSpPr/>
          <p:nvPr/>
        </p:nvSpPr>
        <p:spPr>
          <a:xfrm>
            <a:off x="5230368" y="3063240"/>
            <a:ext cx="1371600" cy="4572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212080" y="3337560"/>
            <a:ext cx="6400800" cy="2926080"/>
          </a:xfrm>
          <a:prstGeom prst="rect">
            <a:avLst/>
          </a:prstGeom>
          <a:noFill/>
        </p:spPr>
        <p:txBody>
          <a:bodyPr wrap="square" anchor="t" lIns="0" rIns="0" tIns="0" bIns="0">
            <a:spAutoFit/>
          </a:bodyPr>
          <a:lstStyle/>
          <a:p>
            <a:pPr algn="l">
              <a:lnSpc>
                <a:spcPct val="105000"/>
              </a:lnSpc>
              <a:spcBef>
                <a:spcPts val="600"/>
              </a:spcBef>
              <a:spcAft>
                <a:spcPts val="600"/>
              </a:spcAft>
            </a:pPr>
            <a:r>
              <a:rPr sz="1600" b="0" i="0">
                <a:solidFill>
                  <a:srgbClr val="CFDCEC"/>
                </a:solidFill>
                <a:latin typeface="Arial"/>
              </a:rPr>
              <a:t>—  Pre-job planning</a:t>
            </a:r>
          </a:p>
          <a:p>
            <a:pPr algn="l">
              <a:lnSpc>
                <a:spcPct val="105000"/>
              </a:lnSpc>
              <a:spcBef>
                <a:spcPts val="600"/>
              </a:spcBef>
              <a:spcAft>
                <a:spcPts val="600"/>
              </a:spcAft>
            </a:pPr>
            <a:r>
              <a:rPr sz="1600" b="0" i="0">
                <a:solidFill>
                  <a:srgbClr val="CFDCEC"/>
                </a:solidFill>
                <a:latin typeface="Arial"/>
              </a:rPr>
              <a:t>—  Hazard assessment / JSA</a:t>
            </a:r>
          </a:p>
          <a:p>
            <a:pPr algn="l">
              <a:lnSpc>
                <a:spcPct val="105000"/>
              </a:lnSpc>
              <a:spcBef>
                <a:spcPts val="600"/>
              </a:spcBef>
              <a:spcAft>
                <a:spcPts val="600"/>
              </a:spcAft>
            </a:pPr>
            <a:r>
              <a:rPr sz="1600" b="0" i="0">
                <a:solidFill>
                  <a:srgbClr val="CFDCEC"/>
                </a:solidFill>
                <a:latin typeface="Arial"/>
              </a:rPr>
              <a:t>—  The tailboard / job briefing</a:t>
            </a:r>
          </a:p>
          <a:p>
            <a:pPr algn="l">
              <a:lnSpc>
                <a:spcPct val="105000"/>
              </a:lnSpc>
              <a:spcBef>
                <a:spcPts val="600"/>
              </a:spcBef>
              <a:spcAft>
                <a:spcPts val="600"/>
              </a:spcAft>
            </a:pPr>
            <a:r>
              <a:rPr sz="1600" b="0" i="0">
                <a:solidFill>
                  <a:srgbClr val="CFDCEC"/>
                </a:solidFill>
                <a:latin typeface="Arial"/>
              </a:rPr>
              <a:t>—  Roles, responsibilities &amp; communication</a:t>
            </a:r>
          </a:p>
          <a:p>
            <a:pPr algn="l">
              <a:lnSpc>
                <a:spcPct val="105000"/>
              </a:lnSpc>
              <a:spcBef>
                <a:spcPts val="600"/>
              </a:spcBef>
              <a:spcAft>
                <a:spcPts val="600"/>
              </a:spcAft>
            </a:pPr>
            <a:r>
              <a:rPr sz="1600" b="0" i="0">
                <a:solidFill>
                  <a:srgbClr val="CFDCEC"/>
                </a:solidFill>
                <a:latin typeface="Arial"/>
              </a:rPr>
              <a:t>—  Emergency response &amp; rescue</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5.1 PLANNING</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Pre-Job Planning — Before Boots Leave the Truck</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783080"/>
            <a:ext cx="10927080" cy="4160520"/>
          </a:xfrm>
          <a:prstGeom prst="rect">
            <a:avLst/>
          </a:prstGeom>
          <a:noFill/>
        </p:spPr>
        <p:txBody>
          <a:bodyPr wrap="square" anchor="t" lIns="0" rIns="0" tIns="0" bIns="0">
            <a:spAutoFit/>
          </a:bodyPr>
          <a:lstStyle/>
          <a:p>
            <a:pPr algn="l">
              <a:lnSpc>
                <a:spcPct val="105000"/>
              </a:lnSpc>
              <a:spcBef>
                <a:spcPts val="700"/>
              </a:spcBef>
              <a:spcAft>
                <a:spcPts val="200"/>
              </a:spcAft>
            </a:pPr>
            <a:r>
              <a:rPr sz="1800" b="0" i="0">
                <a:solidFill>
                  <a:srgbClr val="1A2B3C"/>
                </a:solidFill>
                <a:latin typeface="Arial"/>
              </a:rPr>
              <a:t>■  Understand the SCOPE: what work, on what equipment, at what voltage, energized or not</a:t>
            </a:r>
          </a:p>
          <a:p>
            <a:pPr algn="l">
              <a:lnSpc>
                <a:spcPct val="105000"/>
              </a:lnSpc>
              <a:spcBef>
                <a:spcPts val="700"/>
              </a:spcBef>
              <a:spcAft>
                <a:spcPts val="200"/>
              </a:spcAft>
            </a:pPr>
            <a:r>
              <a:rPr sz="1800" b="0" i="0">
                <a:solidFill>
                  <a:srgbClr val="1A2B3C"/>
                </a:solidFill>
                <a:latin typeface="Arial"/>
              </a:rPr>
              <a:t>■  Review prints, switching orders, clearances, and the circuit map</a:t>
            </a:r>
          </a:p>
          <a:p>
            <a:pPr algn="l">
              <a:lnSpc>
                <a:spcPct val="105000"/>
              </a:lnSpc>
              <a:spcBef>
                <a:spcPts val="700"/>
              </a:spcBef>
              <a:spcAft>
                <a:spcPts val="200"/>
              </a:spcAft>
            </a:pPr>
            <a:r>
              <a:rPr sz="1800" b="0" i="0">
                <a:solidFill>
                  <a:srgbClr val="1A2B3C"/>
                </a:solidFill>
                <a:latin typeface="Arial"/>
              </a:rPr>
              <a:t>■  Confirm the right crew, qualifications, and a competent person in charge</a:t>
            </a:r>
          </a:p>
          <a:p>
            <a:pPr algn="l">
              <a:lnSpc>
                <a:spcPct val="105000"/>
              </a:lnSpc>
              <a:spcBef>
                <a:spcPts val="700"/>
              </a:spcBef>
              <a:spcAft>
                <a:spcPts val="200"/>
              </a:spcAft>
            </a:pPr>
            <a:r>
              <a:rPr sz="1800" b="0" i="0">
                <a:solidFill>
                  <a:srgbClr val="1A2B3C"/>
                </a:solidFill>
                <a:latin typeface="Arial"/>
              </a:rPr>
              <a:t>■  Verify tools, PPE, cover-up, grounds — right ratings, inspected, in test date</a:t>
            </a:r>
          </a:p>
          <a:p>
            <a:pPr algn="l">
              <a:lnSpc>
                <a:spcPct val="105000"/>
              </a:lnSpc>
              <a:spcBef>
                <a:spcPts val="700"/>
              </a:spcBef>
              <a:spcAft>
                <a:spcPts val="200"/>
              </a:spcAft>
            </a:pPr>
            <a:r>
              <a:rPr sz="1800" b="0" i="0">
                <a:solidFill>
                  <a:srgbClr val="1A2B3C"/>
                </a:solidFill>
                <a:latin typeface="Arial"/>
              </a:rPr>
              <a:t>■  Check the weather: wind, lightning, heat, ice — conditions that stop or change the job</a:t>
            </a:r>
          </a:p>
          <a:p>
            <a:pPr algn="l">
              <a:lnSpc>
                <a:spcPct val="105000"/>
              </a:lnSpc>
              <a:spcBef>
                <a:spcPts val="700"/>
              </a:spcBef>
              <a:spcAft>
                <a:spcPts val="200"/>
              </a:spcAft>
            </a:pPr>
            <a:r>
              <a:rPr sz="1800" b="0" i="0">
                <a:solidFill>
                  <a:srgbClr val="1A2B3C"/>
                </a:solidFill>
                <a:latin typeface="Arial"/>
              </a:rPr>
              <a:t>■  Identify the access, the work zone, traffic control, and the public exposure</a:t>
            </a:r>
          </a:p>
          <a:p>
            <a:pPr algn="l">
              <a:lnSpc>
                <a:spcPct val="105000"/>
              </a:lnSpc>
              <a:spcBef>
                <a:spcPts val="700"/>
              </a:spcBef>
              <a:spcAft>
                <a:spcPts val="200"/>
              </a:spcAft>
            </a:pPr>
            <a:r>
              <a:rPr sz="1800" b="0" i="0">
                <a:solidFill>
                  <a:srgbClr val="1A2B3C"/>
                </a:solidFill>
                <a:latin typeface="Arial"/>
              </a:rPr>
              <a:t>■  Know the location: address, nearest cross-streets, gate codes — for emergency response</a:t>
            </a:r>
          </a:p>
          <a:p>
            <a:pPr algn="l">
              <a:lnSpc>
                <a:spcPct val="105000"/>
              </a:lnSpc>
              <a:spcBef>
                <a:spcPts val="700"/>
              </a:spcBef>
              <a:spcAft>
                <a:spcPts val="200"/>
              </a:spcAft>
            </a:pPr>
            <a:r>
              <a:rPr sz="1800" b="0" i="0">
                <a:solidFill>
                  <a:srgbClr val="1A2B3C"/>
                </a:solidFill>
                <a:latin typeface="Arial"/>
              </a:rPr>
              <a:t>■  Plan the rescue BEFORE the work — not after the incident</a:t>
            </a:r>
          </a:p>
        </p:txBody>
      </p:sp>
      <p:sp>
        <p:nvSpPr>
          <p:cNvPr id="8" name="Rectangle 7"/>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5 — In the Field</a:t>
            </a:r>
          </a:p>
        </p:txBody>
      </p:sp>
      <p:sp>
        <p:nvSpPr>
          <p:cNvPr id="10" name="TextBox 9"/>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5.2 HAZARD ASSESSMENT</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Hazard Assessment / Job Safety Analysis (JSA)</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783080"/>
            <a:ext cx="6949440" cy="4297680"/>
          </a:xfrm>
          <a:prstGeom prst="rect">
            <a:avLst/>
          </a:prstGeom>
          <a:noFill/>
        </p:spPr>
        <p:txBody>
          <a:bodyPr wrap="square" anchor="t" lIns="0" rIns="0" tIns="0" bIns="0">
            <a:spAutoFit/>
          </a:bodyPr>
          <a:lstStyle/>
          <a:p>
            <a:pPr algn="l">
              <a:lnSpc>
                <a:spcPct val="105000"/>
              </a:lnSpc>
              <a:spcBef>
                <a:spcPts val="700"/>
              </a:spcBef>
              <a:spcAft>
                <a:spcPts val="200"/>
              </a:spcAft>
            </a:pPr>
            <a:r>
              <a:rPr sz="1700" b="0" i="0">
                <a:solidFill>
                  <a:srgbClr val="1A2B3C"/>
                </a:solidFill>
                <a:latin typeface="Arial"/>
              </a:rPr>
              <a:t>■  Break the job into steps; for each step identify the hazards and the controls</a:t>
            </a:r>
          </a:p>
          <a:p>
            <a:pPr algn="l">
              <a:lnSpc>
                <a:spcPct val="105000"/>
              </a:lnSpc>
              <a:spcBef>
                <a:spcPts val="700"/>
              </a:spcBef>
              <a:spcAft>
                <a:spcPts val="200"/>
              </a:spcAft>
            </a:pPr>
            <a:r>
              <a:rPr sz="1700" b="0" i="0">
                <a:solidFill>
                  <a:srgbClr val="1A2B3C"/>
                </a:solidFill>
                <a:latin typeface="Arial"/>
              </a:rPr>
              <a:t>■  Electrical hazards: energized parts, second points of contact, induced voltage, fault energy</a:t>
            </a:r>
          </a:p>
          <a:p>
            <a:pPr algn="l">
              <a:lnSpc>
                <a:spcPct val="105000"/>
              </a:lnSpc>
              <a:spcBef>
                <a:spcPts val="700"/>
              </a:spcBef>
              <a:spcAft>
                <a:spcPts val="200"/>
              </a:spcAft>
            </a:pPr>
            <a:r>
              <a:rPr sz="1700" b="0" i="0">
                <a:solidFill>
                  <a:srgbClr val="1A2B3C"/>
                </a:solidFill>
                <a:latin typeface="Arial"/>
              </a:rPr>
              <a:t>■  Mechanical/physical: falls, dropped objects, pinch points, equipment, rigging, tension</a:t>
            </a:r>
          </a:p>
          <a:p>
            <a:pPr algn="l">
              <a:lnSpc>
                <a:spcPct val="105000"/>
              </a:lnSpc>
              <a:spcBef>
                <a:spcPts val="700"/>
              </a:spcBef>
              <a:spcAft>
                <a:spcPts val="200"/>
              </a:spcAft>
            </a:pPr>
            <a:r>
              <a:rPr sz="1700" b="0" i="0">
                <a:solidFill>
                  <a:srgbClr val="1A2B3C"/>
                </a:solidFill>
                <a:latin typeface="Arial"/>
              </a:rPr>
              <a:t>■  Environmental: weather, traffic, terrain, wildlife, confined/excavation, public</a:t>
            </a:r>
          </a:p>
          <a:p>
            <a:pPr algn="l">
              <a:lnSpc>
                <a:spcPct val="105000"/>
              </a:lnSpc>
              <a:spcBef>
                <a:spcPts val="700"/>
              </a:spcBef>
              <a:spcAft>
                <a:spcPts val="200"/>
              </a:spcAft>
            </a:pPr>
            <a:r>
              <a:rPr sz="1700" b="0" i="0">
                <a:solidFill>
                  <a:srgbClr val="1A2B3C"/>
                </a:solidFill>
                <a:latin typeface="Arial"/>
              </a:rPr>
              <a:t>■  For each hazard, select the control from the hierarchy — eliminate where you can</a:t>
            </a:r>
          </a:p>
          <a:p>
            <a:pPr algn="l">
              <a:lnSpc>
                <a:spcPct val="105000"/>
              </a:lnSpc>
              <a:spcBef>
                <a:spcPts val="700"/>
              </a:spcBef>
              <a:spcAft>
                <a:spcPts val="200"/>
              </a:spcAft>
            </a:pPr>
            <a:r>
              <a:rPr sz="1700" b="0" i="0">
                <a:solidFill>
                  <a:srgbClr val="1A2B3C"/>
                </a:solidFill>
                <a:latin typeface="Arial"/>
              </a:rPr>
              <a:t>■  Reassess when ANYTHING changes: scope, weather, crew, equipment, the unexpected</a:t>
            </a:r>
          </a:p>
        </p:txBody>
      </p:sp>
      <p:sp>
        <p:nvSpPr>
          <p:cNvPr id="8" name="Rounded Rectangle 7"/>
          <p:cNvSpPr/>
          <p:nvPr/>
        </p:nvSpPr>
        <p:spPr>
          <a:xfrm>
            <a:off x="7863840" y="1874519"/>
            <a:ext cx="3776472" cy="3931920"/>
          </a:xfrm>
          <a:prstGeom prst="roundRect">
            <a:avLst/>
          </a:prstGeom>
          <a:solidFill>
            <a:srgbClr val="E7EEF6"/>
          </a:solidFill>
          <a:ln w="19050">
            <a:solidFill>
              <a:srgbClr val="1340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863840" y="1874519"/>
            <a:ext cx="3776472" cy="548640"/>
          </a:xfrm>
          <a:prstGeom prst="roundRect">
            <a:avLst/>
          </a:prstGeom>
          <a:solidFill>
            <a:srgbClr val="1340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63840" y="2148839"/>
            <a:ext cx="3776472" cy="274320"/>
          </a:xfrm>
          <a:prstGeom prst="rect">
            <a:avLst/>
          </a:prstGeom>
          <a:solidFill>
            <a:srgbClr val="1340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92440" y="1920239"/>
            <a:ext cx="3319272" cy="475488"/>
          </a:xfrm>
          <a:prstGeom prst="rect">
            <a:avLst/>
          </a:prstGeom>
          <a:noFill/>
        </p:spPr>
        <p:txBody>
          <a:bodyPr wrap="square" anchor="ctr" lIns="0" rIns="0" tIns="0" bIns="0">
            <a:spAutoFit/>
          </a:bodyPr>
          <a:lstStyle/>
          <a:p>
            <a:pPr algn="l">
              <a:lnSpc>
                <a:spcPct val="105000"/>
              </a:lnSpc>
              <a:spcBef>
                <a:spcPts val="400"/>
              </a:spcBef>
              <a:spcAft>
                <a:spcPts val="400"/>
              </a:spcAft>
            </a:pPr>
            <a:r>
              <a:rPr sz="1400" b="1" i="0">
                <a:solidFill>
                  <a:srgbClr val="FFFFFF"/>
                </a:solidFill>
                <a:latin typeface="Arial"/>
              </a:rPr>
              <a:t>KEY CONCEPT</a:t>
            </a:r>
          </a:p>
        </p:txBody>
      </p:sp>
      <p:sp>
        <p:nvSpPr>
          <p:cNvPr id="12" name="TextBox 11"/>
          <p:cNvSpPr txBox="1"/>
          <p:nvPr/>
        </p:nvSpPr>
        <p:spPr>
          <a:xfrm>
            <a:off x="8138160" y="2587752"/>
            <a:ext cx="3227832" cy="3063239"/>
          </a:xfrm>
          <a:prstGeom prst="rect">
            <a:avLst/>
          </a:prstGeom>
          <a:noFill/>
        </p:spPr>
        <p:txBody>
          <a:bodyPr wrap="square" anchor="t" lIns="0" rIns="0" tIns="0" bIns="0">
            <a:spAutoFit/>
          </a:bodyPr>
          <a:lstStyle/>
          <a:p>
            <a:pPr algn="l">
              <a:lnSpc>
                <a:spcPct val="105000"/>
              </a:lnSpc>
              <a:spcBef>
                <a:spcPts val="400"/>
              </a:spcBef>
              <a:spcAft>
                <a:spcPts val="400"/>
              </a:spcAft>
            </a:pPr>
            <a:r>
              <a:rPr sz="1550" b="1" i="0">
                <a:solidFill>
                  <a:srgbClr val="134074"/>
                </a:solidFill>
                <a:latin typeface="Arial"/>
              </a:rPr>
              <a:t>The four questions</a:t>
            </a:r>
          </a:p>
          <a:p>
            <a:pPr algn="l">
              <a:lnSpc>
                <a:spcPct val="105000"/>
              </a:lnSpc>
              <a:spcBef>
                <a:spcPts val="300"/>
              </a:spcBef>
              <a:spcAft>
                <a:spcPts val="100"/>
              </a:spcAft>
            </a:pPr>
            <a:r>
              <a:rPr sz="1300" b="0" i="0">
                <a:solidFill>
                  <a:srgbClr val="1A2B3C"/>
                </a:solidFill>
                <a:latin typeface="Arial"/>
              </a:rPr>
              <a:t>–  What am I about to do?  What can hurt me?</a:t>
            </a:r>
          </a:p>
          <a:p>
            <a:pPr algn="l">
              <a:lnSpc>
                <a:spcPct val="105000"/>
              </a:lnSpc>
              <a:spcBef>
                <a:spcPts val="300"/>
              </a:spcBef>
              <a:spcAft>
                <a:spcPts val="100"/>
              </a:spcAft>
            </a:pPr>
            <a:r>
              <a:rPr sz="1300" b="0" i="0">
                <a:solidFill>
                  <a:srgbClr val="1A2B3C"/>
                </a:solidFill>
                <a:latin typeface="Arial"/>
              </a:rPr>
              <a:t>–  How do I control it?  What if the plan changes?</a:t>
            </a:r>
          </a:p>
          <a:p>
            <a:pPr algn="l">
              <a:lnSpc>
                <a:spcPct val="105000"/>
              </a:lnSpc>
              <a:spcBef>
                <a:spcPts val="300"/>
              </a:spcBef>
              <a:spcAft>
                <a:spcPts val="100"/>
              </a:spcAft>
            </a:pPr>
            <a:r>
              <a:rPr sz="1300" b="0" i="0">
                <a:solidFill>
                  <a:srgbClr val="1A2B3C"/>
                </a:solidFill>
                <a:latin typeface="Arial"/>
              </a:rPr>
              <a:t>–  A JSA is a living document — update it as the job evolves.</a:t>
            </a:r>
          </a:p>
        </p:txBody>
      </p:sp>
      <p:sp>
        <p:nvSpPr>
          <p:cNvPr id="13" name="Rectangle 12"/>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5 — In the Field</a:t>
            </a:r>
          </a:p>
        </p:txBody>
      </p:sp>
      <p:sp>
        <p:nvSpPr>
          <p:cNvPr id="15" name="TextBox 14"/>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5.3 TAILBOARD</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The Tailboard / Job Briefing — What &amp; Why</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27632"/>
            <a:ext cx="10881360" cy="548640"/>
          </a:xfrm>
          <a:prstGeom prst="rect">
            <a:avLst/>
          </a:prstGeom>
          <a:noFill/>
        </p:spPr>
        <p:txBody>
          <a:bodyPr wrap="square" anchor="t" lIns="0" rIns="0" tIns="0" bIns="0">
            <a:spAutoFit/>
          </a:bodyPr>
          <a:lstStyle/>
          <a:p>
            <a:pPr algn="l">
              <a:lnSpc>
                <a:spcPct val="105000"/>
              </a:lnSpc>
              <a:spcBef>
                <a:spcPts val="400"/>
              </a:spcBef>
              <a:spcAft>
                <a:spcPts val="400"/>
              </a:spcAft>
            </a:pPr>
            <a:r>
              <a:rPr sz="1550" b="0" i="1">
                <a:solidFill>
                  <a:srgbClr val="5B6B7B"/>
                </a:solidFill>
                <a:latin typeface="Arial"/>
              </a:rPr>
              <a:t>The tailboard is where the plan in your head becomes the plan in everyone's head.</a:t>
            </a:r>
          </a:p>
        </p:txBody>
      </p:sp>
      <p:sp>
        <p:nvSpPr>
          <p:cNvPr id="8" name="TextBox 7"/>
          <p:cNvSpPr txBox="1"/>
          <p:nvPr/>
        </p:nvSpPr>
        <p:spPr>
          <a:xfrm>
            <a:off x="658368" y="2240280"/>
            <a:ext cx="10927080" cy="3703320"/>
          </a:xfrm>
          <a:prstGeom prst="rect">
            <a:avLst/>
          </a:prstGeom>
          <a:noFill/>
        </p:spPr>
        <p:txBody>
          <a:bodyPr wrap="square" anchor="t" lIns="0" rIns="0" tIns="0" bIns="0">
            <a:spAutoFit/>
          </a:bodyPr>
          <a:lstStyle/>
          <a:p>
            <a:pPr algn="l">
              <a:lnSpc>
                <a:spcPct val="105000"/>
              </a:lnSpc>
              <a:spcBef>
                <a:spcPts val="700"/>
              </a:spcBef>
              <a:spcAft>
                <a:spcPts val="200"/>
              </a:spcAft>
            </a:pPr>
            <a:r>
              <a:rPr sz="1800" b="0" i="0">
                <a:solidFill>
                  <a:srgbClr val="1A2B3C"/>
                </a:solidFill>
                <a:latin typeface="Arial"/>
              </a:rPr>
              <a:t>■  A tailboard is the crew safety briefing held before work starts (and again when things change)</a:t>
            </a:r>
          </a:p>
          <a:p>
            <a:pPr algn="l">
              <a:lnSpc>
                <a:spcPct val="105000"/>
              </a:lnSpc>
              <a:spcBef>
                <a:spcPts val="700"/>
              </a:spcBef>
              <a:spcAft>
                <a:spcPts val="200"/>
              </a:spcAft>
            </a:pPr>
            <a:r>
              <a:rPr sz="1800" b="0" i="0">
                <a:solidFill>
                  <a:srgbClr val="1A2B3C"/>
                </a:solidFill>
                <a:latin typeface="Arial"/>
              </a:rPr>
              <a:t>■  Required before each job; it aligns the whole crew on the plan and the hazards</a:t>
            </a:r>
          </a:p>
          <a:p>
            <a:pPr algn="l">
              <a:lnSpc>
                <a:spcPct val="105000"/>
              </a:lnSpc>
              <a:spcBef>
                <a:spcPts val="700"/>
              </a:spcBef>
              <a:spcAft>
                <a:spcPts val="200"/>
              </a:spcAft>
            </a:pPr>
            <a:r>
              <a:rPr sz="1800" b="0" i="0">
                <a:solidFill>
                  <a:srgbClr val="1A2B3C"/>
                </a:solidFill>
                <a:latin typeface="Arial"/>
              </a:rPr>
              <a:t>■  OSHA 1910.269(c) requires a job briefing covering at minimum:</a:t>
            </a:r>
          </a:p>
          <a:p>
            <a:pPr algn="l" lvl="1">
              <a:lnSpc>
                <a:spcPct val="103000"/>
              </a:lnSpc>
              <a:spcBef>
                <a:spcPts val="200"/>
              </a:spcBef>
              <a:spcAft>
                <a:spcPts val="200"/>
              </a:spcAft>
            </a:pPr>
            <a:r>
              <a:rPr sz="1500" b="0" i="0">
                <a:solidFill>
                  <a:srgbClr val="334455"/>
                </a:solidFill>
                <a:latin typeface="Arial"/>
              </a:rPr>
              <a:t>–  Hazards associated with the job</a:t>
            </a:r>
          </a:p>
          <a:p>
            <a:pPr algn="l" lvl="1">
              <a:lnSpc>
                <a:spcPct val="103000"/>
              </a:lnSpc>
              <a:spcBef>
                <a:spcPts val="200"/>
              </a:spcBef>
              <a:spcAft>
                <a:spcPts val="200"/>
              </a:spcAft>
            </a:pPr>
            <a:r>
              <a:rPr sz="1500" b="0" i="0">
                <a:solidFill>
                  <a:srgbClr val="334455"/>
                </a:solidFill>
                <a:latin typeface="Arial"/>
              </a:rPr>
              <a:t>–  Work procedures involved</a:t>
            </a:r>
          </a:p>
          <a:p>
            <a:pPr algn="l" lvl="1">
              <a:lnSpc>
                <a:spcPct val="103000"/>
              </a:lnSpc>
              <a:spcBef>
                <a:spcPts val="200"/>
              </a:spcBef>
              <a:spcAft>
                <a:spcPts val="200"/>
              </a:spcAft>
            </a:pPr>
            <a:r>
              <a:rPr sz="1500" b="0" i="0">
                <a:solidFill>
                  <a:srgbClr val="334455"/>
                </a:solidFill>
                <a:latin typeface="Arial"/>
              </a:rPr>
              <a:t>–  Special precautions</a:t>
            </a:r>
          </a:p>
          <a:p>
            <a:pPr algn="l" lvl="1">
              <a:lnSpc>
                <a:spcPct val="103000"/>
              </a:lnSpc>
              <a:spcBef>
                <a:spcPts val="200"/>
              </a:spcBef>
              <a:spcAft>
                <a:spcPts val="200"/>
              </a:spcAft>
            </a:pPr>
            <a:r>
              <a:rPr sz="1500" b="0" i="0">
                <a:solidFill>
                  <a:srgbClr val="334455"/>
                </a:solidFill>
                <a:latin typeface="Arial"/>
              </a:rPr>
              <a:t>–  Energy-source controls (clearances, grounds, LOTO)</a:t>
            </a:r>
          </a:p>
          <a:p>
            <a:pPr algn="l" lvl="1">
              <a:lnSpc>
                <a:spcPct val="103000"/>
              </a:lnSpc>
              <a:spcBef>
                <a:spcPts val="200"/>
              </a:spcBef>
              <a:spcAft>
                <a:spcPts val="200"/>
              </a:spcAft>
            </a:pPr>
            <a:r>
              <a:rPr sz="1500" b="0" i="0">
                <a:solidFill>
                  <a:srgbClr val="334455"/>
                </a:solidFill>
                <a:latin typeface="Arial"/>
              </a:rPr>
              <a:t>–  Personal protective equipment requirements</a:t>
            </a:r>
          </a:p>
          <a:p>
            <a:pPr algn="l">
              <a:lnSpc>
                <a:spcPct val="105000"/>
              </a:lnSpc>
              <a:spcBef>
                <a:spcPts val="700"/>
              </a:spcBef>
              <a:spcAft>
                <a:spcPts val="200"/>
              </a:spcAft>
            </a:pPr>
            <a:r>
              <a:rPr sz="1800" b="0" i="0">
                <a:solidFill>
                  <a:srgbClr val="1A2B3C"/>
                </a:solidFill>
                <a:latin typeface="Arial"/>
              </a:rPr>
              <a:t>■  More extensive briefing for complex/hazardous jobs; brief again after interruptions or changes</a:t>
            </a:r>
          </a:p>
        </p:txBody>
      </p:sp>
      <p:sp>
        <p:nvSpPr>
          <p:cNvPr id="9" name="Rectangle 8"/>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5 — In the Field</a:t>
            </a:r>
          </a:p>
        </p:txBody>
      </p:sp>
      <p:sp>
        <p:nvSpPr>
          <p:cNvPr id="11" name="TextBox 10"/>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5.3 BRIEFING</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Running an Effective Tailboard</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40080" y="1783080"/>
            <a:ext cx="583692" cy="583692"/>
          </a:xfrm>
          <a:prstGeom prst="ellipse">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783080"/>
            <a:ext cx="583692" cy="583692"/>
          </a:xfrm>
          <a:prstGeom prst="rect">
            <a:avLst/>
          </a:prstGeom>
          <a:noFill/>
        </p:spPr>
        <p:txBody>
          <a:bodyPr wrap="square" anchor="ctr" lIns="0" rIns="0" tIns="0" bIns="0">
            <a:spAutoFit/>
          </a:bodyPr>
          <a:lstStyle/>
          <a:p>
            <a:pPr algn="ctr">
              <a:lnSpc>
                <a:spcPct val="105000"/>
              </a:lnSpc>
              <a:spcBef>
                <a:spcPts val="400"/>
              </a:spcBef>
              <a:spcAft>
                <a:spcPts val="400"/>
              </a:spcAft>
            </a:pPr>
            <a:r>
              <a:rPr sz="2000" b="1" i="0">
                <a:solidFill>
                  <a:srgbClr val="0B2545"/>
                </a:solidFill>
                <a:latin typeface="Arial"/>
              </a:rPr>
              <a:t>1</a:t>
            </a:r>
          </a:p>
        </p:txBody>
      </p:sp>
      <p:sp>
        <p:nvSpPr>
          <p:cNvPr id="9" name="TextBox 8"/>
          <p:cNvSpPr txBox="1"/>
          <p:nvPr/>
        </p:nvSpPr>
        <p:spPr>
          <a:xfrm>
            <a:off x="1379220" y="1764792"/>
            <a:ext cx="10058400" cy="693420"/>
          </a:xfrm>
          <a:prstGeom prst="rect">
            <a:avLst/>
          </a:prstGeom>
          <a:noFill/>
        </p:spPr>
        <p:txBody>
          <a:bodyPr wrap="square" anchor="ctr" lIns="0" rIns="0" tIns="0" bIns="0">
            <a:spAutoFit/>
          </a:bodyPr>
          <a:lstStyle/>
          <a:p>
            <a:pPr algn="l">
              <a:lnSpc>
                <a:spcPct val="100000"/>
              </a:lnSpc>
              <a:spcBef>
                <a:spcPts val="400"/>
              </a:spcBef>
              <a:spcAft>
                <a:spcPts val="100"/>
              </a:spcAft>
            </a:pPr>
            <a:r>
              <a:rPr sz="1550" b="1" i="0">
                <a:solidFill>
                  <a:srgbClr val="0B2545"/>
                </a:solidFill>
                <a:latin typeface="Arial"/>
              </a:rPr>
              <a:t>1. Describe the job</a:t>
            </a:r>
          </a:p>
          <a:p>
            <a:pPr algn="l">
              <a:lnSpc>
                <a:spcPct val="100000"/>
              </a:lnSpc>
              <a:spcBef>
                <a:spcPts val="0"/>
              </a:spcBef>
              <a:spcAft>
                <a:spcPts val="400"/>
              </a:spcAft>
            </a:pPr>
            <a:r>
              <a:rPr sz="1250" b="0" i="0">
                <a:solidFill>
                  <a:srgbClr val="5B6B7B"/>
                </a:solidFill>
                <a:latin typeface="Arial"/>
              </a:rPr>
              <a:t>What are we doing, where, on what equipment, energized or de-energized, at what voltage.</a:t>
            </a:r>
          </a:p>
        </p:txBody>
      </p:sp>
      <p:sp>
        <p:nvSpPr>
          <p:cNvPr id="10" name="Oval 9"/>
          <p:cNvSpPr/>
          <p:nvPr/>
        </p:nvSpPr>
        <p:spPr>
          <a:xfrm>
            <a:off x="640080" y="2531364"/>
            <a:ext cx="583692" cy="583692"/>
          </a:xfrm>
          <a:prstGeom prst="ellipse">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531364"/>
            <a:ext cx="583692" cy="583692"/>
          </a:xfrm>
          <a:prstGeom prst="rect">
            <a:avLst/>
          </a:prstGeom>
          <a:noFill/>
        </p:spPr>
        <p:txBody>
          <a:bodyPr wrap="square" anchor="ctr" lIns="0" rIns="0" tIns="0" bIns="0">
            <a:spAutoFit/>
          </a:bodyPr>
          <a:lstStyle/>
          <a:p>
            <a:pPr algn="ctr">
              <a:lnSpc>
                <a:spcPct val="105000"/>
              </a:lnSpc>
              <a:spcBef>
                <a:spcPts val="400"/>
              </a:spcBef>
              <a:spcAft>
                <a:spcPts val="400"/>
              </a:spcAft>
            </a:pPr>
            <a:r>
              <a:rPr sz="2000" b="1" i="0">
                <a:solidFill>
                  <a:srgbClr val="0B2545"/>
                </a:solidFill>
                <a:latin typeface="Arial"/>
              </a:rPr>
              <a:t>2</a:t>
            </a:r>
          </a:p>
        </p:txBody>
      </p:sp>
      <p:sp>
        <p:nvSpPr>
          <p:cNvPr id="12" name="TextBox 11"/>
          <p:cNvSpPr txBox="1"/>
          <p:nvPr/>
        </p:nvSpPr>
        <p:spPr>
          <a:xfrm>
            <a:off x="1379220" y="2513076"/>
            <a:ext cx="10058400" cy="693420"/>
          </a:xfrm>
          <a:prstGeom prst="rect">
            <a:avLst/>
          </a:prstGeom>
          <a:noFill/>
        </p:spPr>
        <p:txBody>
          <a:bodyPr wrap="square" anchor="ctr" lIns="0" rIns="0" tIns="0" bIns="0">
            <a:spAutoFit/>
          </a:bodyPr>
          <a:lstStyle/>
          <a:p>
            <a:pPr algn="l">
              <a:lnSpc>
                <a:spcPct val="100000"/>
              </a:lnSpc>
              <a:spcBef>
                <a:spcPts val="400"/>
              </a:spcBef>
              <a:spcAft>
                <a:spcPts val="100"/>
              </a:spcAft>
            </a:pPr>
            <a:r>
              <a:rPr sz="1550" b="1" i="0">
                <a:solidFill>
                  <a:srgbClr val="0B2545"/>
                </a:solidFill>
                <a:latin typeface="Arial"/>
              </a:rPr>
              <a:t>2. Walk the hazards</a:t>
            </a:r>
          </a:p>
          <a:p>
            <a:pPr algn="l">
              <a:lnSpc>
                <a:spcPct val="100000"/>
              </a:lnSpc>
              <a:spcBef>
                <a:spcPts val="0"/>
              </a:spcBef>
              <a:spcAft>
                <a:spcPts val="400"/>
              </a:spcAft>
            </a:pPr>
            <a:r>
              <a:rPr sz="1250" b="0" i="0">
                <a:solidFill>
                  <a:srgbClr val="5B6B7B"/>
                </a:solidFill>
                <a:latin typeface="Arial"/>
              </a:rPr>
              <a:t>Go through the JSA: electrical (second points, MAD, induction), falls, traffic, weather, public.</a:t>
            </a:r>
          </a:p>
        </p:txBody>
      </p:sp>
      <p:sp>
        <p:nvSpPr>
          <p:cNvPr id="13" name="Oval 12"/>
          <p:cNvSpPr/>
          <p:nvPr/>
        </p:nvSpPr>
        <p:spPr>
          <a:xfrm>
            <a:off x="640080" y="3279648"/>
            <a:ext cx="583692" cy="583692"/>
          </a:xfrm>
          <a:prstGeom prst="ellipse">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3279648"/>
            <a:ext cx="583692" cy="583692"/>
          </a:xfrm>
          <a:prstGeom prst="rect">
            <a:avLst/>
          </a:prstGeom>
          <a:noFill/>
        </p:spPr>
        <p:txBody>
          <a:bodyPr wrap="square" anchor="ctr" lIns="0" rIns="0" tIns="0" bIns="0">
            <a:spAutoFit/>
          </a:bodyPr>
          <a:lstStyle/>
          <a:p>
            <a:pPr algn="ctr">
              <a:lnSpc>
                <a:spcPct val="105000"/>
              </a:lnSpc>
              <a:spcBef>
                <a:spcPts val="400"/>
              </a:spcBef>
              <a:spcAft>
                <a:spcPts val="400"/>
              </a:spcAft>
            </a:pPr>
            <a:r>
              <a:rPr sz="2000" b="1" i="0">
                <a:solidFill>
                  <a:srgbClr val="0B2545"/>
                </a:solidFill>
                <a:latin typeface="Arial"/>
              </a:rPr>
              <a:t>3</a:t>
            </a:r>
          </a:p>
        </p:txBody>
      </p:sp>
      <p:sp>
        <p:nvSpPr>
          <p:cNvPr id="15" name="TextBox 14"/>
          <p:cNvSpPr txBox="1"/>
          <p:nvPr/>
        </p:nvSpPr>
        <p:spPr>
          <a:xfrm>
            <a:off x="1379220" y="3261360"/>
            <a:ext cx="10058400" cy="693420"/>
          </a:xfrm>
          <a:prstGeom prst="rect">
            <a:avLst/>
          </a:prstGeom>
          <a:noFill/>
        </p:spPr>
        <p:txBody>
          <a:bodyPr wrap="square" anchor="ctr" lIns="0" rIns="0" tIns="0" bIns="0">
            <a:spAutoFit/>
          </a:bodyPr>
          <a:lstStyle/>
          <a:p>
            <a:pPr algn="l">
              <a:lnSpc>
                <a:spcPct val="100000"/>
              </a:lnSpc>
              <a:spcBef>
                <a:spcPts val="400"/>
              </a:spcBef>
              <a:spcAft>
                <a:spcPts val="100"/>
              </a:spcAft>
            </a:pPr>
            <a:r>
              <a:rPr sz="1550" b="1" i="0">
                <a:solidFill>
                  <a:srgbClr val="0B2545"/>
                </a:solidFill>
                <a:latin typeface="Arial"/>
              </a:rPr>
              <a:t>3. State the controls</a:t>
            </a:r>
          </a:p>
          <a:p>
            <a:pPr algn="l">
              <a:lnSpc>
                <a:spcPct val="100000"/>
              </a:lnSpc>
              <a:spcBef>
                <a:spcPts val="0"/>
              </a:spcBef>
              <a:spcAft>
                <a:spcPts val="400"/>
              </a:spcAft>
            </a:pPr>
            <a:r>
              <a:rPr sz="1250" b="0" i="0">
                <a:solidFill>
                  <a:srgbClr val="5B6B7B"/>
                </a:solidFill>
                <a:latin typeface="Arial"/>
              </a:rPr>
              <a:t>Cover-up plan, grounds/EPZ, LOTO/clearance, MAD, PPE, traffic control — specific, not generic.</a:t>
            </a:r>
          </a:p>
        </p:txBody>
      </p:sp>
      <p:sp>
        <p:nvSpPr>
          <p:cNvPr id="16" name="Oval 15"/>
          <p:cNvSpPr/>
          <p:nvPr/>
        </p:nvSpPr>
        <p:spPr>
          <a:xfrm>
            <a:off x="640080" y="4027932"/>
            <a:ext cx="583692" cy="583692"/>
          </a:xfrm>
          <a:prstGeom prst="ellipse">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4027932"/>
            <a:ext cx="583692" cy="583692"/>
          </a:xfrm>
          <a:prstGeom prst="rect">
            <a:avLst/>
          </a:prstGeom>
          <a:noFill/>
        </p:spPr>
        <p:txBody>
          <a:bodyPr wrap="square" anchor="ctr" lIns="0" rIns="0" tIns="0" bIns="0">
            <a:spAutoFit/>
          </a:bodyPr>
          <a:lstStyle/>
          <a:p>
            <a:pPr algn="ctr">
              <a:lnSpc>
                <a:spcPct val="105000"/>
              </a:lnSpc>
              <a:spcBef>
                <a:spcPts val="400"/>
              </a:spcBef>
              <a:spcAft>
                <a:spcPts val="400"/>
              </a:spcAft>
            </a:pPr>
            <a:r>
              <a:rPr sz="2000" b="1" i="0">
                <a:solidFill>
                  <a:srgbClr val="0B2545"/>
                </a:solidFill>
                <a:latin typeface="Arial"/>
              </a:rPr>
              <a:t>4</a:t>
            </a:r>
          </a:p>
        </p:txBody>
      </p:sp>
      <p:sp>
        <p:nvSpPr>
          <p:cNvPr id="18" name="TextBox 17"/>
          <p:cNvSpPr txBox="1"/>
          <p:nvPr/>
        </p:nvSpPr>
        <p:spPr>
          <a:xfrm>
            <a:off x="1379220" y="4009644"/>
            <a:ext cx="10058400" cy="693420"/>
          </a:xfrm>
          <a:prstGeom prst="rect">
            <a:avLst/>
          </a:prstGeom>
          <a:noFill/>
        </p:spPr>
        <p:txBody>
          <a:bodyPr wrap="square" anchor="ctr" lIns="0" rIns="0" tIns="0" bIns="0">
            <a:spAutoFit/>
          </a:bodyPr>
          <a:lstStyle/>
          <a:p>
            <a:pPr algn="l">
              <a:lnSpc>
                <a:spcPct val="100000"/>
              </a:lnSpc>
              <a:spcBef>
                <a:spcPts val="400"/>
              </a:spcBef>
              <a:spcAft>
                <a:spcPts val="100"/>
              </a:spcAft>
            </a:pPr>
            <a:r>
              <a:rPr sz="1550" b="1" i="0">
                <a:solidFill>
                  <a:srgbClr val="0B2545"/>
                </a:solidFill>
                <a:latin typeface="Arial"/>
              </a:rPr>
              <a:t>4. Assign roles</a:t>
            </a:r>
          </a:p>
          <a:p>
            <a:pPr algn="l">
              <a:lnSpc>
                <a:spcPct val="100000"/>
              </a:lnSpc>
              <a:spcBef>
                <a:spcPts val="0"/>
              </a:spcBef>
              <a:spcAft>
                <a:spcPts val="400"/>
              </a:spcAft>
            </a:pPr>
            <a:r>
              <a:rPr sz="1250" b="0" i="0">
                <a:solidFill>
                  <a:srgbClr val="5B6B7B"/>
                </a:solidFill>
                <a:latin typeface="Arial"/>
              </a:rPr>
              <a:t>Person in charge, who works, who tends, who grounds, who watches, who calls for help.</a:t>
            </a:r>
          </a:p>
        </p:txBody>
      </p:sp>
      <p:sp>
        <p:nvSpPr>
          <p:cNvPr id="19" name="Oval 18"/>
          <p:cNvSpPr/>
          <p:nvPr/>
        </p:nvSpPr>
        <p:spPr>
          <a:xfrm>
            <a:off x="640080" y="4776216"/>
            <a:ext cx="583692" cy="583692"/>
          </a:xfrm>
          <a:prstGeom prst="ellipse">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4776216"/>
            <a:ext cx="583692" cy="583692"/>
          </a:xfrm>
          <a:prstGeom prst="rect">
            <a:avLst/>
          </a:prstGeom>
          <a:noFill/>
        </p:spPr>
        <p:txBody>
          <a:bodyPr wrap="square" anchor="ctr" lIns="0" rIns="0" tIns="0" bIns="0">
            <a:spAutoFit/>
          </a:bodyPr>
          <a:lstStyle/>
          <a:p>
            <a:pPr algn="ctr">
              <a:lnSpc>
                <a:spcPct val="105000"/>
              </a:lnSpc>
              <a:spcBef>
                <a:spcPts val="400"/>
              </a:spcBef>
              <a:spcAft>
                <a:spcPts val="400"/>
              </a:spcAft>
            </a:pPr>
            <a:r>
              <a:rPr sz="2000" b="1" i="0">
                <a:solidFill>
                  <a:srgbClr val="0B2545"/>
                </a:solidFill>
                <a:latin typeface="Arial"/>
              </a:rPr>
              <a:t>5</a:t>
            </a:r>
          </a:p>
        </p:txBody>
      </p:sp>
      <p:sp>
        <p:nvSpPr>
          <p:cNvPr id="21" name="TextBox 20"/>
          <p:cNvSpPr txBox="1"/>
          <p:nvPr/>
        </p:nvSpPr>
        <p:spPr>
          <a:xfrm>
            <a:off x="1379220" y="4757928"/>
            <a:ext cx="10058400" cy="693420"/>
          </a:xfrm>
          <a:prstGeom prst="rect">
            <a:avLst/>
          </a:prstGeom>
          <a:noFill/>
        </p:spPr>
        <p:txBody>
          <a:bodyPr wrap="square" anchor="ctr" lIns="0" rIns="0" tIns="0" bIns="0">
            <a:spAutoFit/>
          </a:bodyPr>
          <a:lstStyle/>
          <a:p>
            <a:pPr algn="l">
              <a:lnSpc>
                <a:spcPct val="100000"/>
              </a:lnSpc>
              <a:spcBef>
                <a:spcPts val="400"/>
              </a:spcBef>
              <a:spcAft>
                <a:spcPts val="100"/>
              </a:spcAft>
            </a:pPr>
            <a:r>
              <a:rPr sz="1550" b="1" i="0">
                <a:solidFill>
                  <a:srgbClr val="0B2545"/>
                </a:solidFill>
                <a:latin typeface="Arial"/>
              </a:rPr>
              <a:t>5. Confirm rescue &amp; comms</a:t>
            </a:r>
          </a:p>
          <a:p>
            <a:pPr algn="l">
              <a:lnSpc>
                <a:spcPct val="100000"/>
              </a:lnSpc>
              <a:spcBef>
                <a:spcPts val="0"/>
              </a:spcBef>
              <a:spcAft>
                <a:spcPts val="400"/>
              </a:spcAft>
            </a:pPr>
            <a:r>
              <a:rPr sz="1250" b="0" i="0">
                <a:solidFill>
                  <a:srgbClr val="5B6B7B"/>
                </a:solidFill>
                <a:latin typeface="Arial"/>
              </a:rPr>
              <a:t>Location/address, nearest hospital, rescue plan &amp; equipment, radio/phone, hand signals.</a:t>
            </a:r>
          </a:p>
        </p:txBody>
      </p:sp>
      <p:sp>
        <p:nvSpPr>
          <p:cNvPr id="22" name="Oval 21"/>
          <p:cNvSpPr/>
          <p:nvPr/>
        </p:nvSpPr>
        <p:spPr>
          <a:xfrm>
            <a:off x="640080" y="5524500"/>
            <a:ext cx="583692" cy="583692"/>
          </a:xfrm>
          <a:prstGeom prst="ellipse">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5524500"/>
            <a:ext cx="583692" cy="583692"/>
          </a:xfrm>
          <a:prstGeom prst="rect">
            <a:avLst/>
          </a:prstGeom>
          <a:noFill/>
        </p:spPr>
        <p:txBody>
          <a:bodyPr wrap="square" anchor="ctr" lIns="0" rIns="0" tIns="0" bIns="0">
            <a:spAutoFit/>
          </a:bodyPr>
          <a:lstStyle/>
          <a:p>
            <a:pPr algn="ctr">
              <a:lnSpc>
                <a:spcPct val="105000"/>
              </a:lnSpc>
              <a:spcBef>
                <a:spcPts val="400"/>
              </a:spcBef>
              <a:spcAft>
                <a:spcPts val="400"/>
              </a:spcAft>
            </a:pPr>
            <a:r>
              <a:rPr sz="2000" b="1" i="0">
                <a:solidFill>
                  <a:srgbClr val="0B2545"/>
                </a:solidFill>
                <a:latin typeface="Arial"/>
              </a:rPr>
              <a:t>6</a:t>
            </a:r>
          </a:p>
        </p:txBody>
      </p:sp>
      <p:sp>
        <p:nvSpPr>
          <p:cNvPr id="24" name="TextBox 23"/>
          <p:cNvSpPr txBox="1"/>
          <p:nvPr/>
        </p:nvSpPr>
        <p:spPr>
          <a:xfrm>
            <a:off x="1379220" y="5506212"/>
            <a:ext cx="10058400" cy="693420"/>
          </a:xfrm>
          <a:prstGeom prst="rect">
            <a:avLst/>
          </a:prstGeom>
          <a:noFill/>
        </p:spPr>
        <p:txBody>
          <a:bodyPr wrap="square" anchor="ctr" lIns="0" rIns="0" tIns="0" bIns="0">
            <a:spAutoFit/>
          </a:bodyPr>
          <a:lstStyle/>
          <a:p>
            <a:pPr algn="l">
              <a:lnSpc>
                <a:spcPct val="100000"/>
              </a:lnSpc>
              <a:spcBef>
                <a:spcPts val="400"/>
              </a:spcBef>
              <a:spcAft>
                <a:spcPts val="100"/>
              </a:spcAft>
            </a:pPr>
            <a:r>
              <a:rPr sz="1550" b="1" i="0">
                <a:solidFill>
                  <a:srgbClr val="0B2545"/>
                </a:solidFill>
                <a:latin typeface="Arial"/>
              </a:rPr>
              <a:t>6. Engage the crew</a:t>
            </a:r>
          </a:p>
          <a:p>
            <a:pPr algn="l">
              <a:lnSpc>
                <a:spcPct val="100000"/>
              </a:lnSpc>
              <a:spcBef>
                <a:spcPts val="0"/>
              </a:spcBef>
              <a:spcAft>
                <a:spcPts val="400"/>
              </a:spcAft>
            </a:pPr>
            <a:r>
              <a:rPr sz="1250" b="0" i="0">
                <a:solidFill>
                  <a:srgbClr val="5B6B7B"/>
                </a:solidFill>
                <a:latin typeface="Arial"/>
              </a:rPr>
              <a:t>Ask questions, invite input, confirm understanding — everyone has stop-work authority.</a:t>
            </a:r>
          </a:p>
        </p:txBody>
      </p:sp>
      <p:sp>
        <p:nvSpPr>
          <p:cNvPr id="25" name="Rectangle 24"/>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5 — In the Field</a:t>
            </a:r>
          </a:p>
        </p:txBody>
      </p:sp>
      <p:sp>
        <p:nvSpPr>
          <p:cNvPr id="27" name="TextBox 26"/>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5.4 ROLES</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Roles &amp; Responsibilities on the Crew</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783080"/>
            <a:ext cx="5349240" cy="4297680"/>
          </a:xfrm>
          <a:prstGeom prst="roundRect">
            <a:avLst/>
          </a:prstGeom>
          <a:solidFill>
            <a:srgbClr val="EEF2F7"/>
          </a:solidFill>
          <a:ln w="12700">
            <a:solidFill>
              <a:srgbClr val="CF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40080" y="1783080"/>
            <a:ext cx="5349240" cy="566928"/>
          </a:xfrm>
          <a:prstGeom prst="roundRect">
            <a:avLst/>
          </a:prstGeom>
          <a:solidFill>
            <a:srgbClr val="1340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2066543"/>
            <a:ext cx="5349240" cy="283464"/>
          </a:xfrm>
          <a:prstGeom prst="rect">
            <a:avLst/>
          </a:prstGeom>
          <a:solidFill>
            <a:srgbClr val="1340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1837943"/>
            <a:ext cx="4892040" cy="475488"/>
          </a:xfrm>
          <a:prstGeom prst="rect">
            <a:avLst/>
          </a:prstGeom>
          <a:noFill/>
        </p:spPr>
        <p:txBody>
          <a:bodyPr wrap="square" anchor="ctr" lIns="0" rIns="0" tIns="0" bIns="0">
            <a:spAutoFit/>
          </a:bodyPr>
          <a:lstStyle/>
          <a:p>
            <a:pPr algn="l">
              <a:lnSpc>
                <a:spcPct val="105000"/>
              </a:lnSpc>
              <a:spcBef>
                <a:spcPts val="400"/>
              </a:spcBef>
              <a:spcAft>
                <a:spcPts val="400"/>
              </a:spcAft>
            </a:pPr>
            <a:r>
              <a:rPr sz="1600" b="1" i="0">
                <a:solidFill>
                  <a:srgbClr val="FFFFFF"/>
                </a:solidFill>
                <a:latin typeface="Arial"/>
              </a:rPr>
              <a:t>Key roles</a:t>
            </a:r>
          </a:p>
        </p:txBody>
      </p:sp>
      <p:sp>
        <p:nvSpPr>
          <p:cNvPr id="11" name="TextBox 10"/>
          <p:cNvSpPr txBox="1"/>
          <p:nvPr/>
        </p:nvSpPr>
        <p:spPr>
          <a:xfrm>
            <a:off x="914400" y="2514600"/>
            <a:ext cx="4800600" cy="3383280"/>
          </a:xfrm>
          <a:prstGeom prst="rect">
            <a:avLst/>
          </a:prstGeom>
          <a:noFill/>
        </p:spPr>
        <p:txBody>
          <a:bodyPr wrap="square" anchor="t" lIns="0" rIns="0" tIns="0" bIns="0">
            <a:spAutoFit/>
          </a:bodyPr>
          <a:lstStyle/>
          <a:p>
            <a:pPr algn="l">
              <a:lnSpc>
                <a:spcPct val="103000"/>
              </a:lnSpc>
              <a:spcBef>
                <a:spcPts val="500"/>
              </a:spcBef>
              <a:spcAft>
                <a:spcPts val="200"/>
              </a:spcAft>
            </a:pPr>
            <a:r>
              <a:rPr sz="1400" b="0" i="0">
                <a:solidFill>
                  <a:srgbClr val="1A2B3C"/>
                </a:solidFill>
                <a:latin typeface="Arial"/>
              </a:rPr>
              <a:t>■  Person-in-Charge / Crew Leader — owns the plan &amp; clearance</a:t>
            </a:r>
          </a:p>
          <a:p>
            <a:pPr algn="l">
              <a:lnSpc>
                <a:spcPct val="103000"/>
              </a:lnSpc>
              <a:spcBef>
                <a:spcPts val="500"/>
              </a:spcBef>
              <a:spcAft>
                <a:spcPts val="200"/>
              </a:spcAft>
            </a:pPr>
            <a:r>
              <a:rPr sz="1400" b="0" i="0">
                <a:solidFill>
                  <a:srgbClr val="1A2B3C"/>
                </a:solidFill>
                <a:latin typeface="Arial"/>
              </a:rPr>
              <a:t>■  Qualified worker(s) — perform the energized/skilled tasks</a:t>
            </a:r>
          </a:p>
          <a:p>
            <a:pPr algn="l">
              <a:lnSpc>
                <a:spcPct val="103000"/>
              </a:lnSpc>
              <a:spcBef>
                <a:spcPts val="500"/>
              </a:spcBef>
              <a:spcAft>
                <a:spcPts val="200"/>
              </a:spcAft>
            </a:pPr>
            <a:r>
              <a:rPr sz="1400" b="0" i="0">
                <a:solidFill>
                  <a:srgbClr val="1A2B3C"/>
                </a:solidFill>
                <a:latin typeface="Arial"/>
              </a:rPr>
              <a:t>■  Groundman / tender — supports, tends ropes, handles materials</a:t>
            </a:r>
          </a:p>
          <a:p>
            <a:pPr algn="l">
              <a:lnSpc>
                <a:spcPct val="103000"/>
              </a:lnSpc>
              <a:spcBef>
                <a:spcPts val="500"/>
              </a:spcBef>
              <a:spcAft>
                <a:spcPts val="200"/>
              </a:spcAft>
            </a:pPr>
            <a:r>
              <a:rPr sz="1400" b="0" i="0">
                <a:solidFill>
                  <a:srgbClr val="1A2B3C"/>
                </a:solidFill>
                <a:latin typeface="Arial"/>
              </a:rPr>
              <a:t>■  Safety watch / second person — eyes on the worker, ready to act</a:t>
            </a:r>
          </a:p>
          <a:p>
            <a:pPr algn="l">
              <a:lnSpc>
                <a:spcPct val="103000"/>
              </a:lnSpc>
              <a:spcBef>
                <a:spcPts val="500"/>
              </a:spcBef>
              <a:spcAft>
                <a:spcPts val="200"/>
              </a:spcAft>
            </a:pPr>
            <a:r>
              <a:rPr sz="1400" b="0" i="0">
                <a:solidFill>
                  <a:srgbClr val="1A2B3C"/>
                </a:solidFill>
                <a:latin typeface="Arial"/>
              </a:rPr>
              <a:t>■  Flagger / traffic control — protects the work zone &amp; public</a:t>
            </a:r>
          </a:p>
        </p:txBody>
      </p:sp>
      <p:sp>
        <p:nvSpPr>
          <p:cNvPr id="12" name="Rounded Rectangle 11"/>
          <p:cNvSpPr/>
          <p:nvPr/>
        </p:nvSpPr>
        <p:spPr>
          <a:xfrm>
            <a:off x="6309359" y="1783080"/>
            <a:ext cx="5349240" cy="4297680"/>
          </a:xfrm>
          <a:prstGeom prst="roundRect">
            <a:avLst/>
          </a:prstGeom>
          <a:solidFill>
            <a:srgbClr val="EEF2F7"/>
          </a:solidFill>
          <a:ln w="12700">
            <a:solidFill>
              <a:srgbClr val="CF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09359" y="1783080"/>
            <a:ext cx="5349240" cy="566928"/>
          </a:xfrm>
          <a:prstGeom prst="round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59" y="2066543"/>
            <a:ext cx="5349240" cy="28346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37959" y="1837943"/>
            <a:ext cx="4892040" cy="475488"/>
          </a:xfrm>
          <a:prstGeom prst="rect">
            <a:avLst/>
          </a:prstGeom>
          <a:noFill/>
        </p:spPr>
        <p:txBody>
          <a:bodyPr wrap="square" anchor="ctr" lIns="0" rIns="0" tIns="0" bIns="0">
            <a:spAutoFit/>
          </a:bodyPr>
          <a:lstStyle/>
          <a:p>
            <a:pPr algn="l">
              <a:lnSpc>
                <a:spcPct val="105000"/>
              </a:lnSpc>
              <a:spcBef>
                <a:spcPts val="400"/>
              </a:spcBef>
              <a:spcAft>
                <a:spcPts val="400"/>
              </a:spcAft>
            </a:pPr>
            <a:r>
              <a:rPr sz="1600" b="1" i="0">
                <a:solidFill>
                  <a:srgbClr val="FFFFFF"/>
                </a:solidFill>
                <a:latin typeface="Arial"/>
              </a:rPr>
              <a:t>Shared responsibilities</a:t>
            </a:r>
          </a:p>
        </p:txBody>
      </p:sp>
      <p:sp>
        <p:nvSpPr>
          <p:cNvPr id="16" name="TextBox 15"/>
          <p:cNvSpPr txBox="1"/>
          <p:nvPr/>
        </p:nvSpPr>
        <p:spPr>
          <a:xfrm>
            <a:off x="6583679" y="2514600"/>
            <a:ext cx="4800600" cy="3383280"/>
          </a:xfrm>
          <a:prstGeom prst="rect">
            <a:avLst/>
          </a:prstGeom>
          <a:noFill/>
        </p:spPr>
        <p:txBody>
          <a:bodyPr wrap="square" anchor="t" lIns="0" rIns="0" tIns="0" bIns="0">
            <a:spAutoFit/>
          </a:bodyPr>
          <a:lstStyle/>
          <a:p>
            <a:pPr algn="l">
              <a:lnSpc>
                <a:spcPct val="103000"/>
              </a:lnSpc>
              <a:spcBef>
                <a:spcPts val="500"/>
              </a:spcBef>
              <a:spcAft>
                <a:spcPts val="200"/>
              </a:spcAft>
            </a:pPr>
            <a:r>
              <a:rPr sz="1400" b="0" i="0">
                <a:solidFill>
                  <a:srgbClr val="1A2B3C"/>
                </a:solidFill>
                <a:latin typeface="Arial"/>
              </a:rPr>
              <a:t>■  Everyone: know the plan and your part in it</a:t>
            </a:r>
          </a:p>
          <a:p>
            <a:pPr algn="l">
              <a:lnSpc>
                <a:spcPct val="103000"/>
              </a:lnSpc>
              <a:spcBef>
                <a:spcPts val="500"/>
              </a:spcBef>
              <a:spcAft>
                <a:spcPts val="200"/>
              </a:spcAft>
            </a:pPr>
            <a:r>
              <a:rPr sz="1400" b="0" i="0">
                <a:solidFill>
                  <a:srgbClr val="1A2B3C"/>
                </a:solidFill>
                <a:latin typeface="Arial"/>
              </a:rPr>
              <a:t>■  Everyone: maintain situational awareness</a:t>
            </a:r>
          </a:p>
          <a:p>
            <a:pPr algn="l">
              <a:lnSpc>
                <a:spcPct val="103000"/>
              </a:lnSpc>
              <a:spcBef>
                <a:spcPts val="500"/>
              </a:spcBef>
              <a:spcAft>
                <a:spcPts val="200"/>
              </a:spcAft>
            </a:pPr>
            <a:r>
              <a:rPr sz="1400" b="0" i="0">
                <a:solidFill>
                  <a:srgbClr val="1A2B3C"/>
                </a:solidFill>
                <a:latin typeface="Arial"/>
              </a:rPr>
              <a:t>■  Everyone has STOP-WORK authority — use it without fear</a:t>
            </a:r>
          </a:p>
          <a:p>
            <a:pPr algn="l">
              <a:lnSpc>
                <a:spcPct val="103000"/>
              </a:lnSpc>
              <a:spcBef>
                <a:spcPts val="500"/>
              </a:spcBef>
              <a:spcAft>
                <a:spcPts val="200"/>
              </a:spcAft>
            </a:pPr>
            <a:r>
              <a:rPr sz="1400" b="0" i="0">
                <a:solidFill>
                  <a:srgbClr val="1A2B3C"/>
                </a:solidFill>
                <a:latin typeface="Arial"/>
              </a:rPr>
              <a:t>■  Speak up: a question now beats an incident later</a:t>
            </a:r>
          </a:p>
          <a:p>
            <a:pPr algn="l">
              <a:lnSpc>
                <a:spcPct val="103000"/>
              </a:lnSpc>
              <a:spcBef>
                <a:spcPts val="500"/>
              </a:spcBef>
              <a:spcAft>
                <a:spcPts val="200"/>
              </a:spcAft>
            </a:pPr>
            <a:r>
              <a:rPr sz="1400" b="0" i="0">
                <a:solidFill>
                  <a:srgbClr val="1A2B3C"/>
                </a:solidFill>
                <a:latin typeface="Arial"/>
              </a:rPr>
              <a:t>■  No solo energized work — a qualified second person is present</a:t>
            </a:r>
          </a:p>
        </p:txBody>
      </p:sp>
      <p:sp>
        <p:nvSpPr>
          <p:cNvPr id="17" name="Rectangle 16"/>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5 — In the Field</a:t>
            </a:r>
          </a:p>
        </p:txBody>
      </p:sp>
      <p:sp>
        <p:nvSpPr>
          <p:cNvPr id="19" name="TextBox 18"/>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5.5 COMMUNICATION</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Communication — The Glue That Holds the Job Together</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783080"/>
            <a:ext cx="10927080" cy="4160520"/>
          </a:xfrm>
          <a:prstGeom prst="rect">
            <a:avLst/>
          </a:prstGeom>
          <a:noFill/>
        </p:spPr>
        <p:txBody>
          <a:bodyPr wrap="square" anchor="t" lIns="0" rIns="0" tIns="0" bIns="0">
            <a:spAutoFit/>
          </a:bodyPr>
          <a:lstStyle/>
          <a:p>
            <a:pPr algn="l">
              <a:lnSpc>
                <a:spcPct val="105000"/>
              </a:lnSpc>
              <a:spcBef>
                <a:spcPts val="700"/>
              </a:spcBef>
              <a:spcAft>
                <a:spcPts val="200"/>
              </a:spcAft>
            </a:pPr>
            <a:r>
              <a:rPr sz="1800" b="0" i="0">
                <a:solidFill>
                  <a:srgbClr val="1A2B3C"/>
                </a:solidFill>
                <a:latin typeface="Arial"/>
              </a:rPr>
              <a:t>■  Use clear, standardized language for switching and clearances — no ambiguity</a:t>
            </a:r>
          </a:p>
          <a:p>
            <a:pPr algn="l">
              <a:lnSpc>
                <a:spcPct val="105000"/>
              </a:lnSpc>
              <a:spcBef>
                <a:spcPts val="700"/>
              </a:spcBef>
              <a:spcAft>
                <a:spcPts val="200"/>
              </a:spcAft>
            </a:pPr>
            <a:r>
              <a:rPr sz="1800" b="0" i="0">
                <a:solidFill>
                  <a:srgbClr val="1A2B3C"/>
                </a:solidFill>
                <a:latin typeface="Arial"/>
              </a:rPr>
              <a:t>■  Three-way communication for critical commands: state → repeat back → confirm</a:t>
            </a:r>
          </a:p>
          <a:p>
            <a:pPr algn="l">
              <a:lnSpc>
                <a:spcPct val="105000"/>
              </a:lnSpc>
              <a:spcBef>
                <a:spcPts val="700"/>
              </a:spcBef>
              <a:spcAft>
                <a:spcPts val="200"/>
              </a:spcAft>
            </a:pPr>
            <a:r>
              <a:rPr sz="1800" b="0" i="0">
                <a:solidFill>
                  <a:srgbClr val="1A2B3C"/>
                </a:solidFill>
                <a:latin typeface="Arial"/>
              </a:rPr>
              <a:t>■  Confirm clearances and grounds with the system operator before and after</a:t>
            </a:r>
          </a:p>
          <a:p>
            <a:pPr algn="l">
              <a:lnSpc>
                <a:spcPct val="105000"/>
              </a:lnSpc>
              <a:spcBef>
                <a:spcPts val="700"/>
              </a:spcBef>
              <a:spcAft>
                <a:spcPts val="200"/>
              </a:spcAft>
            </a:pPr>
            <a:r>
              <a:rPr sz="1800" b="0" i="0">
                <a:solidFill>
                  <a:srgbClr val="1A2B3C"/>
                </a:solidFill>
                <a:latin typeface="Arial"/>
              </a:rPr>
              <a:t>■  Agree on hand signals for crane/bucket/rigging where radios are hard to hear</a:t>
            </a:r>
          </a:p>
          <a:p>
            <a:pPr algn="l">
              <a:lnSpc>
                <a:spcPct val="105000"/>
              </a:lnSpc>
              <a:spcBef>
                <a:spcPts val="700"/>
              </a:spcBef>
              <a:spcAft>
                <a:spcPts val="200"/>
              </a:spcAft>
            </a:pPr>
            <a:r>
              <a:rPr sz="1800" b="0" i="0">
                <a:solidFill>
                  <a:srgbClr val="1A2B3C"/>
                </a:solidFill>
                <a:latin typeface="Arial"/>
              </a:rPr>
              <a:t>■  Announce movements: 'coming down', 'tension on', 'clear' — keep the crew in the loop</a:t>
            </a:r>
          </a:p>
          <a:p>
            <a:pPr algn="l">
              <a:lnSpc>
                <a:spcPct val="105000"/>
              </a:lnSpc>
              <a:spcBef>
                <a:spcPts val="700"/>
              </a:spcBef>
              <a:spcAft>
                <a:spcPts val="200"/>
              </a:spcAft>
            </a:pPr>
            <a:r>
              <a:rPr sz="1800" b="0" i="0">
                <a:solidFill>
                  <a:srgbClr val="1A2B3C"/>
                </a:solidFill>
                <a:latin typeface="Arial"/>
              </a:rPr>
              <a:t>■  Re-brief after ANY interruption, crew change, or scope change</a:t>
            </a:r>
          </a:p>
          <a:p>
            <a:pPr algn="l">
              <a:lnSpc>
                <a:spcPct val="105000"/>
              </a:lnSpc>
              <a:spcBef>
                <a:spcPts val="700"/>
              </a:spcBef>
              <a:spcAft>
                <a:spcPts val="200"/>
              </a:spcAft>
            </a:pPr>
            <a:r>
              <a:rPr sz="1800" b="0" i="0">
                <a:solidFill>
                  <a:srgbClr val="1A2B3C"/>
                </a:solidFill>
                <a:latin typeface="Arial"/>
              </a:rPr>
              <a:t>■  If you're not sure what was said, STOP and confirm — assumptions kill</a:t>
            </a:r>
          </a:p>
        </p:txBody>
      </p:sp>
      <p:sp>
        <p:nvSpPr>
          <p:cNvPr id="8" name="Rectangle 7"/>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5 — In the Field</a:t>
            </a:r>
          </a:p>
        </p:txBody>
      </p:sp>
      <p:sp>
        <p:nvSpPr>
          <p:cNvPr id="10" name="TextBox 9"/>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5.6 RESCUE</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Emergency Response &amp; Rescue — Plan It Before You Need It</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783080"/>
            <a:ext cx="6949440" cy="4297680"/>
          </a:xfrm>
          <a:prstGeom prst="rect">
            <a:avLst/>
          </a:prstGeom>
          <a:noFill/>
        </p:spPr>
        <p:txBody>
          <a:bodyPr wrap="square" anchor="t" lIns="0" rIns="0" tIns="0" bIns="0">
            <a:spAutoFit/>
          </a:bodyPr>
          <a:lstStyle/>
          <a:p>
            <a:pPr algn="l">
              <a:lnSpc>
                <a:spcPct val="105000"/>
              </a:lnSpc>
              <a:spcBef>
                <a:spcPts val="700"/>
              </a:spcBef>
              <a:spcAft>
                <a:spcPts val="200"/>
              </a:spcAft>
            </a:pPr>
            <a:r>
              <a:rPr sz="1700" b="0" i="0">
                <a:solidFill>
                  <a:srgbClr val="1A2B3C"/>
                </a:solidFill>
                <a:latin typeface="Arial"/>
              </a:rPr>
              <a:t>■  Every energized/elevated job needs a rescue plan briefed in the tailboard</a:t>
            </a:r>
          </a:p>
          <a:p>
            <a:pPr algn="l">
              <a:lnSpc>
                <a:spcPct val="105000"/>
              </a:lnSpc>
              <a:spcBef>
                <a:spcPts val="700"/>
              </a:spcBef>
              <a:spcAft>
                <a:spcPts val="200"/>
              </a:spcAft>
            </a:pPr>
            <a:r>
              <a:rPr sz="1700" b="0" i="0">
                <a:solidFill>
                  <a:srgbClr val="1A2B3C"/>
                </a:solidFill>
                <a:latin typeface="Arial"/>
              </a:rPr>
              <a:t>■  Pole-top &amp; bucket rescue: trained crew can lower an injured worker quickly</a:t>
            </a:r>
          </a:p>
          <a:p>
            <a:pPr algn="l" lvl="1">
              <a:lnSpc>
                <a:spcPct val="102000"/>
              </a:lnSpc>
              <a:spcBef>
                <a:spcPts val="200"/>
              </a:spcBef>
              <a:spcAft>
                <a:spcPts val="100"/>
              </a:spcAft>
            </a:pPr>
            <a:r>
              <a:rPr sz="1400" b="0" i="0">
                <a:solidFill>
                  <a:srgbClr val="334455"/>
                </a:solidFill>
                <a:latin typeface="Arial"/>
              </a:rPr>
              <a:t>–  Know the equipment (handline, rescue device) and practice the procedure</a:t>
            </a:r>
          </a:p>
          <a:p>
            <a:pPr algn="l">
              <a:lnSpc>
                <a:spcPct val="105000"/>
              </a:lnSpc>
              <a:spcBef>
                <a:spcPts val="700"/>
              </a:spcBef>
              <a:spcAft>
                <a:spcPts val="200"/>
              </a:spcAft>
            </a:pPr>
            <a:r>
              <a:rPr sz="1700" b="0" i="0">
                <a:solidFill>
                  <a:srgbClr val="1A2B3C"/>
                </a:solidFill>
                <a:latin typeface="Arial"/>
              </a:rPr>
              <a:t>■  Do NOT become the second victim — ensure the source of contact is removed/de-energized first</a:t>
            </a:r>
          </a:p>
          <a:p>
            <a:pPr algn="l">
              <a:lnSpc>
                <a:spcPct val="105000"/>
              </a:lnSpc>
              <a:spcBef>
                <a:spcPts val="700"/>
              </a:spcBef>
              <a:spcAft>
                <a:spcPts val="200"/>
              </a:spcAft>
            </a:pPr>
            <a:r>
              <a:rPr sz="1700" b="0" i="0">
                <a:solidFill>
                  <a:srgbClr val="1A2B3C"/>
                </a:solidFill>
                <a:latin typeface="Arial"/>
              </a:rPr>
              <a:t>■  Call for help early: know the address, cross-streets, and access</a:t>
            </a:r>
          </a:p>
          <a:p>
            <a:pPr algn="l">
              <a:lnSpc>
                <a:spcPct val="105000"/>
              </a:lnSpc>
              <a:spcBef>
                <a:spcPts val="700"/>
              </a:spcBef>
              <a:spcAft>
                <a:spcPts val="200"/>
              </a:spcAft>
            </a:pPr>
            <a:r>
              <a:rPr sz="1700" b="0" i="0">
                <a:solidFill>
                  <a:srgbClr val="1A2B3C"/>
                </a:solidFill>
                <a:latin typeface="Arial"/>
              </a:rPr>
              <a:t>■  CPR + AED for electrical contact / cardiac arrest — minutes matter; know where the AED is</a:t>
            </a:r>
          </a:p>
          <a:p>
            <a:pPr algn="l">
              <a:lnSpc>
                <a:spcPct val="105000"/>
              </a:lnSpc>
              <a:spcBef>
                <a:spcPts val="700"/>
              </a:spcBef>
              <a:spcAft>
                <a:spcPts val="200"/>
              </a:spcAft>
            </a:pPr>
            <a:r>
              <a:rPr sz="1700" b="0" i="0">
                <a:solidFill>
                  <a:srgbClr val="1A2B3C"/>
                </a:solidFill>
                <a:latin typeface="Arial"/>
              </a:rPr>
              <a:t>■  After contact, ALWAYS transport for medical evaluation — internal injury can be hidden</a:t>
            </a:r>
          </a:p>
        </p:txBody>
      </p:sp>
      <p:sp>
        <p:nvSpPr>
          <p:cNvPr id="8" name="Rounded Rectangle 7"/>
          <p:cNvSpPr/>
          <p:nvPr/>
        </p:nvSpPr>
        <p:spPr>
          <a:xfrm>
            <a:off x="7863840" y="1874519"/>
            <a:ext cx="3776472" cy="3931920"/>
          </a:xfrm>
          <a:prstGeom prst="roundRect">
            <a:avLst/>
          </a:prstGeom>
          <a:solidFill>
            <a:srgbClr val="FDF4DE"/>
          </a:solidFill>
          <a:ln w="19050">
            <a:solidFill>
              <a:srgbClr val="C88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863840" y="1874519"/>
            <a:ext cx="3776472" cy="548640"/>
          </a:xfrm>
          <a:prstGeom prst="roundRect">
            <a:avLst/>
          </a:prstGeom>
          <a:solidFill>
            <a:srgbClr val="C88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63840" y="2148839"/>
            <a:ext cx="3776472" cy="274320"/>
          </a:xfrm>
          <a:prstGeom prst="rect">
            <a:avLst/>
          </a:prstGeom>
          <a:solidFill>
            <a:srgbClr val="C88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92440" y="1920239"/>
            <a:ext cx="3319272" cy="475488"/>
          </a:xfrm>
          <a:prstGeom prst="rect">
            <a:avLst/>
          </a:prstGeom>
          <a:noFill/>
        </p:spPr>
        <p:txBody>
          <a:bodyPr wrap="square" anchor="ctr" lIns="0" rIns="0" tIns="0" bIns="0">
            <a:spAutoFit/>
          </a:bodyPr>
          <a:lstStyle/>
          <a:p>
            <a:pPr algn="l">
              <a:lnSpc>
                <a:spcPct val="105000"/>
              </a:lnSpc>
              <a:spcBef>
                <a:spcPts val="400"/>
              </a:spcBef>
              <a:spcAft>
                <a:spcPts val="400"/>
              </a:spcAft>
            </a:pPr>
            <a:r>
              <a:rPr sz="1400" b="1" i="0">
                <a:solidFill>
                  <a:srgbClr val="FFFFFF"/>
                </a:solidFill>
                <a:latin typeface="Arial"/>
              </a:rPr>
              <a:t>WARNING  ⚠</a:t>
            </a:r>
          </a:p>
        </p:txBody>
      </p:sp>
      <p:sp>
        <p:nvSpPr>
          <p:cNvPr id="12" name="TextBox 11"/>
          <p:cNvSpPr txBox="1"/>
          <p:nvPr/>
        </p:nvSpPr>
        <p:spPr>
          <a:xfrm>
            <a:off x="8138160" y="2587752"/>
            <a:ext cx="3227832" cy="3063239"/>
          </a:xfrm>
          <a:prstGeom prst="rect">
            <a:avLst/>
          </a:prstGeom>
          <a:noFill/>
        </p:spPr>
        <p:txBody>
          <a:bodyPr wrap="square" anchor="t" lIns="0" rIns="0" tIns="0" bIns="0">
            <a:spAutoFit/>
          </a:bodyPr>
          <a:lstStyle/>
          <a:p>
            <a:pPr algn="l">
              <a:lnSpc>
                <a:spcPct val="105000"/>
              </a:lnSpc>
              <a:spcBef>
                <a:spcPts val="400"/>
              </a:spcBef>
              <a:spcAft>
                <a:spcPts val="400"/>
              </a:spcAft>
            </a:pPr>
            <a:r>
              <a:rPr sz="1550" b="1" i="0">
                <a:solidFill>
                  <a:srgbClr val="C88A00"/>
                </a:solidFill>
                <a:latin typeface="Arial"/>
              </a:rPr>
              <a:t>The first rule of rescue</a:t>
            </a:r>
          </a:p>
          <a:p>
            <a:pPr algn="l">
              <a:lnSpc>
                <a:spcPct val="105000"/>
              </a:lnSpc>
              <a:spcBef>
                <a:spcPts val="300"/>
              </a:spcBef>
              <a:spcAft>
                <a:spcPts val="100"/>
              </a:spcAft>
            </a:pPr>
            <a:r>
              <a:rPr sz="1300" b="0" i="0">
                <a:solidFill>
                  <a:srgbClr val="1A2B3C"/>
                </a:solidFill>
                <a:latin typeface="Arial"/>
              </a:rPr>
              <a:t>–  Protect yourself first — a rescuer who gets electrocuted helps no one.</a:t>
            </a:r>
          </a:p>
          <a:p>
            <a:pPr algn="l">
              <a:lnSpc>
                <a:spcPct val="105000"/>
              </a:lnSpc>
              <a:spcBef>
                <a:spcPts val="300"/>
              </a:spcBef>
              <a:spcAft>
                <a:spcPts val="100"/>
              </a:spcAft>
            </a:pPr>
            <a:r>
              <a:rPr sz="1300" b="0" i="0">
                <a:solidFill>
                  <a:srgbClr val="1A2B3C"/>
                </a:solidFill>
                <a:latin typeface="Arial"/>
              </a:rPr>
              <a:t>–  De-energize / remove the source, then reach the patient.</a:t>
            </a:r>
          </a:p>
          <a:p>
            <a:pPr algn="l">
              <a:lnSpc>
                <a:spcPct val="105000"/>
              </a:lnSpc>
              <a:spcBef>
                <a:spcPts val="300"/>
              </a:spcBef>
              <a:spcAft>
                <a:spcPts val="100"/>
              </a:spcAft>
            </a:pPr>
            <a:r>
              <a:rPr sz="1300" b="0" i="0">
                <a:solidFill>
                  <a:srgbClr val="1A2B3C"/>
                </a:solidFill>
                <a:latin typeface="Arial"/>
              </a:rPr>
              <a:t>–  Speed saves lives, but only a SAFE rescue saves two.</a:t>
            </a:r>
          </a:p>
        </p:txBody>
      </p:sp>
      <p:sp>
        <p:nvSpPr>
          <p:cNvPr id="13" name="Rectangle 12"/>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5 — In the Field</a:t>
            </a:r>
          </a:p>
        </p:txBody>
      </p:sp>
      <p:sp>
        <p:nvSpPr>
          <p:cNvPr id="15" name="TextBox 14"/>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5.7 ENVIRONMENT</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Weather, Environment &amp; Public Safety</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783080"/>
            <a:ext cx="10927080" cy="4160520"/>
          </a:xfrm>
          <a:prstGeom prst="rect">
            <a:avLst/>
          </a:prstGeom>
          <a:noFill/>
        </p:spPr>
        <p:txBody>
          <a:bodyPr wrap="square" anchor="t" lIns="0" rIns="0" tIns="0" bIns="0">
            <a:spAutoFit/>
          </a:bodyPr>
          <a:lstStyle/>
          <a:p>
            <a:pPr algn="l">
              <a:lnSpc>
                <a:spcPct val="105000"/>
              </a:lnSpc>
              <a:spcBef>
                <a:spcPts val="700"/>
              </a:spcBef>
              <a:spcAft>
                <a:spcPts val="200"/>
              </a:spcAft>
            </a:pPr>
            <a:r>
              <a:rPr sz="1800" b="0" i="0">
                <a:solidFill>
                  <a:srgbClr val="1A2B3C"/>
                </a:solidFill>
                <a:latin typeface="Arial"/>
              </a:rPr>
              <a:t>■  Lightning / approaching storms: stop work and clear elevated/exposed positions</a:t>
            </a:r>
          </a:p>
          <a:p>
            <a:pPr algn="l">
              <a:lnSpc>
                <a:spcPct val="105000"/>
              </a:lnSpc>
              <a:spcBef>
                <a:spcPts val="700"/>
              </a:spcBef>
              <a:spcAft>
                <a:spcPts val="200"/>
              </a:spcAft>
            </a:pPr>
            <a:r>
              <a:rPr sz="1800" b="0" i="0">
                <a:solidFill>
                  <a:srgbClr val="1A2B3C"/>
                </a:solidFill>
                <a:latin typeface="Arial"/>
              </a:rPr>
              <a:t>■  High wind: affects conductors, booms, rigging, and footing — know your limits</a:t>
            </a:r>
          </a:p>
          <a:p>
            <a:pPr algn="l">
              <a:lnSpc>
                <a:spcPct val="105000"/>
              </a:lnSpc>
              <a:spcBef>
                <a:spcPts val="700"/>
              </a:spcBef>
              <a:spcAft>
                <a:spcPts val="200"/>
              </a:spcAft>
            </a:pPr>
            <a:r>
              <a:rPr sz="1800" b="0" i="0">
                <a:solidFill>
                  <a:srgbClr val="1A2B3C"/>
                </a:solidFill>
                <a:latin typeface="Arial"/>
              </a:rPr>
              <a:t>■  Wet conditions: drastically reduce body &amp; equipment insulation — reassess hot work</a:t>
            </a:r>
          </a:p>
          <a:p>
            <a:pPr algn="l">
              <a:lnSpc>
                <a:spcPct val="105000"/>
              </a:lnSpc>
              <a:spcBef>
                <a:spcPts val="700"/>
              </a:spcBef>
              <a:spcAft>
                <a:spcPts val="200"/>
              </a:spcAft>
            </a:pPr>
            <a:r>
              <a:rPr sz="1800" b="0" i="0">
                <a:solidFill>
                  <a:srgbClr val="1A2B3C"/>
                </a:solidFill>
                <a:latin typeface="Arial"/>
              </a:rPr>
              <a:t>■  Heat/cold: fatigue and impaired judgment are hazards in themselves — hydrate, rotate</a:t>
            </a:r>
          </a:p>
          <a:p>
            <a:pPr algn="l">
              <a:lnSpc>
                <a:spcPct val="105000"/>
              </a:lnSpc>
              <a:spcBef>
                <a:spcPts val="700"/>
              </a:spcBef>
              <a:spcAft>
                <a:spcPts val="200"/>
              </a:spcAft>
            </a:pPr>
            <a:r>
              <a:rPr sz="1800" b="0" i="0">
                <a:solidFill>
                  <a:srgbClr val="1A2B3C"/>
                </a:solidFill>
                <a:latin typeface="Arial"/>
              </a:rPr>
              <a:t>■  Ice/snow loading: added conductor weight and slip hazards</a:t>
            </a:r>
          </a:p>
          <a:p>
            <a:pPr algn="l">
              <a:lnSpc>
                <a:spcPct val="105000"/>
              </a:lnSpc>
              <a:spcBef>
                <a:spcPts val="700"/>
              </a:spcBef>
              <a:spcAft>
                <a:spcPts val="200"/>
              </a:spcAft>
            </a:pPr>
            <a:r>
              <a:rPr sz="1800" b="0" i="0">
                <a:solidFill>
                  <a:srgbClr val="1A2B3C"/>
                </a:solidFill>
                <a:latin typeface="Arial"/>
              </a:rPr>
              <a:t>■  Public protection: barricades, signage, traffic control; keep bystanders clear of downed lines</a:t>
            </a:r>
          </a:p>
          <a:p>
            <a:pPr algn="l">
              <a:lnSpc>
                <a:spcPct val="105000"/>
              </a:lnSpc>
              <a:spcBef>
                <a:spcPts val="700"/>
              </a:spcBef>
              <a:spcAft>
                <a:spcPts val="200"/>
              </a:spcAft>
            </a:pPr>
            <a:r>
              <a:rPr sz="1800" b="0" i="0">
                <a:solidFill>
                  <a:srgbClr val="1A2B3C"/>
                </a:solidFill>
                <a:latin typeface="Arial"/>
              </a:rPr>
              <a:t>■  Wildlife &amp; vegetation: animals cause faults; trees create clearance &amp; contact hazards</a:t>
            </a:r>
          </a:p>
        </p:txBody>
      </p:sp>
      <p:sp>
        <p:nvSpPr>
          <p:cNvPr id="8" name="Rectangle 7"/>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5 — In the Field</a:t>
            </a:r>
          </a:p>
        </p:txBody>
      </p:sp>
      <p:sp>
        <p:nvSpPr>
          <p:cNvPr id="10" name="TextBox 9"/>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87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ILLUSTRATED</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The Tailboard Briefing</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ig_tailboard.png"/>
          <p:cNvPicPr>
            <a:picLocks noChangeAspect="1"/>
          </p:cNvPicPr>
          <p:nvPr/>
        </p:nvPicPr>
        <p:blipFill>
          <a:blip r:embed="rId2"/>
          <a:stretch>
            <a:fillRect/>
          </a:stretch>
        </p:blipFill>
        <p:spPr>
          <a:xfrm>
            <a:off x="3573305" y="1783080"/>
            <a:ext cx="5042341" cy="3703320"/>
          </a:xfrm>
          <a:prstGeom prst="rect">
            <a:avLst/>
          </a:prstGeom>
        </p:spPr>
      </p:pic>
      <p:sp>
        <p:nvSpPr>
          <p:cNvPr id="8" name="TextBox 7"/>
          <p:cNvSpPr txBox="1"/>
          <p:nvPr/>
        </p:nvSpPr>
        <p:spPr>
          <a:xfrm>
            <a:off x="822960" y="5650992"/>
            <a:ext cx="10515600" cy="640080"/>
          </a:xfrm>
          <a:prstGeom prst="rect">
            <a:avLst/>
          </a:prstGeom>
          <a:noFill/>
        </p:spPr>
        <p:txBody>
          <a:bodyPr wrap="square" anchor="t" lIns="0" rIns="0" tIns="0" bIns="0">
            <a:spAutoFit/>
          </a:bodyPr>
          <a:lstStyle/>
          <a:p>
            <a:pPr algn="ctr">
              <a:lnSpc>
                <a:spcPct val="118000"/>
              </a:lnSpc>
              <a:spcBef>
                <a:spcPts val="400"/>
              </a:spcBef>
              <a:spcAft>
                <a:spcPts val="400"/>
              </a:spcAft>
            </a:pPr>
            <a:r>
              <a:rPr sz="1300" b="0" i="1">
                <a:solidFill>
                  <a:srgbClr val="5B6B7B"/>
                </a:solidFill>
                <a:latin typeface="Arial"/>
              </a:rPr>
              <a:t>The crew briefing aligns everyone: hazards, procedures, controls, PPE, roles, and rescue.</a:t>
            </a:r>
          </a:p>
        </p:txBody>
      </p:sp>
      <p:sp>
        <p:nvSpPr>
          <p:cNvPr id="9" name="Rectangle 8"/>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5 — In the Field</a:t>
            </a:r>
          </a:p>
        </p:txBody>
      </p:sp>
      <p:sp>
        <p:nvSpPr>
          <p:cNvPr id="11" name="TextBox 10"/>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88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ILLUSTRATED</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Switching &amp; the Clearance</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ig_switching.png"/>
          <p:cNvPicPr>
            <a:picLocks noChangeAspect="1"/>
          </p:cNvPicPr>
          <p:nvPr/>
        </p:nvPicPr>
        <p:blipFill>
          <a:blip r:embed="rId2"/>
          <a:stretch>
            <a:fillRect/>
          </a:stretch>
        </p:blipFill>
        <p:spPr>
          <a:xfrm>
            <a:off x="1013701" y="1783080"/>
            <a:ext cx="10161548" cy="3703320"/>
          </a:xfrm>
          <a:prstGeom prst="rect">
            <a:avLst/>
          </a:prstGeom>
        </p:spPr>
      </p:pic>
      <p:sp>
        <p:nvSpPr>
          <p:cNvPr id="8" name="TextBox 7"/>
          <p:cNvSpPr txBox="1"/>
          <p:nvPr/>
        </p:nvSpPr>
        <p:spPr>
          <a:xfrm>
            <a:off x="822960" y="5650992"/>
            <a:ext cx="10515600" cy="640080"/>
          </a:xfrm>
          <a:prstGeom prst="rect">
            <a:avLst/>
          </a:prstGeom>
          <a:noFill/>
        </p:spPr>
        <p:txBody>
          <a:bodyPr wrap="square" anchor="t" lIns="0" rIns="0" tIns="0" bIns="0">
            <a:spAutoFit/>
          </a:bodyPr>
          <a:lstStyle/>
          <a:p>
            <a:pPr algn="ctr">
              <a:lnSpc>
                <a:spcPct val="118000"/>
              </a:lnSpc>
              <a:spcBef>
                <a:spcPts val="400"/>
              </a:spcBef>
              <a:spcAft>
                <a:spcPts val="400"/>
              </a:spcAft>
            </a:pPr>
            <a:r>
              <a:rPr sz="1300" b="0" i="1">
                <a:solidFill>
                  <a:srgbClr val="5B6B7B"/>
                </a:solidFill>
                <a:latin typeface="Arial"/>
              </a:rPr>
              <a:t>A clearance isolates the work zone: open, locked, tagged, tested dead, and grounded on every side.</a:t>
            </a:r>
          </a:p>
        </p:txBody>
      </p:sp>
      <p:sp>
        <p:nvSpPr>
          <p:cNvPr id="9" name="Rectangle 8"/>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5 — In the Field</a:t>
            </a:r>
          </a:p>
        </p:txBody>
      </p:sp>
      <p:sp>
        <p:nvSpPr>
          <p:cNvPr id="11" name="TextBox 10"/>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89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ILLUSTRATED</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Pole-Top Rescue</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ig_rescue.png"/>
          <p:cNvPicPr>
            <a:picLocks noChangeAspect="1"/>
          </p:cNvPicPr>
          <p:nvPr/>
        </p:nvPicPr>
        <p:blipFill>
          <a:blip r:embed="rId2"/>
          <a:stretch>
            <a:fillRect/>
          </a:stretch>
        </p:blipFill>
        <p:spPr>
          <a:xfrm>
            <a:off x="3573305" y="1783080"/>
            <a:ext cx="5042341" cy="3703320"/>
          </a:xfrm>
          <a:prstGeom prst="rect">
            <a:avLst/>
          </a:prstGeom>
        </p:spPr>
      </p:pic>
      <p:sp>
        <p:nvSpPr>
          <p:cNvPr id="8" name="TextBox 7"/>
          <p:cNvSpPr txBox="1"/>
          <p:nvPr/>
        </p:nvSpPr>
        <p:spPr>
          <a:xfrm>
            <a:off x="822960" y="5650992"/>
            <a:ext cx="10515600" cy="640080"/>
          </a:xfrm>
          <a:prstGeom prst="rect">
            <a:avLst/>
          </a:prstGeom>
          <a:noFill/>
        </p:spPr>
        <p:txBody>
          <a:bodyPr wrap="square" anchor="t" lIns="0" rIns="0" tIns="0" bIns="0">
            <a:spAutoFit/>
          </a:bodyPr>
          <a:lstStyle/>
          <a:p>
            <a:pPr algn="ctr">
              <a:lnSpc>
                <a:spcPct val="118000"/>
              </a:lnSpc>
              <a:spcBef>
                <a:spcPts val="400"/>
              </a:spcBef>
              <a:spcAft>
                <a:spcPts val="400"/>
              </a:spcAft>
            </a:pPr>
            <a:r>
              <a:rPr sz="1300" b="0" i="1">
                <a:solidFill>
                  <a:srgbClr val="5B6B7B"/>
                </a:solidFill>
                <a:latin typeface="Arial"/>
              </a:rPr>
              <a:t>Remove the source first, lower the patient, start CPR &amp; AED — never become the second victim.</a:t>
            </a:r>
          </a:p>
        </p:txBody>
      </p:sp>
      <p:sp>
        <p:nvSpPr>
          <p:cNvPr id="9" name="Rectangle 8"/>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5 — In the Field</a:t>
            </a:r>
          </a:p>
        </p:txBody>
      </p:sp>
      <p:sp>
        <p:nvSpPr>
          <p:cNvPr id="11" name="TextBox 10"/>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90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MODULE 5 RECAP</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Module 5 — Key Takeaways</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783080"/>
            <a:ext cx="10927080" cy="4160520"/>
          </a:xfrm>
          <a:prstGeom prst="rect">
            <a:avLst/>
          </a:prstGeom>
          <a:noFill/>
        </p:spPr>
        <p:txBody>
          <a:bodyPr wrap="square" anchor="t" lIns="0" rIns="0" tIns="0" bIns="0">
            <a:spAutoFit/>
          </a:bodyPr>
          <a:lstStyle/>
          <a:p>
            <a:pPr algn="l">
              <a:lnSpc>
                <a:spcPct val="105000"/>
              </a:lnSpc>
              <a:spcBef>
                <a:spcPts val="700"/>
              </a:spcBef>
              <a:spcAft>
                <a:spcPts val="200"/>
              </a:spcAft>
            </a:pPr>
            <a:r>
              <a:rPr sz="1800" b="0" i="0">
                <a:solidFill>
                  <a:srgbClr val="1A2B3C"/>
                </a:solidFill>
                <a:latin typeface="Arial"/>
              </a:rPr>
              <a:t>■  Plan the job — and the rescue — before boots leave the truck</a:t>
            </a:r>
          </a:p>
          <a:p>
            <a:pPr algn="l">
              <a:lnSpc>
                <a:spcPct val="105000"/>
              </a:lnSpc>
              <a:spcBef>
                <a:spcPts val="700"/>
              </a:spcBef>
              <a:spcAft>
                <a:spcPts val="200"/>
              </a:spcAft>
            </a:pPr>
            <a:r>
              <a:rPr sz="1800" b="0" i="0">
                <a:solidFill>
                  <a:srgbClr val="1A2B3C"/>
                </a:solidFill>
                <a:latin typeface="Arial"/>
              </a:rPr>
              <a:t>■  A JSA pairs every step with its hazards and controls, and updates when things change</a:t>
            </a:r>
          </a:p>
          <a:p>
            <a:pPr algn="l">
              <a:lnSpc>
                <a:spcPct val="105000"/>
              </a:lnSpc>
              <a:spcBef>
                <a:spcPts val="700"/>
              </a:spcBef>
              <a:spcAft>
                <a:spcPts val="200"/>
              </a:spcAft>
            </a:pPr>
            <a:r>
              <a:rPr sz="1800" b="0" i="0">
                <a:solidFill>
                  <a:srgbClr val="1A2B3C"/>
                </a:solidFill>
                <a:latin typeface="Arial"/>
              </a:rPr>
              <a:t>■  The tailboard puts the plan in everyone's head: hazards, procedures, controls, PPE, roles</a:t>
            </a:r>
          </a:p>
          <a:p>
            <a:pPr algn="l">
              <a:lnSpc>
                <a:spcPct val="105000"/>
              </a:lnSpc>
              <a:spcBef>
                <a:spcPts val="700"/>
              </a:spcBef>
              <a:spcAft>
                <a:spcPts val="200"/>
              </a:spcAft>
            </a:pPr>
            <a:r>
              <a:rPr sz="1800" b="0" i="0">
                <a:solidFill>
                  <a:srgbClr val="1A2B3C"/>
                </a:solidFill>
                <a:latin typeface="Arial"/>
              </a:rPr>
              <a:t>■  Define roles and use disciplined, three-way communication</a:t>
            </a:r>
          </a:p>
          <a:p>
            <a:pPr algn="l">
              <a:lnSpc>
                <a:spcPct val="105000"/>
              </a:lnSpc>
              <a:spcBef>
                <a:spcPts val="700"/>
              </a:spcBef>
              <a:spcAft>
                <a:spcPts val="200"/>
              </a:spcAft>
            </a:pPr>
            <a:r>
              <a:rPr sz="1800" b="0" i="0">
                <a:solidFill>
                  <a:srgbClr val="1A2B3C"/>
                </a:solidFill>
                <a:latin typeface="Arial"/>
              </a:rPr>
              <a:t>■  Everyone has stop-work authority — and the obligation to use it</a:t>
            </a:r>
          </a:p>
          <a:p>
            <a:pPr algn="l">
              <a:lnSpc>
                <a:spcPct val="105000"/>
              </a:lnSpc>
              <a:spcBef>
                <a:spcPts val="700"/>
              </a:spcBef>
              <a:spcAft>
                <a:spcPts val="200"/>
              </a:spcAft>
            </a:pPr>
            <a:r>
              <a:rPr sz="1800" b="0" i="0">
                <a:solidFill>
                  <a:srgbClr val="1A2B3C"/>
                </a:solidFill>
                <a:latin typeface="Arial"/>
              </a:rPr>
              <a:t>■  Rescue first protects the rescuer; after any contact, get medical evaluation</a:t>
            </a:r>
          </a:p>
        </p:txBody>
      </p:sp>
      <p:sp>
        <p:nvSpPr>
          <p:cNvPr id="8" name="Rectangle 7"/>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5 — In the Field</a:t>
            </a:r>
          </a:p>
        </p:txBody>
      </p:sp>
      <p:sp>
        <p:nvSpPr>
          <p:cNvPr id="10" name="TextBox 9"/>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91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a:gsLst>
              <a:gs pos="0">
                <a:srgbClr val="0B2545"/>
              </a:gs>
              <a:gs pos="100000">
                <a:srgbClr val="071830"/>
              </a:gs>
            </a:gsLst>
            <a:lin ang="27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371600"/>
            <a:ext cx="3840480" cy="2926080"/>
          </a:xfrm>
          <a:prstGeom prst="rect">
            <a:avLst/>
          </a:prstGeom>
          <a:noFill/>
        </p:spPr>
        <p:txBody>
          <a:bodyPr wrap="square" anchor="ctr" lIns="0" rIns="0" tIns="0" bIns="0">
            <a:spAutoFit/>
          </a:bodyPr>
          <a:lstStyle/>
          <a:p>
            <a:pPr algn="l">
              <a:lnSpc>
                <a:spcPct val="105000"/>
              </a:lnSpc>
              <a:spcBef>
                <a:spcPts val="400"/>
              </a:spcBef>
              <a:spcAft>
                <a:spcPts val="0"/>
              </a:spcAft>
            </a:pPr>
            <a:r>
              <a:rPr sz="1800" b="1" i="0">
                <a:solidFill>
                  <a:srgbClr val="F5B100"/>
                </a:solidFill>
                <a:latin typeface="Arial"/>
              </a:rPr>
              <a:t>MODULE</a:t>
            </a:r>
          </a:p>
          <a:p>
            <a:pPr algn="l">
              <a:lnSpc>
                <a:spcPct val="90000"/>
              </a:lnSpc>
              <a:spcBef>
                <a:spcPts val="0"/>
              </a:spcBef>
              <a:spcAft>
                <a:spcPts val="400"/>
              </a:spcAft>
            </a:pPr>
            <a:r>
              <a:rPr sz="15000" b="1" i="0">
                <a:solidFill>
                  <a:srgbClr val="FFFFFF"/>
                </a:solidFill>
                <a:latin typeface="Arial"/>
              </a:rPr>
              <a:t>6</a:t>
            </a:r>
          </a:p>
        </p:txBody>
      </p:sp>
      <p:sp>
        <p:nvSpPr>
          <p:cNvPr id="5" name="Rectangle 4"/>
          <p:cNvSpPr/>
          <p:nvPr/>
        </p:nvSpPr>
        <p:spPr>
          <a:xfrm>
            <a:off x="4800600" y="1554480"/>
            <a:ext cx="36576" cy="3657600"/>
          </a:xfrm>
          <a:prstGeom prst="rect">
            <a:avLst/>
          </a:prstGeom>
          <a:solidFill>
            <a:srgbClr val="2A47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12080" y="1691640"/>
            <a:ext cx="6400800" cy="1463040"/>
          </a:xfrm>
          <a:prstGeom prst="rect">
            <a:avLst/>
          </a:prstGeom>
          <a:noFill/>
        </p:spPr>
        <p:txBody>
          <a:bodyPr wrap="square" anchor="t" lIns="0" rIns="0" tIns="0" bIns="0">
            <a:spAutoFit/>
          </a:bodyPr>
          <a:lstStyle/>
          <a:p>
            <a:pPr algn="l">
              <a:lnSpc>
                <a:spcPct val="100000"/>
              </a:lnSpc>
              <a:spcBef>
                <a:spcPts val="400"/>
              </a:spcBef>
              <a:spcAft>
                <a:spcPts val="400"/>
              </a:spcAft>
            </a:pPr>
            <a:r>
              <a:rPr sz="3400" b="1" i="0">
                <a:solidFill>
                  <a:srgbClr val="FFFFFF"/>
                </a:solidFill>
                <a:latin typeface="Arial"/>
              </a:rPr>
              <a:t>Regulations &amp; Standards</a:t>
            </a:r>
          </a:p>
        </p:txBody>
      </p:sp>
      <p:sp>
        <p:nvSpPr>
          <p:cNvPr id="7" name="Rectangle 6"/>
          <p:cNvSpPr/>
          <p:nvPr/>
        </p:nvSpPr>
        <p:spPr>
          <a:xfrm>
            <a:off x="5230368" y="3063240"/>
            <a:ext cx="1371600" cy="4572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212080" y="3337560"/>
            <a:ext cx="6400800" cy="2926080"/>
          </a:xfrm>
          <a:prstGeom prst="rect">
            <a:avLst/>
          </a:prstGeom>
          <a:noFill/>
        </p:spPr>
        <p:txBody>
          <a:bodyPr wrap="square" anchor="t" lIns="0" rIns="0" tIns="0" bIns="0">
            <a:spAutoFit/>
          </a:bodyPr>
          <a:lstStyle/>
          <a:p>
            <a:pPr algn="l">
              <a:lnSpc>
                <a:spcPct val="105000"/>
              </a:lnSpc>
              <a:spcBef>
                <a:spcPts val="600"/>
              </a:spcBef>
              <a:spcAft>
                <a:spcPts val="600"/>
              </a:spcAft>
            </a:pPr>
            <a:r>
              <a:rPr sz="1600" b="0" i="0">
                <a:solidFill>
                  <a:srgbClr val="CFDCEC"/>
                </a:solidFill>
                <a:latin typeface="Arial"/>
              </a:rPr>
              <a:t>—  OSHA 1910.269 &amp; 1926 Subpart V</a:t>
            </a:r>
          </a:p>
          <a:p>
            <a:pPr algn="l">
              <a:lnSpc>
                <a:spcPct val="105000"/>
              </a:lnSpc>
              <a:spcBef>
                <a:spcPts val="600"/>
              </a:spcBef>
              <a:spcAft>
                <a:spcPts val="600"/>
              </a:spcAft>
            </a:pPr>
            <a:r>
              <a:rPr sz="1600" b="0" i="0">
                <a:solidFill>
                  <a:srgbClr val="CFDCEC"/>
                </a:solidFill>
                <a:latin typeface="Arial"/>
              </a:rPr>
              <a:t>—  The National Electrical Safety Code (NESC)</a:t>
            </a:r>
          </a:p>
          <a:p>
            <a:pPr algn="l">
              <a:lnSpc>
                <a:spcPct val="105000"/>
              </a:lnSpc>
              <a:spcBef>
                <a:spcPts val="600"/>
              </a:spcBef>
              <a:spcAft>
                <a:spcPts val="600"/>
              </a:spcAft>
            </a:pPr>
            <a:r>
              <a:rPr sz="1600" b="0" i="0">
                <a:solidFill>
                  <a:srgbClr val="CFDCEC"/>
                </a:solidFill>
                <a:latin typeface="Arial"/>
              </a:rPr>
              <a:t>—  ASTM &amp; IEEE equipment standards</a:t>
            </a:r>
          </a:p>
          <a:p>
            <a:pPr algn="l">
              <a:lnSpc>
                <a:spcPct val="105000"/>
              </a:lnSpc>
              <a:spcBef>
                <a:spcPts val="600"/>
              </a:spcBef>
              <a:spcAft>
                <a:spcPts val="600"/>
              </a:spcAft>
            </a:pPr>
            <a:r>
              <a:rPr sz="1600" b="0" i="0">
                <a:solidFill>
                  <a:srgbClr val="CFDCEC"/>
                </a:solidFill>
                <a:latin typeface="Arial"/>
              </a:rPr>
              <a:t>—  Qualification &amp; apprenticeship</a:t>
            </a:r>
          </a:p>
          <a:p>
            <a:pPr algn="l">
              <a:lnSpc>
                <a:spcPct val="105000"/>
              </a:lnSpc>
              <a:spcBef>
                <a:spcPts val="600"/>
              </a:spcBef>
              <a:spcAft>
                <a:spcPts val="600"/>
              </a:spcAft>
            </a:pPr>
            <a:r>
              <a:rPr sz="1600" b="0" i="0">
                <a:solidFill>
                  <a:srgbClr val="CFDCEC"/>
                </a:solidFill>
                <a:latin typeface="Arial"/>
              </a:rPr>
              <a:t>—  Recordkeeping &amp; program duties</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6.1 WHY REGS</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Why Regulations Exist — and Why You Should Know Them</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783080"/>
            <a:ext cx="10927080" cy="4160520"/>
          </a:xfrm>
          <a:prstGeom prst="rect">
            <a:avLst/>
          </a:prstGeom>
          <a:noFill/>
        </p:spPr>
        <p:txBody>
          <a:bodyPr wrap="square" anchor="t" lIns="0" rIns="0" tIns="0" bIns="0">
            <a:spAutoFit/>
          </a:bodyPr>
          <a:lstStyle/>
          <a:p>
            <a:pPr algn="l">
              <a:lnSpc>
                <a:spcPct val="105000"/>
              </a:lnSpc>
              <a:spcBef>
                <a:spcPts val="700"/>
              </a:spcBef>
              <a:spcAft>
                <a:spcPts val="200"/>
              </a:spcAft>
            </a:pPr>
            <a:r>
              <a:rPr sz="1800" b="0" i="0">
                <a:solidFill>
                  <a:srgbClr val="1A2B3C"/>
                </a:solidFill>
                <a:latin typeface="Arial"/>
              </a:rPr>
              <a:t>■  Every safe-work rule in this course is backed by a regulation or consensus standard</a:t>
            </a:r>
          </a:p>
          <a:p>
            <a:pPr algn="l">
              <a:lnSpc>
                <a:spcPct val="105000"/>
              </a:lnSpc>
              <a:spcBef>
                <a:spcPts val="700"/>
              </a:spcBef>
              <a:spcAft>
                <a:spcPts val="200"/>
              </a:spcAft>
            </a:pPr>
            <a:r>
              <a:rPr sz="1800" b="0" i="0">
                <a:solidFill>
                  <a:srgbClr val="1A2B3C"/>
                </a:solidFill>
                <a:latin typeface="Arial"/>
              </a:rPr>
              <a:t>■  Regulations set the MINIMUM — your employer's program may be stricter (follow the stricter)</a:t>
            </a:r>
          </a:p>
          <a:p>
            <a:pPr algn="l">
              <a:lnSpc>
                <a:spcPct val="105000"/>
              </a:lnSpc>
              <a:spcBef>
                <a:spcPts val="700"/>
              </a:spcBef>
              <a:spcAft>
                <a:spcPts val="200"/>
              </a:spcAft>
            </a:pPr>
            <a:r>
              <a:rPr sz="1800" b="0" i="0">
                <a:solidFill>
                  <a:srgbClr val="1A2B3C"/>
                </a:solidFill>
                <a:latin typeface="Arial"/>
              </a:rPr>
              <a:t>■  Knowing the 'why' and the 'where it's written' makes you a better, safer, more credible worker</a:t>
            </a:r>
          </a:p>
          <a:p>
            <a:pPr algn="l">
              <a:lnSpc>
                <a:spcPct val="105000"/>
              </a:lnSpc>
              <a:spcBef>
                <a:spcPts val="700"/>
              </a:spcBef>
              <a:spcAft>
                <a:spcPts val="200"/>
              </a:spcAft>
            </a:pPr>
            <a:r>
              <a:rPr sz="1800" b="0" i="0">
                <a:solidFill>
                  <a:srgbClr val="1A2B3C"/>
                </a:solidFill>
                <a:latin typeface="Arial"/>
              </a:rPr>
              <a:t>■  The big three for line work:</a:t>
            </a:r>
          </a:p>
          <a:p>
            <a:pPr algn="l" lvl="1">
              <a:lnSpc>
                <a:spcPct val="103000"/>
              </a:lnSpc>
              <a:spcBef>
                <a:spcPts val="200"/>
              </a:spcBef>
              <a:spcAft>
                <a:spcPts val="200"/>
              </a:spcAft>
            </a:pPr>
            <a:r>
              <a:rPr sz="1500" b="0" i="0">
                <a:solidFill>
                  <a:srgbClr val="334455"/>
                </a:solidFill>
                <a:latin typeface="Arial"/>
              </a:rPr>
              <a:t>–  OSHA — federal law: how the work must be done safely (enforceable)</a:t>
            </a:r>
          </a:p>
          <a:p>
            <a:pPr algn="l" lvl="1">
              <a:lnSpc>
                <a:spcPct val="103000"/>
              </a:lnSpc>
              <a:spcBef>
                <a:spcPts val="200"/>
              </a:spcBef>
              <a:spcAft>
                <a:spcPts val="200"/>
              </a:spcAft>
            </a:pPr>
            <a:r>
              <a:rPr sz="1500" b="0" i="0">
                <a:solidFill>
                  <a:srgbClr val="334455"/>
                </a:solidFill>
                <a:latin typeface="Arial"/>
              </a:rPr>
              <a:t>–  NESC (IEEE C2) — how the system is built, spaced, and maintained</a:t>
            </a:r>
          </a:p>
          <a:p>
            <a:pPr algn="l" lvl="1">
              <a:lnSpc>
                <a:spcPct val="103000"/>
              </a:lnSpc>
              <a:spcBef>
                <a:spcPts val="200"/>
              </a:spcBef>
              <a:spcAft>
                <a:spcPts val="200"/>
              </a:spcAft>
            </a:pPr>
            <a:r>
              <a:rPr sz="1500" b="0" i="0">
                <a:solidFill>
                  <a:srgbClr val="334455"/>
                </a:solidFill>
                <a:latin typeface="Arial"/>
              </a:rPr>
              <a:t>–  ASTM / IEEE / ANSI — how the tools and PPE are made, rated, and tested</a:t>
            </a:r>
          </a:p>
          <a:p>
            <a:pPr algn="l">
              <a:lnSpc>
                <a:spcPct val="105000"/>
              </a:lnSpc>
              <a:spcBef>
                <a:spcPts val="700"/>
              </a:spcBef>
              <a:spcAft>
                <a:spcPts val="200"/>
              </a:spcAft>
            </a:pPr>
            <a:r>
              <a:rPr sz="1800" b="0" i="0">
                <a:solidFill>
                  <a:srgbClr val="1A2B3C"/>
                </a:solidFill>
                <a:latin typeface="Arial"/>
              </a:rPr>
              <a:t>■  Compliance is the floor; the goal is everyone home safe — which often means going beyond the floor</a:t>
            </a:r>
          </a:p>
        </p:txBody>
      </p:sp>
      <p:sp>
        <p:nvSpPr>
          <p:cNvPr id="8" name="Rectangle 7"/>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6 — Regulations &amp; Standards</a:t>
            </a:r>
          </a:p>
        </p:txBody>
      </p:sp>
      <p:sp>
        <p:nvSpPr>
          <p:cNvPr id="10" name="TextBox 9"/>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93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6.2 OSHA 1910.269</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OSHA 1910.269 — Electric Power Generation, Transmission &amp; Distribution</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27632"/>
            <a:ext cx="10881360" cy="548640"/>
          </a:xfrm>
          <a:prstGeom prst="rect">
            <a:avLst/>
          </a:prstGeom>
          <a:noFill/>
        </p:spPr>
        <p:txBody>
          <a:bodyPr wrap="square" anchor="t" lIns="0" rIns="0" tIns="0" bIns="0">
            <a:spAutoFit/>
          </a:bodyPr>
          <a:lstStyle/>
          <a:p>
            <a:pPr algn="l">
              <a:lnSpc>
                <a:spcPct val="105000"/>
              </a:lnSpc>
              <a:spcBef>
                <a:spcPts val="400"/>
              </a:spcBef>
              <a:spcAft>
                <a:spcPts val="400"/>
              </a:spcAft>
            </a:pPr>
            <a:r>
              <a:rPr sz="1550" b="0" i="1">
                <a:solidFill>
                  <a:srgbClr val="5B6B7B"/>
                </a:solidFill>
                <a:latin typeface="Arial"/>
              </a:rPr>
              <a:t>If you read one regulation cover to cover, make it this one.</a:t>
            </a:r>
          </a:p>
        </p:txBody>
      </p:sp>
      <p:sp>
        <p:nvSpPr>
          <p:cNvPr id="8" name="TextBox 7"/>
          <p:cNvSpPr txBox="1"/>
          <p:nvPr/>
        </p:nvSpPr>
        <p:spPr>
          <a:xfrm>
            <a:off x="658368" y="2240280"/>
            <a:ext cx="10927080" cy="3703320"/>
          </a:xfrm>
          <a:prstGeom prst="rect">
            <a:avLst/>
          </a:prstGeom>
          <a:noFill/>
        </p:spPr>
        <p:txBody>
          <a:bodyPr wrap="square" anchor="t" lIns="0" rIns="0" tIns="0" bIns="0">
            <a:spAutoFit/>
          </a:bodyPr>
          <a:lstStyle/>
          <a:p>
            <a:pPr algn="l">
              <a:lnSpc>
                <a:spcPct val="105000"/>
              </a:lnSpc>
              <a:spcBef>
                <a:spcPts val="700"/>
              </a:spcBef>
              <a:spcAft>
                <a:spcPts val="200"/>
              </a:spcAft>
            </a:pPr>
            <a:r>
              <a:rPr sz="1800" b="0" i="0">
                <a:solidFill>
                  <a:srgbClr val="1A2B3C"/>
                </a:solidFill>
                <a:latin typeface="Arial"/>
              </a:rPr>
              <a:t>■  The primary OSHA standard for operating &amp; maintaining electric power systems (general industry)</a:t>
            </a:r>
          </a:p>
          <a:p>
            <a:pPr algn="l">
              <a:lnSpc>
                <a:spcPct val="105000"/>
              </a:lnSpc>
              <a:spcBef>
                <a:spcPts val="700"/>
              </a:spcBef>
              <a:spcAft>
                <a:spcPts val="200"/>
              </a:spcAft>
            </a:pPr>
            <a:r>
              <a:rPr sz="1800" b="0" i="0">
                <a:solidFill>
                  <a:srgbClr val="1A2B3C"/>
                </a:solidFill>
                <a:latin typeface="Arial"/>
              </a:rPr>
              <a:t>■  Key provisions every lineworker should know:</a:t>
            </a:r>
          </a:p>
          <a:p>
            <a:pPr algn="l" lvl="1">
              <a:lnSpc>
                <a:spcPct val="103000"/>
              </a:lnSpc>
              <a:spcBef>
                <a:spcPts val="200"/>
              </a:spcBef>
              <a:spcAft>
                <a:spcPts val="200"/>
              </a:spcAft>
            </a:pPr>
            <a:r>
              <a:rPr sz="1500" b="0" i="0">
                <a:solidFill>
                  <a:srgbClr val="334455"/>
                </a:solidFill>
                <a:latin typeface="Arial"/>
              </a:rPr>
              <a:t>–  (a) Training &amp; qualified-employee requirements</a:t>
            </a:r>
          </a:p>
          <a:p>
            <a:pPr algn="l" lvl="1">
              <a:lnSpc>
                <a:spcPct val="103000"/>
              </a:lnSpc>
              <a:spcBef>
                <a:spcPts val="200"/>
              </a:spcBef>
              <a:spcAft>
                <a:spcPts val="200"/>
              </a:spcAft>
            </a:pPr>
            <a:r>
              <a:rPr sz="1500" b="0" i="0">
                <a:solidFill>
                  <a:srgbClr val="334455"/>
                </a:solidFill>
                <a:latin typeface="Arial"/>
              </a:rPr>
              <a:t>–  (c) Job briefings (the tailboard) — required content and frequency</a:t>
            </a:r>
          </a:p>
          <a:p>
            <a:pPr algn="l" lvl="1">
              <a:lnSpc>
                <a:spcPct val="103000"/>
              </a:lnSpc>
              <a:spcBef>
                <a:spcPts val="200"/>
              </a:spcBef>
              <a:spcAft>
                <a:spcPts val="200"/>
              </a:spcAft>
            </a:pPr>
            <a:r>
              <a:rPr sz="1500" b="0" i="0">
                <a:solidFill>
                  <a:srgbClr val="334455"/>
                </a:solidFill>
                <a:latin typeface="Arial"/>
              </a:rPr>
              <a:t>–  (l) Working on or near energized parts; minimum approach distances (Tables R-3 / R-6)</a:t>
            </a:r>
          </a:p>
          <a:p>
            <a:pPr algn="l" lvl="1">
              <a:lnSpc>
                <a:spcPct val="103000"/>
              </a:lnSpc>
              <a:spcBef>
                <a:spcPts val="200"/>
              </a:spcBef>
              <a:spcAft>
                <a:spcPts val="200"/>
              </a:spcAft>
            </a:pPr>
            <a:r>
              <a:rPr sz="1500" b="0" i="0">
                <a:solidFill>
                  <a:srgbClr val="334455"/>
                </a:solidFill>
                <a:latin typeface="Arial"/>
              </a:rPr>
              <a:t>–  (m) De-energizing lines &amp; equipment</a:t>
            </a:r>
          </a:p>
          <a:p>
            <a:pPr algn="l" lvl="1">
              <a:lnSpc>
                <a:spcPct val="103000"/>
              </a:lnSpc>
              <a:spcBef>
                <a:spcPts val="200"/>
              </a:spcBef>
              <a:spcAft>
                <a:spcPts val="200"/>
              </a:spcAft>
            </a:pPr>
            <a:r>
              <a:rPr sz="1500" b="0" i="0">
                <a:solidFill>
                  <a:srgbClr val="334455"/>
                </a:solidFill>
                <a:latin typeface="Arial"/>
              </a:rPr>
              <a:t>–  (n) Grounding for the protection of employees</a:t>
            </a:r>
          </a:p>
          <a:p>
            <a:pPr algn="l" lvl="1">
              <a:lnSpc>
                <a:spcPct val="103000"/>
              </a:lnSpc>
              <a:spcBef>
                <a:spcPts val="200"/>
              </a:spcBef>
              <a:spcAft>
                <a:spcPts val="200"/>
              </a:spcAft>
            </a:pPr>
            <a:r>
              <a:rPr sz="1500" b="0" i="0">
                <a:solidFill>
                  <a:srgbClr val="334455"/>
                </a:solidFill>
                <a:latin typeface="Arial"/>
              </a:rPr>
              <a:t>–  Arc-flash hazard assessment and arc-rated apparel requirements</a:t>
            </a:r>
          </a:p>
          <a:p>
            <a:pPr algn="l">
              <a:lnSpc>
                <a:spcPct val="105000"/>
              </a:lnSpc>
              <a:spcBef>
                <a:spcPts val="700"/>
              </a:spcBef>
              <a:spcAft>
                <a:spcPts val="200"/>
              </a:spcAft>
            </a:pPr>
            <a:r>
              <a:rPr sz="1800" b="0" i="0">
                <a:solidFill>
                  <a:srgbClr val="1A2B3C"/>
                </a:solidFill>
                <a:latin typeface="Arial"/>
              </a:rPr>
              <a:t>■  Companion construction standard: 29 CFR 1926 Subpart V (power transmission &amp; distribution)</a:t>
            </a:r>
          </a:p>
        </p:txBody>
      </p:sp>
      <p:sp>
        <p:nvSpPr>
          <p:cNvPr id="9" name="Rectangle 8"/>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6 — Regulations &amp; Standards</a:t>
            </a:r>
          </a:p>
        </p:txBody>
      </p:sp>
      <p:sp>
        <p:nvSpPr>
          <p:cNvPr id="11" name="TextBox 10"/>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94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6.2 SCOPE</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OSHA 1910.269 vs 1926 Subpart V</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783080"/>
            <a:ext cx="5349240" cy="4297680"/>
          </a:xfrm>
          <a:prstGeom prst="roundRect">
            <a:avLst/>
          </a:prstGeom>
          <a:solidFill>
            <a:srgbClr val="EEF2F7"/>
          </a:solidFill>
          <a:ln w="12700">
            <a:solidFill>
              <a:srgbClr val="CF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40080" y="1783080"/>
            <a:ext cx="5349240" cy="566928"/>
          </a:xfrm>
          <a:prstGeom prst="roundRect">
            <a:avLst/>
          </a:prstGeom>
          <a:solidFill>
            <a:srgbClr val="1340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2066543"/>
            <a:ext cx="5349240" cy="283464"/>
          </a:xfrm>
          <a:prstGeom prst="rect">
            <a:avLst/>
          </a:prstGeom>
          <a:solidFill>
            <a:srgbClr val="1340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1837943"/>
            <a:ext cx="4892040" cy="475488"/>
          </a:xfrm>
          <a:prstGeom prst="rect">
            <a:avLst/>
          </a:prstGeom>
          <a:noFill/>
        </p:spPr>
        <p:txBody>
          <a:bodyPr wrap="square" anchor="ctr" lIns="0" rIns="0" tIns="0" bIns="0">
            <a:spAutoFit/>
          </a:bodyPr>
          <a:lstStyle/>
          <a:p>
            <a:pPr algn="l">
              <a:lnSpc>
                <a:spcPct val="105000"/>
              </a:lnSpc>
              <a:spcBef>
                <a:spcPts val="400"/>
              </a:spcBef>
              <a:spcAft>
                <a:spcPts val="400"/>
              </a:spcAft>
            </a:pPr>
            <a:r>
              <a:rPr sz="1600" b="1" i="0">
                <a:solidFill>
                  <a:srgbClr val="FFFFFF"/>
                </a:solidFill>
                <a:latin typeface="Arial"/>
              </a:rPr>
              <a:t>1910.269 (General Industry)</a:t>
            </a:r>
          </a:p>
        </p:txBody>
      </p:sp>
      <p:sp>
        <p:nvSpPr>
          <p:cNvPr id="11" name="TextBox 10"/>
          <p:cNvSpPr txBox="1"/>
          <p:nvPr/>
        </p:nvSpPr>
        <p:spPr>
          <a:xfrm>
            <a:off x="914400" y="2514600"/>
            <a:ext cx="4800600" cy="3383280"/>
          </a:xfrm>
          <a:prstGeom prst="rect">
            <a:avLst/>
          </a:prstGeom>
          <a:noFill/>
        </p:spPr>
        <p:txBody>
          <a:bodyPr wrap="square" anchor="t" lIns="0" rIns="0" tIns="0" bIns="0">
            <a:spAutoFit/>
          </a:bodyPr>
          <a:lstStyle/>
          <a:p>
            <a:pPr algn="l">
              <a:lnSpc>
                <a:spcPct val="103000"/>
              </a:lnSpc>
              <a:spcBef>
                <a:spcPts val="500"/>
              </a:spcBef>
              <a:spcAft>
                <a:spcPts val="200"/>
              </a:spcAft>
            </a:pPr>
            <a:r>
              <a:rPr sz="1400" b="0" i="0">
                <a:solidFill>
                  <a:srgbClr val="1A2B3C"/>
                </a:solidFill>
                <a:latin typeface="Arial"/>
              </a:rPr>
              <a:t>■  Operation &amp; MAINTENANCE of existing power systems</a:t>
            </a:r>
          </a:p>
          <a:p>
            <a:pPr algn="l">
              <a:lnSpc>
                <a:spcPct val="103000"/>
              </a:lnSpc>
              <a:spcBef>
                <a:spcPts val="500"/>
              </a:spcBef>
              <a:spcAft>
                <a:spcPts val="200"/>
              </a:spcAft>
            </a:pPr>
            <a:r>
              <a:rPr sz="1400" b="0" i="0">
                <a:solidFill>
                  <a:srgbClr val="1A2B3C"/>
                </a:solidFill>
                <a:latin typeface="Arial"/>
              </a:rPr>
              <a:t>■  Day-to-day line &amp; substation work</a:t>
            </a:r>
          </a:p>
          <a:p>
            <a:pPr algn="l">
              <a:lnSpc>
                <a:spcPct val="103000"/>
              </a:lnSpc>
              <a:spcBef>
                <a:spcPts val="500"/>
              </a:spcBef>
              <a:spcAft>
                <a:spcPts val="200"/>
              </a:spcAft>
            </a:pPr>
            <a:r>
              <a:rPr sz="1400" b="0" i="0">
                <a:solidFill>
                  <a:srgbClr val="1A2B3C"/>
                </a:solidFill>
                <a:latin typeface="Arial"/>
              </a:rPr>
              <a:t>■  Job briefings, MAD, de-energizing, grounding</a:t>
            </a:r>
          </a:p>
          <a:p>
            <a:pPr algn="l">
              <a:lnSpc>
                <a:spcPct val="103000"/>
              </a:lnSpc>
              <a:spcBef>
                <a:spcPts val="500"/>
              </a:spcBef>
              <a:spcAft>
                <a:spcPts val="200"/>
              </a:spcAft>
            </a:pPr>
            <a:r>
              <a:rPr sz="1400" b="0" i="0">
                <a:solidFill>
                  <a:srgbClr val="1A2B3C"/>
                </a:solidFill>
                <a:latin typeface="Arial"/>
              </a:rPr>
              <a:t>■  Harmonized with Subpart V on key requirements</a:t>
            </a:r>
          </a:p>
        </p:txBody>
      </p:sp>
      <p:sp>
        <p:nvSpPr>
          <p:cNvPr id="12" name="Rounded Rectangle 11"/>
          <p:cNvSpPr/>
          <p:nvPr/>
        </p:nvSpPr>
        <p:spPr>
          <a:xfrm>
            <a:off x="6309359" y="1783080"/>
            <a:ext cx="5349240" cy="4297680"/>
          </a:xfrm>
          <a:prstGeom prst="roundRect">
            <a:avLst/>
          </a:prstGeom>
          <a:solidFill>
            <a:srgbClr val="EEF2F7"/>
          </a:solidFill>
          <a:ln w="12700">
            <a:solidFill>
              <a:srgbClr val="CF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09359" y="1783080"/>
            <a:ext cx="5349240" cy="566928"/>
          </a:xfrm>
          <a:prstGeom prst="roundRect">
            <a:avLst/>
          </a:prstGeom>
          <a:solidFill>
            <a:srgbClr val="3A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59" y="2066543"/>
            <a:ext cx="5349240" cy="283464"/>
          </a:xfrm>
          <a:prstGeom prst="rect">
            <a:avLst/>
          </a:prstGeom>
          <a:solidFill>
            <a:srgbClr val="3A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37959" y="1837943"/>
            <a:ext cx="4892040" cy="475488"/>
          </a:xfrm>
          <a:prstGeom prst="rect">
            <a:avLst/>
          </a:prstGeom>
          <a:noFill/>
        </p:spPr>
        <p:txBody>
          <a:bodyPr wrap="square" anchor="ctr" lIns="0" rIns="0" tIns="0" bIns="0">
            <a:spAutoFit/>
          </a:bodyPr>
          <a:lstStyle/>
          <a:p>
            <a:pPr algn="l">
              <a:lnSpc>
                <a:spcPct val="105000"/>
              </a:lnSpc>
              <a:spcBef>
                <a:spcPts val="400"/>
              </a:spcBef>
              <a:spcAft>
                <a:spcPts val="400"/>
              </a:spcAft>
            </a:pPr>
            <a:r>
              <a:rPr sz="1600" b="1" i="0">
                <a:solidFill>
                  <a:srgbClr val="FFFFFF"/>
                </a:solidFill>
                <a:latin typeface="Arial"/>
              </a:rPr>
              <a:t>1926 Subpart V (Construction)</a:t>
            </a:r>
          </a:p>
        </p:txBody>
      </p:sp>
      <p:sp>
        <p:nvSpPr>
          <p:cNvPr id="16" name="TextBox 15"/>
          <p:cNvSpPr txBox="1"/>
          <p:nvPr/>
        </p:nvSpPr>
        <p:spPr>
          <a:xfrm>
            <a:off x="6583679" y="2514600"/>
            <a:ext cx="4800600" cy="3383280"/>
          </a:xfrm>
          <a:prstGeom prst="rect">
            <a:avLst/>
          </a:prstGeom>
          <a:noFill/>
        </p:spPr>
        <p:txBody>
          <a:bodyPr wrap="square" anchor="t" lIns="0" rIns="0" tIns="0" bIns="0">
            <a:spAutoFit/>
          </a:bodyPr>
          <a:lstStyle/>
          <a:p>
            <a:pPr algn="l">
              <a:lnSpc>
                <a:spcPct val="103000"/>
              </a:lnSpc>
              <a:spcBef>
                <a:spcPts val="500"/>
              </a:spcBef>
              <a:spcAft>
                <a:spcPts val="200"/>
              </a:spcAft>
            </a:pPr>
            <a:r>
              <a:rPr sz="1400" b="0" i="0">
                <a:solidFill>
                  <a:srgbClr val="1A2B3C"/>
                </a:solidFill>
                <a:latin typeface="Arial"/>
              </a:rPr>
              <a:t>■  CONSTRUCTION of power transmission &amp; distribution</a:t>
            </a:r>
          </a:p>
          <a:p>
            <a:pPr algn="l">
              <a:lnSpc>
                <a:spcPct val="103000"/>
              </a:lnSpc>
              <a:spcBef>
                <a:spcPts val="500"/>
              </a:spcBef>
              <a:spcAft>
                <a:spcPts val="200"/>
              </a:spcAft>
            </a:pPr>
            <a:r>
              <a:rPr sz="1400" b="0" i="0">
                <a:solidFill>
                  <a:srgbClr val="1A2B3C"/>
                </a:solidFill>
                <a:latin typeface="Arial"/>
              </a:rPr>
              <a:t>■  Building new lines and major rebuilds</a:t>
            </a:r>
          </a:p>
          <a:p>
            <a:pPr algn="l">
              <a:lnSpc>
                <a:spcPct val="103000"/>
              </a:lnSpc>
              <a:spcBef>
                <a:spcPts val="500"/>
              </a:spcBef>
              <a:spcAft>
                <a:spcPts val="200"/>
              </a:spcAft>
            </a:pPr>
            <a:r>
              <a:rPr sz="1400" b="0" i="0">
                <a:solidFill>
                  <a:srgbClr val="1A2B3C"/>
                </a:solidFill>
                <a:latin typeface="Arial"/>
              </a:rPr>
              <a:t>■  Mirrors 1910.269 on MAD, briefings, grounding</a:t>
            </a:r>
          </a:p>
          <a:p>
            <a:pPr algn="l">
              <a:lnSpc>
                <a:spcPct val="103000"/>
              </a:lnSpc>
              <a:spcBef>
                <a:spcPts val="500"/>
              </a:spcBef>
              <a:spcAft>
                <a:spcPts val="200"/>
              </a:spcAft>
            </a:pPr>
            <a:r>
              <a:rPr sz="1400" b="0" i="0">
                <a:solidFill>
                  <a:srgbClr val="1A2B3C"/>
                </a:solidFill>
                <a:latin typeface="Arial"/>
              </a:rPr>
              <a:t>■  Use the standard that matches the type of work</a:t>
            </a:r>
          </a:p>
        </p:txBody>
      </p:sp>
      <p:sp>
        <p:nvSpPr>
          <p:cNvPr id="17" name="Rectangle 16"/>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6 — Regulations &amp; Standards</a:t>
            </a:r>
          </a:p>
        </p:txBody>
      </p:sp>
      <p:sp>
        <p:nvSpPr>
          <p:cNvPr id="19" name="TextBox 18"/>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95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6.3 NESC</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The National Electrical Safety Code (NESC / IEEE C2)</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783080"/>
            <a:ext cx="10927080" cy="4160520"/>
          </a:xfrm>
          <a:prstGeom prst="rect">
            <a:avLst/>
          </a:prstGeom>
          <a:noFill/>
        </p:spPr>
        <p:txBody>
          <a:bodyPr wrap="square" anchor="t" lIns="0" rIns="0" tIns="0" bIns="0">
            <a:spAutoFit/>
          </a:bodyPr>
          <a:lstStyle/>
          <a:p>
            <a:pPr algn="l">
              <a:lnSpc>
                <a:spcPct val="105000"/>
              </a:lnSpc>
              <a:spcBef>
                <a:spcPts val="700"/>
              </a:spcBef>
              <a:spcAft>
                <a:spcPts val="200"/>
              </a:spcAft>
            </a:pPr>
            <a:r>
              <a:rPr sz="1800" b="0" i="0">
                <a:solidFill>
                  <a:srgbClr val="1A2B3C"/>
                </a:solidFill>
                <a:latin typeface="Arial"/>
              </a:rPr>
              <a:t>■  NESC governs the safe installation, operation &amp; maintenance of utility electric &amp; communication systems</a:t>
            </a:r>
          </a:p>
          <a:p>
            <a:pPr algn="l">
              <a:lnSpc>
                <a:spcPct val="105000"/>
              </a:lnSpc>
              <a:spcBef>
                <a:spcPts val="700"/>
              </a:spcBef>
              <a:spcAft>
                <a:spcPts val="200"/>
              </a:spcAft>
            </a:pPr>
            <a:r>
              <a:rPr sz="1800" b="0" i="0">
                <a:solidFill>
                  <a:srgbClr val="1A2B3C"/>
                </a:solidFill>
                <a:latin typeface="Arial"/>
              </a:rPr>
              <a:t>■  Distinct from the NEC (NFPA 70), which covers premises/building wiring</a:t>
            </a:r>
          </a:p>
          <a:p>
            <a:pPr algn="l">
              <a:lnSpc>
                <a:spcPct val="105000"/>
              </a:lnSpc>
              <a:spcBef>
                <a:spcPts val="700"/>
              </a:spcBef>
              <a:spcAft>
                <a:spcPts val="200"/>
              </a:spcAft>
            </a:pPr>
            <a:r>
              <a:rPr sz="1800" b="0" i="0">
                <a:solidFill>
                  <a:srgbClr val="1A2B3C"/>
                </a:solidFill>
                <a:latin typeface="Arial"/>
              </a:rPr>
              <a:t>■  Sets rules for the SYSTEM that protect both workers and the public, including:</a:t>
            </a:r>
          </a:p>
          <a:p>
            <a:pPr algn="l" lvl="1">
              <a:lnSpc>
                <a:spcPct val="103000"/>
              </a:lnSpc>
              <a:spcBef>
                <a:spcPts val="200"/>
              </a:spcBef>
              <a:spcAft>
                <a:spcPts val="200"/>
              </a:spcAft>
            </a:pPr>
            <a:r>
              <a:rPr sz="1500" b="0" i="0">
                <a:solidFill>
                  <a:srgbClr val="334455"/>
                </a:solidFill>
                <a:latin typeface="Arial"/>
              </a:rPr>
              <a:t>–  Conductor clearances — ground, structures, other lines, and to the public</a:t>
            </a:r>
          </a:p>
          <a:p>
            <a:pPr algn="l" lvl="1">
              <a:lnSpc>
                <a:spcPct val="103000"/>
              </a:lnSpc>
              <a:spcBef>
                <a:spcPts val="200"/>
              </a:spcBef>
              <a:spcAft>
                <a:spcPts val="200"/>
              </a:spcAft>
            </a:pPr>
            <a:r>
              <a:rPr sz="1500" b="0" i="0">
                <a:solidFill>
                  <a:srgbClr val="334455"/>
                </a:solidFill>
                <a:latin typeface="Arial"/>
              </a:rPr>
              <a:t>–  Strength &amp; loading of structures; grades of construction</a:t>
            </a:r>
          </a:p>
          <a:p>
            <a:pPr algn="l" lvl="1">
              <a:lnSpc>
                <a:spcPct val="103000"/>
              </a:lnSpc>
              <a:spcBef>
                <a:spcPts val="200"/>
              </a:spcBef>
              <a:spcAft>
                <a:spcPts val="200"/>
              </a:spcAft>
            </a:pPr>
            <a:r>
              <a:rPr sz="1500" b="0" i="0">
                <a:solidFill>
                  <a:srgbClr val="334455"/>
                </a:solidFill>
                <a:latin typeface="Arial"/>
              </a:rPr>
              <a:t>–  Grounding methods and worker safety rules (Part 4 covers work rules)</a:t>
            </a:r>
          </a:p>
          <a:p>
            <a:pPr algn="l">
              <a:lnSpc>
                <a:spcPct val="105000"/>
              </a:lnSpc>
              <a:spcBef>
                <a:spcPts val="700"/>
              </a:spcBef>
              <a:spcAft>
                <a:spcPts val="200"/>
              </a:spcAft>
            </a:pPr>
            <a:r>
              <a:rPr sz="1800" b="0" i="0">
                <a:solidFill>
                  <a:srgbClr val="1A2B3C"/>
                </a:solidFill>
                <a:latin typeface="Arial"/>
              </a:rPr>
              <a:t>■  Updated on a multi-year cycle; the edition in force depends on jurisdiction</a:t>
            </a:r>
          </a:p>
          <a:p>
            <a:pPr algn="l">
              <a:lnSpc>
                <a:spcPct val="105000"/>
              </a:lnSpc>
              <a:spcBef>
                <a:spcPts val="700"/>
              </a:spcBef>
              <a:spcAft>
                <a:spcPts val="200"/>
              </a:spcAft>
            </a:pPr>
            <a:r>
              <a:rPr sz="1800" b="0" i="0">
                <a:solidFill>
                  <a:srgbClr val="1A2B3C"/>
                </a:solidFill>
                <a:latin typeface="Arial"/>
              </a:rPr>
              <a:t>■  When clearances or construction look wrong in the field — NESC is the reference</a:t>
            </a:r>
          </a:p>
        </p:txBody>
      </p:sp>
      <p:sp>
        <p:nvSpPr>
          <p:cNvPr id="8" name="Rectangle 7"/>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6 — Regulations &amp; Standards</a:t>
            </a:r>
          </a:p>
        </p:txBody>
      </p:sp>
      <p:sp>
        <p:nvSpPr>
          <p:cNvPr id="10" name="TextBox 9"/>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96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6.4 ASTM/IEEE</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Key ASTM / IEEE / ANSI Equipment Standards</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640080" y="1828800"/>
          <a:ext cx="10908792" cy="4297680"/>
        </p:xfrm>
        <a:graphic>
          <a:graphicData uri="http://schemas.openxmlformats.org/drawingml/2006/table">
            <a:tbl>
              <a:tblPr firstRow="1" bandRow="1">
                <a:tableStyleId>{5C22544A-7EE6-4342-B048-85BDC9FD1C3A}</a:tableStyleId>
              </a:tblPr>
              <a:tblGrid>
                <a:gridCol w="3181731"/>
                <a:gridCol w="7727061"/>
              </a:tblGrid>
              <a:tr h="358140">
                <a:tc>
                  <a:txBody>
                    <a:bodyPr wrap="square"/>
                    <a:lstStyle/>
                    <a:p>
                      <a:pPr algn="l"/>
                      <a:r>
                        <a:rPr sz="1200" b="1">
                          <a:solidFill>
                            <a:srgbClr val="FFFFFF"/>
                          </a:solidFill>
                          <a:latin typeface="Arial"/>
                        </a:rPr>
                        <a:t>Standard</a:t>
                      </a:r>
                    </a:p>
                  </a:txBody>
                  <a:tcPr anchor="ctr" marL="91440" marR="73152" marT="36576" marB="36576">
                    <a:solidFill>
                      <a:srgbClr val="0B2545"/>
                    </a:solidFill>
                  </a:tcPr>
                </a:tc>
                <a:tc>
                  <a:txBody>
                    <a:bodyPr wrap="square"/>
                    <a:lstStyle/>
                    <a:p>
                      <a:pPr algn="l"/>
                      <a:r>
                        <a:rPr sz="1200" b="1">
                          <a:solidFill>
                            <a:srgbClr val="FFFFFF"/>
                          </a:solidFill>
                          <a:latin typeface="Arial"/>
                        </a:rPr>
                        <a:t>Covers</a:t>
                      </a:r>
                    </a:p>
                  </a:txBody>
                  <a:tcPr anchor="ctr" marL="91440" marR="73152" marT="36576" marB="36576">
                    <a:solidFill>
                      <a:srgbClr val="0B2545"/>
                    </a:solidFill>
                  </a:tcPr>
                </a:tc>
              </a:tr>
              <a:tr h="358140">
                <a:tc>
                  <a:txBody>
                    <a:bodyPr wrap="square"/>
                    <a:lstStyle/>
                    <a:p>
                      <a:pPr algn="l"/>
                      <a:r>
                        <a:rPr sz="1150" b="1">
                          <a:solidFill>
                            <a:srgbClr val="0B2545"/>
                          </a:solidFill>
                          <a:latin typeface="Arial"/>
                        </a:rPr>
                        <a:t>ASTM D120</a:t>
                      </a:r>
                    </a:p>
                  </a:txBody>
                  <a:tcPr anchor="ctr" marL="91440" marR="73152" marT="27432" marB="27432">
                    <a:solidFill>
                      <a:srgbClr val="FFFFFF"/>
                    </a:solidFill>
                  </a:tcPr>
                </a:tc>
                <a:tc>
                  <a:txBody>
                    <a:bodyPr wrap="square"/>
                    <a:lstStyle/>
                    <a:p>
                      <a:pPr algn="l"/>
                      <a:r>
                        <a:rPr sz="1150" b="0">
                          <a:solidFill>
                            <a:srgbClr val="1A2B3C"/>
                          </a:solidFill>
                          <a:latin typeface="Arial"/>
                        </a:rPr>
                        <a:t>Rubber insulating GLOVES — manufacture &amp; rating</a:t>
                      </a:r>
                    </a:p>
                  </a:txBody>
                  <a:tcPr anchor="ctr" marL="91440" marR="73152" marT="27432" marB="27432">
                    <a:solidFill>
                      <a:srgbClr val="FFFFFF"/>
                    </a:solidFill>
                  </a:tcPr>
                </a:tc>
              </a:tr>
              <a:tr h="358140">
                <a:tc>
                  <a:txBody>
                    <a:bodyPr wrap="square"/>
                    <a:lstStyle/>
                    <a:p>
                      <a:pPr algn="l"/>
                      <a:r>
                        <a:rPr sz="1150" b="1">
                          <a:solidFill>
                            <a:srgbClr val="0B2545"/>
                          </a:solidFill>
                          <a:latin typeface="Arial"/>
                        </a:rPr>
                        <a:t>ASTM D1051</a:t>
                      </a:r>
                    </a:p>
                  </a:txBody>
                  <a:tcPr anchor="ctr" marL="91440" marR="73152" marT="27432" marB="27432">
                    <a:solidFill>
                      <a:srgbClr val="EEF2F7"/>
                    </a:solidFill>
                  </a:tcPr>
                </a:tc>
                <a:tc>
                  <a:txBody>
                    <a:bodyPr wrap="square"/>
                    <a:lstStyle/>
                    <a:p>
                      <a:pPr algn="l"/>
                      <a:r>
                        <a:rPr sz="1150" b="0">
                          <a:solidFill>
                            <a:srgbClr val="1A2B3C"/>
                          </a:solidFill>
                          <a:latin typeface="Arial"/>
                        </a:rPr>
                        <a:t>Rubber insulating SLEEVES</a:t>
                      </a:r>
                    </a:p>
                  </a:txBody>
                  <a:tcPr anchor="ctr" marL="91440" marR="73152" marT="27432" marB="27432">
                    <a:solidFill>
                      <a:srgbClr val="EEF2F7"/>
                    </a:solidFill>
                  </a:tcPr>
                </a:tc>
              </a:tr>
              <a:tr h="358140">
                <a:tc>
                  <a:txBody>
                    <a:bodyPr wrap="square"/>
                    <a:lstStyle/>
                    <a:p>
                      <a:pPr algn="l"/>
                      <a:r>
                        <a:rPr sz="1150" b="1">
                          <a:solidFill>
                            <a:srgbClr val="0B2545"/>
                          </a:solidFill>
                          <a:latin typeface="Arial"/>
                        </a:rPr>
                        <a:t>ASTM D1048</a:t>
                      </a:r>
                    </a:p>
                  </a:txBody>
                  <a:tcPr anchor="ctr" marL="91440" marR="73152" marT="27432" marB="27432">
                    <a:solidFill>
                      <a:srgbClr val="FFFFFF"/>
                    </a:solidFill>
                  </a:tcPr>
                </a:tc>
                <a:tc>
                  <a:txBody>
                    <a:bodyPr wrap="square"/>
                    <a:lstStyle/>
                    <a:p>
                      <a:pPr algn="l"/>
                      <a:r>
                        <a:rPr sz="1150" b="0">
                          <a:solidFill>
                            <a:srgbClr val="1A2B3C"/>
                          </a:solidFill>
                          <a:latin typeface="Arial"/>
                        </a:rPr>
                        <a:t>Rubber insulating BLANKETS</a:t>
                      </a:r>
                    </a:p>
                  </a:txBody>
                  <a:tcPr anchor="ctr" marL="91440" marR="73152" marT="27432" marB="27432">
                    <a:solidFill>
                      <a:srgbClr val="FFFFFF"/>
                    </a:solidFill>
                  </a:tcPr>
                </a:tc>
              </a:tr>
              <a:tr h="358140">
                <a:tc>
                  <a:txBody>
                    <a:bodyPr wrap="square"/>
                    <a:lstStyle/>
                    <a:p>
                      <a:pPr algn="l"/>
                      <a:r>
                        <a:rPr sz="1150" b="1">
                          <a:solidFill>
                            <a:srgbClr val="0B2545"/>
                          </a:solidFill>
                          <a:latin typeface="Arial"/>
                        </a:rPr>
                        <a:t>ASTM D1049 / D1050</a:t>
                      </a:r>
                    </a:p>
                  </a:txBody>
                  <a:tcPr anchor="ctr" marL="91440" marR="73152" marT="27432" marB="27432">
                    <a:solidFill>
                      <a:srgbClr val="EEF2F7"/>
                    </a:solidFill>
                  </a:tcPr>
                </a:tc>
                <a:tc>
                  <a:txBody>
                    <a:bodyPr wrap="square"/>
                    <a:lstStyle/>
                    <a:p>
                      <a:pPr algn="l"/>
                      <a:r>
                        <a:rPr sz="1150" b="0">
                          <a:solidFill>
                            <a:srgbClr val="1A2B3C"/>
                          </a:solidFill>
                          <a:latin typeface="Arial"/>
                        </a:rPr>
                        <a:t>Insulating COVERS / LINE HOSE</a:t>
                      </a:r>
                    </a:p>
                  </a:txBody>
                  <a:tcPr anchor="ctr" marL="91440" marR="73152" marT="27432" marB="27432">
                    <a:solidFill>
                      <a:srgbClr val="EEF2F7"/>
                    </a:solidFill>
                  </a:tcPr>
                </a:tc>
              </a:tr>
              <a:tr h="358140">
                <a:tc>
                  <a:txBody>
                    <a:bodyPr wrap="square"/>
                    <a:lstStyle/>
                    <a:p>
                      <a:pPr algn="l"/>
                      <a:r>
                        <a:rPr sz="1150" b="1">
                          <a:solidFill>
                            <a:srgbClr val="0B2545"/>
                          </a:solidFill>
                          <a:latin typeface="Arial"/>
                        </a:rPr>
                        <a:t>ASTM F496</a:t>
                      </a:r>
                    </a:p>
                  </a:txBody>
                  <a:tcPr anchor="ctr" marL="91440" marR="73152" marT="27432" marB="27432">
                    <a:solidFill>
                      <a:srgbClr val="FFFFFF"/>
                    </a:solidFill>
                  </a:tcPr>
                </a:tc>
                <a:tc>
                  <a:txBody>
                    <a:bodyPr wrap="square"/>
                    <a:lstStyle/>
                    <a:p>
                      <a:pPr algn="l"/>
                      <a:r>
                        <a:rPr sz="1150" b="0">
                          <a:solidFill>
                            <a:srgbClr val="1A2B3C"/>
                          </a:solidFill>
                          <a:latin typeface="Arial"/>
                        </a:rPr>
                        <a:t>In-service CARE of rubber gloves &amp; sleeves (test intervals)</a:t>
                      </a:r>
                    </a:p>
                  </a:txBody>
                  <a:tcPr anchor="ctr" marL="91440" marR="73152" marT="27432" marB="27432">
                    <a:solidFill>
                      <a:srgbClr val="FFFFFF"/>
                    </a:solidFill>
                  </a:tcPr>
                </a:tc>
              </a:tr>
              <a:tr h="358140">
                <a:tc>
                  <a:txBody>
                    <a:bodyPr wrap="square"/>
                    <a:lstStyle/>
                    <a:p>
                      <a:pPr algn="l"/>
                      <a:r>
                        <a:rPr sz="1150" b="1">
                          <a:solidFill>
                            <a:srgbClr val="0B2545"/>
                          </a:solidFill>
                          <a:latin typeface="Arial"/>
                        </a:rPr>
                        <a:t>ASTM F478</a:t>
                      </a:r>
                    </a:p>
                  </a:txBody>
                  <a:tcPr anchor="ctr" marL="91440" marR="73152" marT="27432" marB="27432">
                    <a:solidFill>
                      <a:srgbClr val="EEF2F7"/>
                    </a:solidFill>
                  </a:tcPr>
                </a:tc>
                <a:tc>
                  <a:txBody>
                    <a:bodyPr wrap="square"/>
                    <a:lstStyle/>
                    <a:p>
                      <a:pPr algn="l"/>
                      <a:r>
                        <a:rPr sz="1150" b="0">
                          <a:solidFill>
                            <a:srgbClr val="1A2B3C"/>
                          </a:solidFill>
                          <a:latin typeface="Arial"/>
                        </a:rPr>
                        <a:t>In-service care of insulating LINE HOSE &amp; covers</a:t>
                      </a:r>
                    </a:p>
                  </a:txBody>
                  <a:tcPr anchor="ctr" marL="91440" marR="73152" marT="27432" marB="27432">
                    <a:solidFill>
                      <a:srgbClr val="EEF2F7"/>
                    </a:solidFill>
                  </a:tcPr>
                </a:tc>
              </a:tr>
              <a:tr h="358140">
                <a:tc>
                  <a:txBody>
                    <a:bodyPr wrap="square"/>
                    <a:lstStyle/>
                    <a:p>
                      <a:pPr algn="l"/>
                      <a:r>
                        <a:rPr sz="1150" b="1">
                          <a:solidFill>
                            <a:srgbClr val="0B2545"/>
                          </a:solidFill>
                          <a:latin typeface="Arial"/>
                        </a:rPr>
                        <a:t>ASTM F711</a:t>
                      </a:r>
                    </a:p>
                  </a:txBody>
                  <a:tcPr anchor="ctr" marL="91440" marR="73152" marT="27432" marB="27432">
                    <a:solidFill>
                      <a:srgbClr val="FFFFFF"/>
                    </a:solidFill>
                  </a:tcPr>
                </a:tc>
                <a:tc>
                  <a:txBody>
                    <a:bodyPr wrap="square"/>
                    <a:lstStyle/>
                    <a:p>
                      <a:pPr algn="l"/>
                      <a:r>
                        <a:rPr sz="1150" b="0">
                          <a:solidFill>
                            <a:srgbClr val="1A2B3C"/>
                          </a:solidFill>
                          <a:latin typeface="Arial"/>
                        </a:rPr>
                        <a:t>Fiberglass rod &amp; tube for LIVE-LINE TOOLS</a:t>
                      </a:r>
                    </a:p>
                  </a:txBody>
                  <a:tcPr anchor="ctr" marL="91440" marR="73152" marT="27432" marB="27432">
                    <a:solidFill>
                      <a:srgbClr val="FFFFFF"/>
                    </a:solidFill>
                  </a:tcPr>
                </a:tc>
              </a:tr>
              <a:tr h="358140">
                <a:tc>
                  <a:txBody>
                    <a:bodyPr wrap="square"/>
                    <a:lstStyle/>
                    <a:p>
                      <a:pPr algn="l"/>
                      <a:r>
                        <a:rPr sz="1150" b="1">
                          <a:solidFill>
                            <a:srgbClr val="0B2545"/>
                          </a:solidFill>
                          <a:latin typeface="Arial"/>
                        </a:rPr>
                        <a:t>ASTM F855</a:t>
                      </a:r>
                    </a:p>
                  </a:txBody>
                  <a:tcPr anchor="ctr" marL="91440" marR="73152" marT="27432" marB="27432">
                    <a:solidFill>
                      <a:srgbClr val="EEF2F7"/>
                    </a:solidFill>
                  </a:tcPr>
                </a:tc>
                <a:tc>
                  <a:txBody>
                    <a:bodyPr wrap="square"/>
                    <a:lstStyle/>
                    <a:p>
                      <a:pPr algn="l"/>
                      <a:r>
                        <a:rPr sz="1150" b="0">
                          <a:solidFill>
                            <a:srgbClr val="1A2B3C"/>
                          </a:solidFill>
                          <a:latin typeface="Arial"/>
                        </a:rPr>
                        <a:t>Temporary protective GROUNDS (clamps &amp; cables)</a:t>
                      </a:r>
                    </a:p>
                  </a:txBody>
                  <a:tcPr anchor="ctr" marL="91440" marR="73152" marT="27432" marB="27432">
                    <a:solidFill>
                      <a:srgbClr val="EEF2F7"/>
                    </a:solidFill>
                  </a:tcPr>
                </a:tc>
              </a:tr>
              <a:tr h="358140">
                <a:tc>
                  <a:txBody>
                    <a:bodyPr wrap="square"/>
                    <a:lstStyle/>
                    <a:p>
                      <a:pPr algn="l"/>
                      <a:r>
                        <a:rPr sz="1150" b="1">
                          <a:solidFill>
                            <a:srgbClr val="0B2545"/>
                          </a:solidFill>
                          <a:latin typeface="Arial"/>
                        </a:rPr>
                        <a:t>ASTM F1506 / NFPA 70E</a:t>
                      </a:r>
                    </a:p>
                  </a:txBody>
                  <a:tcPr anchor="ctr" marL="91440" marR="73152" marT="27432" marB="27432">
                    <a:solidFill>
                      <a:srgbClr val="FFFFFF"/>
                    </a:solidFill>
                  </a:tcPr>
                </a:tc>
                <a:tc>
                  <a:txBody>
                    <a:bodyPr wrap="square"/>
                    <a:lstStyle/>
                    <a:p>
                      <a:pPr algn="l"/>
                      <a:r>
                        <a:rPr sz="1150" b="0">
                          <a:solidFill>
                            <a:srgbClr val="1A2B3C"/>
                          </a:solidFill>
                          <a:latin typeface="Arial"/>
                        </a:rPr>
                        <a:t>Arc-rated FR CLOTHING &amp; arc-flash protection</a:t>
                      </a:r>
                    </a:p>
                  </a:txBody>
                  <a:tcPr anchor="ctr" marL="91440" marR="73152" marT="27432" marB="27432">
                    <a:solidFill>
                      <a:srgbClr val="FFFFFF"/>
                    </a:solidFill>
                  </a:tcPr>
                </a:tc>
              </a:tr>
              <a:tr h="358140">
                <a:tc>
                  <a:txBody>
                    <a:bodyPr wrap="square"/>
                    <a:lstStyle/>
                    <a:p>
                      <a:pPr algn="l"/>
                      <a:r>
                        <a:rPr sz="1150" b="1">
                          <a:solidFill>
                            <a:srgbClr val="0B2545"/>
                          </a:solidFill>
                          <a:latin typeface="Arial"/>
                        </a:rPr>
                        <a:t>IEEE C2 (NESC)</a:t>
                      </a:r>
                    </a:p>
                  </a:txBody>
                  <a:tcPr anchor="ctr" marL="91440" marR="73152" marT="27432" marB="27432">
                    <a:solidFill>
                      <a:srgbClr val="EEF2F7"/>
                    </a:solidFill>
                  </a:tcPr>
                </a:tc>
                <a:tc>
                  <a:txBody>
                    <a:bodyPr wrap="square"/>
                    <a:lstStyle/>
                    <a:p>
                      <a:pPr algn="l"/>
                      <a:r>
                        <a:rPr sz="1150" b="0">
                          <a:solidFill>
                            <a:srgbClr val="1A2B3C"/>
                          </a:solidFill>
                          <a:latin typeface="Arial"/>
                        </a:rPr>
                        <a:t>Utility system safety code</a:t>
                      </a:r>
                    </a:p>
                  </a:txBody>
                  <a:tcPr anchor="ctr" marL="91440" marR="73152" marT="27432" marB="27432">
                    <a:solidFill>
                      <a:srgbClr val="EEF2F7"/>
                    </a:solidFill>
                  </a:tcPr>
                </a:tc>
              </a:tr>
              <a:tr h="358140">
                <a:tc>
                  <a:txBody>
                    <a:bodyPr wrap="square"/>
                    <a:lstStyle/>
                    <a:p>
                      <a:pPr algn="l"/>
                      <a:r>
                        <a:rPr sz="1150" b="1">
                          <a:solidFill>
                            <a:srgbClr val="0B2545"/>
                          </a:solidFill>
                          <a:latin typeface="Arial"/>
                        </a:rPr>
                        <a:t>ANSI Z89.1</a:t>
                      </a:r>
                    </a:p>
                  </a:txBody>
                  <a:tcPr anchor="ctr" marL="91440" marR="73152" marT="27432" marB="27432">
                    <a:solidFill>
                      <a:srgbClr val="FFFFFF"/>
                    </a:solidFill>
                  </a:tcPr>
                </a:tc>
                <a:tc>
                  <a:txBody>
                    <a:bodyPr wrap="square"/>
                    <a:lstStyle/>
                    <a:p>
                      <a:pPr algn="l"/>
                      <a:r>
                        <a:rPr sz="1150" b="0">
                          <a:solidFill>
                            <a:srgbClr val="1A2B3C"/>
                          </a:solidFill>
                          <a:latin typeface="Arial"/>
                        </a:rPr>
                        <a:t>Hard hats (electrical Class E)</a:t>
                      </a:r>
                    </a:p>
                  </a:txBody>
                  <a:tcPr anchor="ctr" marL="91440" marR="73152" marT="27432" marB="27432">
                    <a:solidFill>
                      <a:srgbClr val="FFFFFF"/>
                    </a:solidFill>
                  </a:tcPr>
                </a:tc>
              </a:tr>
            </a:tbl>
          </a:graphicData>
        </a:graphic>
      </p:graphicFrame>
      <p:sp>
        <p:nvSpPr>
          <p:cNvPr id="8" name="TextBox 7"/>
          <p:cNvSpPr txBox="1"/>
          <p:nvPr/>
        </p:nvSpPr>
        <p:spPr>
          <a:xfrm>
            <a:off x="658368" y="6291072"/>
            <a:ext cx="10881360" cy="822960"/>
          </a:xfrm>
          <a:prstGeom prst="rect">
            <a:avLst/>
          </a:prstGeom>
          <a:noFill/>
        </p:spPr>
        <p:txBody>
          <a:bodyPr wrap="square" anchor="t" lIns="0" rIns="0" tIns="0" bIns="0">
            <a:spAutoFit/>
          </a:bodyPr>
          <a:lstStyle/>
          <a:p>
            <a:pPr algn="l">
              <a:lnSpc>
                <a:spcPct val="110000"/>
              </a:lnSpc>
              <a:spcBef>
                <a:spcPts val="400"/>
              </a:spcBef>
              <a:spcAft>
                <a:spcPts val="400"/>
              </a:spcAft>
            </a:pPr>
            <a:r>
              <a:rPr sz="1200" b="0" i="1">
                <a:solidFill>
                  <a:srgbClr val="5B6B7B"/>
                </a:solidFill>
                <a:latin typeface="Arial"/>
              </a:rPr>
              <a:t>These standards define how your PPE and tools are built, rated, and re-tested — the numbers on your gloves and grounds trace back here.</a:t>
            </a:r>
          </a:p>
        </p:txBody>
      </p:sp>
      <p:sp>
        <p:nvSpPr>
          <p:cNvPr id="9" name="Rectangle 8"/>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6 — Regulations &amp; Standards</a:t>
            </a:r>
          </a:p>
        </p:txBody>
      </p:sp>
      <p:sp>
        <p:nvSpPr>
          <p:cNvPr id="11" name="TextBox 10"/>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97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6.5 QUALIFICATION</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Qualified Workers, Training &amp; Apprenticeship</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783080"/>
            <a:ext cx="10927080" cy="4160520"/>
          </a:xfrm>
          <a:prstGeom prst="rect">
            <a:avLst/>
          </a:prstGeom>
          <a:noFill/>
        </p:spPr>
        <p:txBody>
          <a:bodyPr wrap="square" anchor="t" lIns="0" rIns="0" tIns="0" bIns="0">
            <a:spAutoFit/>
          </a:bodyPr>
          <a:lstStyle/>
          <a:p>
            <a:pPr algn="l">
              <a:lnSpc>
                <a:spcPct val="105000"/>
              </a:lnSpc>
              <a:spcBef>
                <a:spcPts val="700"/>
              </a:spcBef>
              <a:spcAft>
                <a:spcPts val="200"/>
              </a:spcAft>
            </a:pPr>
            <a:r>
              <a:rPr sz="1800" b="0" i="0">
                <a:solidFill>
                  <a:srgbClr val="1A2B3C"/>
                </a:solidFill>
                <a:latin typeface="Arial"/>
              </a:rPr>
              <a:t>■  OSHA requires that only QUALIFIED employees work on or near energized parts</a:t>
            </a:r>
          </a:p>
          <a:p>
            <a:pPr algn="l">
              <a:lnSpc>
                <a:spcPct val="105000"/>
              </a:lnSpc>
              <a:spcBef>
                <a:spcPts val="700"/>
              </a:spcBef>
              <a:spcAft>
                <a:spcPts val="200"/>
              </a:spcAft>
            </a:pPr>
            <a:r>
              <a:rPr sz="1800" b="0" i="0">
                <a:solidFill>
                  <a:srgbClr val="1A2B3C"/>
                </a:solidFill>
                <a:latin typeface="Arial"/>
              </a:rPr>
              <a:t>■  Qualified = trained AND able to demonstrate skills/knowledge for the construction &amp; operation involved</a:t>
            </a:r>
          </a:p>
          <a:p>
            <a:pPr algn="l" lvl="1">
              <a:lnSpc>
                <a:spcPct val="103000"/>
              </a:lnSpc>
              <a:spcBef>
                <a:spcPts val="200"/>
              </a:spcBef>
              <a:spcAft>
                <a:spcPts val="200"/>
              </a:spcAft>
            </a:pPr>
            <a:r>
              <a:rPr sz="1500" b="0" i="0">
                <a:solidFill>
                  <a:srgbClr val="334455"/>
                </a:solidFill>
                <a:latin typeface="Arial"/>
              </a:rPr>
              <a:t>–  Knows how to distinguish energized parts, determine voltages, and maintain MAD</a:t>
            </a:r>
          </a:p>
          <a:p>
            <a:pPr algn="l">
              <a:lnSpc>
                <a:spcPct val="105000"/>
              </a:lnSpc>
              <a:spcBef>
                <a:spcPts val="700"/>
              </a:spcBef>
              <a:spcAft>
                <a:spcPts val="200"/>
              </a:spcAft>
            </a:pPr>
            <a:r>
              <a:rPr sz="1800" b="0" i="0">
                <a:solidFill>
                  <a:srgbClr val="1A2B3C"/>
                </a:solidFill>
                <a:latin typeface="Arial"/>
              </a:rPr>
              <a:t>■  Lineworker apprenticeships (often ~3–4 years, thousands of OJT hours) build that qualification</a:t>
            </a:r>
          </a:p>
          <a:p>
            <a:pPr algn="l" lvl="1">
              <a:lnSpc>
                <a:spcPct val="103000"/>
              </a:lnSpc>
              <a:spcBef>
                <a:spcPts val="200"/>
              </a:spcBef>
              <a:spcAft>
                <a:spcPts val="200"/>
              </a:spcAft>
            </a:pPr>
            <a:r>
              <a:rPr sz="1500" b="0" i="0">
                <a:solidFill>
                  <a:srgbClr val="334455"/>
                </a:solidFill>
                <a:latin typeface="Arial"/>
              </a:rPr>
              <a:t>–  Classroom theory + supervised on-the-job training + skills verification</a:t>
            </a:r>
          </a:p>
          <a:p>
            <a:pPr algn="l">
              <a:lnSpc>
                <a:spcPct val="105000"/>
              </a:lnSpc>
              <a:spcBef>
                <a:spcPts val="700"/>
              </a:spcBef>
              <a:spcAft>
                <a:spcPts val="200"/>
              </a:spcAft>
            </a:pPr>
            <a:r>
              <a:rPr sz="1800" b="0" i="0">
                <a:solidFill>
                  <a:srgbClr val="1A2B3C"/>
                </a:solidFill>
                <a:latin typeface="Arial"/>
              </a:rPr>
              <a:t>■  Ongoing training: refreshers, new procedures, CPR/AED &amp; pole-top rescue, equipment-specific</a:t>
            </a:r>
          </a:p>
          <a:p>
            <a:pPr algn="l">
              <a:lnSpc>
                <a:spcPct val="105000"/>
              </a:lnSpc>
              <a:spcBef>
                <a:spcPts val="700"/>
              </a:spcBef>
              <a:spcAft>
                <a:spcPts val="200"/>
              </a:spcAft>
            </a:pPr>
            <a:r>
              <a:rPr sz="1800" b="0" i="0">
                <a:solidFill>
                  <a:srgbClr val="1A2B3C"/>
                </a:solidFill>
                <a:latin typeface="Arial"/>
              </a:rPr>
              <a:t>■  Document training and re-qualification — it is both a legal requirement and proof of competence</a:t>
            </a:r>
          </a:p>
        </p:txBody>
      </p:sp>
      <p:sp>
        <p:nvSpPr>
          <p:cNvPr id="8" name="Rectangle 7"/>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6 — Regulations &amp; Standards</a:t>
            </a:r>
          </a:p>
        </p:txBody>
      </p:sp>
      <p:sp>
        <p:nvSpPr>
          <p:cNvPr id="10" name="TextBox 9"/>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98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6.6 RECORDS</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Recordkeeping &amp; Program Responsibilities</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783080"/>
            <a:ext cx="5349240" cy="4297680"/>
          </a:xfrm>
          <a:prstGeom prst="roundRect">
            <a:avLst/>
          </a:prstGeom>
          <a:solidFill>
            <a:srgbClr val="EEF2F7"/>
          </a:solidFill>
          <a:ln w="12700">
            <a:solidFill>
              <a:srgbClr val="CF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40080" y="1783080"/>
            <a:ext cx="5349240" cy="566928"/>
          </a:xfrm>
          <a:prstGeom prst="roundRect">
            <a:avLst/>
          </a:prstGeom>
          <a:solidFill>
            <a:srgbClr val="1340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2066543"/>
            <a:ext cx="5349240" cy="283464"/>
          </a:xfrm>
          <a:prstGeom prst="rect">
            <a:avLst/>
          </a:prstGeom>
          <a:solidFill>
            <a:srgbClr val="1340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1837943"/>
            <a:ext cx="4892040" cy="475488"/>
          </a:xfrm>
          <a:prstGeom prst="rect">
            <a:avLst/>
          </a:prstGeom>
          <a:noFill/>
        </p:spPr>
        <p:txBody>
          <a:bodyPr wrap="square" anchor="ctr" lIns="0" rIns="0" tIns="0" bIns="0">
            <a:spAutoFit/>
          </a:bodyPr>
          <a:lstStyle/>
          <a:p>
            <a:pPr algn="l">
              <a:lnSpc>
                <a:spcPct val="105000"/>
              </a:lnSpc>
              <a:spcBef>
                <a:spcPts val="400"/>
              </a:spcBef>
              <a:spcAft>
                <a:spcPts val="400"/>
              </a:spcAft>
            </a:pPr>
            <a:r>
              <a:rPr sz="1600" b="1" i="0">
                <a:solidFill>
                  <a:srgbClr val="FFFFFF"/>
                </a:solidFill>
                <a:latin typeface="Arial"/>
              </a:rPr>
              <a:t>Records to keep</a:t>
            </a:r>
          </a:p>
        </p:txBody>
      </p:sp>
      <p:sp>
        <p:nvSpPr>
          <p:cNvPr id="11" name="TextBox 10"/>
          <p:cNvSpPr txBox="1"/>
          <p:nvPr/>
        </p:nvSpPr>
        <p:spPr>
          <a:xfrm>
            <a:off x="914400" y="2514600"/>
            <a:ext cx="4800600" cy="3383280"/>
          </a:xfrm>
          <a:prstGeom prst="rect">
            <a:avLst/>
          </a:prstGeom>
          <a:noFill/>
        </p:spPr>
        <p:txBody>
          <a:bodyPr wrap="square" anchor="t" lIns="0" rIns="0" tIns="0" bIns="0">
            <a:spAutoFit/>
          </a:bodyPr>
          <a:lstStyle/>
          <a:p>
            <a:pPr algn="l">
              <a:lnSpc>
                <a:spcPct val="103000"/>
              </a:lnSpc>
              <a:spcBef>
                <a:spcPts val="500"/>
              </a:spcBef>
              <a:spcAft>
                <a:spcPts val="200"/>
              </a:spcAft>
            </a:pPr>
            <a:r>
              <a:rPr sz="1400" b="0" i="0">
                <a:solidFill>
                  <a:srgbClr val="1A2B3C"/>
                </a:solidFill>
                <a:latin typeface="Arial"/>
              </a:rPr>
              <a:t>■  Training &amp; qualification records</a:t>
            </a:r>
          </a:p>
          <a:p>
            <a:pPr algn="l">
              <a:lnSpc>
                <a:spcPct val="103000"/>
              </a:lnSpc>
              <a:spcBef>
                <a:spcPts val="500"/>
              </a:spcBef>
              <a:spcAft>
                <a:spcPts val="200"/>
              </a:spcAft>
            </a:pPr>
            <a:r>
              <a:rPr sz="1400" b="0" i="0">
                <a:solidFill>
                  <a:srgbClr val="1A2B3C"/>
                </a:solidFill>
                <a:latin typeface="Arial"/>
              </a:rPr>
              <a:t>■  PPE/tool inspection &amp; electrical test dates</a:t>
            </a:r>
          </a:p>
          <a:p>
            <a:pPr algn="l">
              <a:lnSpc>
                <a:spcPct val="103000"/>
              </a:lnSpc>
              <a:spcBef>
                <a:spcPts val="500"/>
              </a:spcBef>
              <a:spcAft>
                <a:spcPts val="200"/>
              </a:spcAft>
            </a:pPr>
            <a:r>
              <a:rPr sz="1400" b="0" i="0">
                <a:solidFill>
                  <a:srgbClr val="1A2B3C"/>
                </a:solidFill>
                <a:latin typeface="Arial"/>
              </a:rPr>
              <a:t>■  Job briefings / tailboards (per program)</a:t>
            </a:r>
          </a:p>
          <a:p>
            <a:pPr algn="l">
              <a:lnSpc>
                <a:spcPct val="103000"/>
              </a:lnSpc>
              <a:spcBef>
                <a:spcPts val="500"/>
              </a:spcBef>
              <a:spcAft>
                <a:spcPts val="200"/>
              </a:spcAft>
            </a:pPr>
            <a:r>
              <a:rPr sz="1400" b="0" i="0">
                <a:solidFill>
                  <a:srgbClr val="1A2B3C"/>
                </a:solidFill>
                <a:latin typeface="Arial"/>
              </a:rPr>
              <a:t>■  Switching orders, clearances &amp; grounding records</a:t>
            </a:r>
          </a:p>
          <a:p>
            <a:pPr algn="l">
              <a:lnSpc>
                <a:spcPct val="103000"/>
              </a:lnSpc>
              <a:spcBef>
                <a:spcPts val="500"/>
              </a:spcBef>
              <a:spcAft>
                <a:spcPts val="200"/>
              </a:spcAft>
            </a:pPr>
            <a:r>
              <a:rPr sz="1400" b="0" i="0">
                <a:solidFill>
                  <a:srgbClr val="1A2B3C"/>
                </a:solidFill>
                <a:latin typeface="Arial"/>
              </a:rPr>
              <a:t>■  Incident &amp; near-miss reports and investigations</a:t>
            </a:r>
          </a:p>
        </p:txBody>
      </p:sp>
      <p:sp>
        <p:nvSpPr>
          <p:cNvPr id="12" name="Rounded Rectangle 11"/>
          <p:cNvSpPr/>
          <p:nvPr/>
        </p:nvSpPr>
        <p:spPr>
          <a:xfrm>
            <a:off x="6309359" y="1783080"/>
            <a:ext cx="5349240" cy="4297680"/>
          </a:xfrm>
          <a:prstGeom prst="roundRect">
            <a:avLst/>
          </a:prstGeom>
          <a:solidFill>
            <a:srgbClr val="EEF2F7"/>
          </a:solidFill>
          <a:ln w="12700">
            <a:solidFill>
              <a:srgbClr val="CF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09359" y="1783080"/>
            <a:ext cx="5349240" cy="566928"/>
          </a:xfrm>
          <a:prstGeom prst="round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59" y="2066543"/>
            <a:ext cx="5349240" cy="28346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37959" y="1837943"/>
            <a:ext cx="4892040" cy="475488"/>
          </a:xfrm>
          <a:prstGeom prst="rect">
            <a:avLst/>
          </a:prstGeom>
          <a:noFill/>
        </p:spPr>
        <p:txBody>
          <a:bodyPr wrap="square" anchor="ctr" lIns="0" rIns="0" tIns="0" bIns="0">
            <a:spAutoFit/>
          </a:bodyPr>
          <a:lstStyle/>
          <a:p>
            <a:pPr algn="l">
              <a:lnSpc>
                <a:spcPct val="105000"/>
              </a:lnSpc>
              <a:spcBef>
                <a:spcPts val="400"/>
              </a:spcBef>
              <a:spcAft>
                <a:spcPts val="400"/>
              </a:spcAft>
            </a:pPr>
            <a:r>
              <a:rPr sz="1600" b="1" i="0">
                <a:solidFill>
                  <a:srgbClr val="FFFFFF"/>
                </a:solidFill>
                <a:latin typeface="Arial"/>
              </a:rPr>
              <a:t>Employer program duties</a:t>
            </a:r>
          </a:p>
        </p:txBody>
      </p:sp>
      <p:sp>
        <p:nvSpPr>
          <p:cNvPr id="16" name="TextBox 15"/>
          <p:cNvSpPr txBox="1"/>
          <p:nvPr/>
        </p:nvSpPr>
        <p:spPr>
          <a:xfrm>
            <a:off x="6583679" y="2514600"/>
            <a:ext cx="4800600" cy="3383280"/>
          </a:xfrm>
          <a:prstGeom prst="rect">
            <a:avLst/>
          </a:prstGeom>
          <a:noFill/>
        </p:spPr>
        <p:txBody>
          <a:bodyPr wrap="square" anchor="t" lIns="0" rIns="0" tIns="0" bIns="0">
            <a:spAutoFit/>
          </a:bodyPr>
          <a:lstStyle/>
          <a:p>
            <a:pPr algn="l">
              <a:lnSpc>
                <a:spcPct val="103000"/>
              </a:lnSpc>
              <a:spcBef>
                <a:spcPts val="500"/>
              </a:spcBef>
              <a:spcAft>
                <a:spcPts val="200"/>
              </a:spcAft>
            </a:pPr>
            <a:r>
              <a:rPr sz="1400" b="0" i="0">
                <a:solidFill>
                  <a:srgbClr val="1A2B3C"/>
                </a:solidFill>
                <a:latin typeface="Arial"/>
              </a:rPr>
              <a:t>■  Written safe-work &amp; electrical safety program</a:t>
            </a:r>
          </a:p>
          <a:p>
            <a:pPr algn="l">
              <a:lnSpc>
                <a:spcPct val="103000"/>
              </a:lnSpc>
              <a:spcBef>
                <a:spcPts val="500"/>
              </a:spcBef>
              <a:spcAft>
                <a:spcPts val="200"/>
              </a:spcAft>
            </a:pPr>
            <a:r>
              <a:rPr sz="1400" b="0" i="0">
                <a:solidFill>
                  <a:srgbClr val="1A2B3C"/>
                </a:solidFill>
                <a:latin typeface="Arial"/>
              </a:rPr>
              <a:t>■  Hazard/arc-flash assessments &amp; MAD tables</a:t>
            </a:r>
          </a:p>
          <a:p>
            <a:pPr algn="l">
              <a:lnSpc>
                <a:spcPct val="103000"/>
              </a:lnSpc>
              <a:spcBef>
                <a:spcPts val="500"/>
              </a:spcBef>
              <a:spcAft>
                <a:spcPts val="200"/>
              </a:spcAft>
            </a:pPr>
            <a:r>
              <a:rPr sz="1400" b="0" i="0">
                <a:solidFill>
                  <a:srgbClr val="1A2B3C"/>
                </a:solidFill>
                <a:latin typeface="Arial"/>
              </a:rPr>
              <a:t>■  Provide &amp; maintain rated PPE and tools</a:t>
            </a:r>
          </a:p>
          <a:p>
            <a:pPr algn="l">
              <a:lnSpc>
                <a:spcPct val="103000"/>
              </a:lnSpc>
              <a:spcBef>
                <a:spcPts val="500"/>
              </a:spcBef>
              <a:spcAft>
                <a:spcPts val="200"/>
              </a:spcAft>
            </a:pPr>
            <a:r>
              <a:rPr sz="1400" b="0" i="0">
                <a:solidFill>
                  <a:srgbClr val="1A2B3C"/>
                </a:solidFill>
                <a:latin typeface="Arial"/>
              </a:rPr>
              <a:t>■  Enforce procedures; support stop-work authority</a:t>
            </a:r>
          </a:p>
          <a:p>
            <a:pPr algn="l">
              <a:lnSpc>
                <a:spcPct val="103000"/>
              </a:lnSpc>
              <a:spcBef>
                <a:spcPts val="500"/>
              </a:spcBef>
              <a:spcAft>
                <a:spcPts val="200"/>
              </a:spcAft>
            </a:pPr>
            <a:r>
              <a:rPr sz="1400" b="0" i="0">
                <a:solidFill>
                  <a:srgbClr val="1A2B3C"/>
                </a:solidFill>
                <a:latin typeface="Arial"/>
              </a:rPr>
              <a:t>■  Investigate, learn, and improve after every event</a:t>
            </a:r>
          </a:p>
        </p:txBody>
      </p:sp>
      <p:sp>
        <p:nvSpPr>
          <p:cNvPr id="17" name="Rectangle 16"/>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6 — Regulations &amp; Standards</a:t>
            </a:r>
          </a:p>
        </p:txBody>
      </p:sp>
      <p:sp>
        <p:nvSpPr>
          <p:cNvPr id="19" name="TextBox 18"/>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99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MODULE 6 RECAP</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Module 6 — Key Takeaways</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783080"/>
            <a:ext cx="10927080" cy="4160520"/>
          </a:xfrm>
          <a:prstGeom prst="rect">
            <a:avLst/>
          </a:prstGeom>
          <a:noFill/>
        </p:spPr>
        <p:txBody>
          <a:bodyPr wrap="square" anchor="t" lIns="0" rIns="0" tIns="0" bIns="0">
            <a:spAutoFit/>
          </a:bodyPr>
          <a:lstStyle/>
          <a:p>
            <a:pPr algn="l">
              <a:lnSpc>
                <a:spcPct val="105000"/>
              </a:lnSpc>
              <a:spcBef>
                <a:spcPts val="700"/>
              </a:spcBef>
              <a:spcAft>
                <a:spcPts val="200"/>
              </a:spcAft>
            </a:pPr>
            <a:r>
              <a:rPr sz="1800" b="0" i="0">
                <a:solidFill>
                  <a:srgbClr val="1A2B3C"/>
                </a:solidFill>
                <a:latin typeface="Arial"/>
              </a:rPr>
              <a:t>■  Regulations set the minimum; your program may be stricter — always follow the stricter rule</a:t>
            </a:r>
          </a:p>
          <a:p>
            <a:pPr algn="l">
              <a:lnSpc>
                <a:spcPct val="105000"/>
              </a:lnSpc>
              <a:spcBef>
                <a:spcPts val="700"/>
              </a:spcBef>
              <a:spcAft>
                <a:spcPts val="200"/>
              </a:spcAft>
            </a:pPr>
            <a:r>
              <a:rPr sz="1800" b="0" i="0">
                <a:solidFill>
                  <a:srgbClr val="1A2B3C"/>
                </a:solidFill>
                <a:latin typeface="Arial"/>
              </a:rPr>
              <a:t>■  OSHA 1910.269 (and 1926 Subpart V) govern how the work is done — briefings, MAD, LOTO, grounding</a:t>
            </a:r>
          </a:p>
          <a:p>
            <a:pPr algn="l">
              <a:lnSpc>
                <a:spcPct val="105000"/>
              </a:lnSpc>
              <a:spcBef>
                <a:spcPts val="700"/>
              </a:spcBef>
              <a:spcAft>
                <a:spcPts val="200"/>
              </a:spcAft>
            </a:pPr>
            <a:r>
              <a:rPr sz="1800" b="0" i="0">
                <a:solidFill>
                  <a:srgbClr val="1A2B3C"/>
                </a:solidFill>
                <a:latin typeface="Arial"/>
              </a:rPr>
              <a:t>■  NESC (IEEE C2) governs how the system is built, spaced, and maintained</a:t>
            </a:r>
          </a:p>
          <a:p>
            <a:pPr algn="l">
              <a:lnSpc>
                <a:spcPct val="105000"/>
              </a:lnSpc>
              <a:spcBef>
                <a:spcPts val="700"/>
              </a:spcBef>
              <a:spcAft>
                <a:spcPts val="200"/>
              </a:spcAft>
            </a:pPr>
            <a:r>
              <a:rPr sz="1800" b="0" i="0">
                <a:solidFill>
                  <a:srgbClr val="1A2B3C"/>
                </a:solidFill>
                <a:latin typeface="Arial"/>
              </a:rPr>
              <a:t>■  ASTM/IEEE/ANSI define how your PPE &amp; tools are rated and tested</a:t>
            </a:r>
          </a:p>
          <a:p>
            <a:pPr algn="l">
              <a:lnSpc>
                <a:spcPct val="105000"/>
              </a:lnSpc>
              <a:spcBef>
                <a:spcPts val="700"/>
              </a:spcBef>
              <a:spcAft>
                <a:spcPts val="200"/>
              </a:spcAft>
            </a:pPr>
            <a:r>
              <a:rPr sz="1800" b="0" i="0">
                <a:solidFill>
                  <a:srgbClr val="1A2B3C"/>
                </a:solidFill>
                <a:latin typeface="Arial"/>
              </a:rPr>
              <a:t>■  Only qualified workers do energized work — earned through apprenticeship &amp; ongoing training</a:t>
            </a:r>
          </a:p>
          <a:p>
            <a:pPr algn="l">
              <a:lnSpc>
                <a:spcPct val="105000"/>
              </a:lnSpc>
              <a:spcBef>
                <a:spcPts val="700"/>
              </a:spcBef>
              <a:spcAft>
                <a:spcPts val="200"/>
              </a:spcAft>
            </a:pPr>
            <a:r>
              <a:rPr sz="1800" b="0" i="0">
                <a:solidFill>
                  <a:srgbClr val="1A2B3C"/>
                </a:solidFill>
                <a:latin typeface="Arial"/>
              </a:rPr>
              <a:t>■  Keep records: training, test dates, briefings, clearances, incidents</a:t>
            </a:r>
          </a:p>
        </p:txBody>
      </p:sp>
      <p:sp>
        <p:nvSpPr>
          <p:cNvPr id="8" name="Rectangle 7"/>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6 — Regulations &amp; Standards</a:t>
            </a:r>
          </a:p>
        </p:txBody>
      </p:sp>
      <p:sp>
        <p:nvSpPr>
          <p:cNvPr id="10" name="TextBox 9"/>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100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a:gsLst>
              <a:gs pos="0">
                <a:srgbClr val="0B2545"/>
              </a:gs>
              <a:gs pos="100000">
                <a:srgbClr val="071830"/>
              </a:gs>
            </a:gsLst>
            <a:lin ang="27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371600"/>
            <a:ext cx="3840480" cy="2926080"/>
          </a:xfrm>
          <a:prstGeom prst="rect">
            <a:avLst/>
          </a:prstGeom>
          <a:noFill/>
        </p:spPr>
        <p:txBody>
          <a:bodyPr wrap="square" anchor="ctr" lIns="0" rIns="0" tIns="0" bIns="0">
            <a:spAutoFit/>
          </a:bodyPr>
          <a:lstStyle/>
          <a:p>
            <a:pPr algn="l">
              <a:lnSpc>
                <a:spcPct val="105000"/>
              </a:lnSpc>
              <a:spcBef>
                <a:spcPts val="400"/>
              </a:spcBef>
              <a:spcAft>
                <a:spcPts val="0"/>
              </a:spcAft>
            </a:pPr>
            <a:r>
              <a:rPr sz="1800" b="1" i="0">
                <a:solidFill>
                  <a:srgbClr val="F5B100"/>
                </a:solidFill>
                <a:latin typeface="Arial"/>
              </a:rPr>
              <a:t>MODULE</a:t>
            </a:r>
          </a:p>
          <a:p>
            <a:pPr algn="l">
              <a:lnSpc>
                <a:spcPct val="90000"/>
              </a:lnSpc>
              <a:spcBef>
                <a:spcPts val="0"/>
              </a:spcBef>
              <a:spcAft>
                <a:spcPts val="400"/>
              </a:spcAft>
            </a:pPr>
            <a:r>
              <a:rPr sz="15000" b="1" i="0">
                <a:solidFill>
                  <a:srgbClr val="FFFFFF"/>
                </a:solidFill>
                <a:latin typeface="Arial"/>
              </a:rPr>
              <a:t>7</a:t>
            </a:r>
          </a:p>
        </p:txBody>
      </p:sp>
      <p:sp>
        <p:nvSpPr>
          <p:cNvPr id="5" name="Rectangle 4"/>
          <p:cNvSpPr/>
          <p:nvPr/>
        </p:nvSpPr>
        <p:spPr>
          <a:xfrm>
            <a:off x="4800600" y="1554480"/>
            <a:ext cx="36576" cy="3657600"/>
          </a:xfrm>
          <a:prstGeom prst="rect">
            <a:avLst/>
          </a:prstGeom>
          <a:solidFill>
            <a:srgbClr val="2A47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12080" y="1691640"/>
            <a:ext cx="6400800" cy="1463040"/>
          </a:xfrm>
          <a:prstGeom prst="rect">
            <a:avLst/>
          </a:prstGeom>
          <a:noFill/>
        </p:spPr>
        <p:txBody>
          <a:bodyPr wrap="square" anchor="t" lIns="0" rIns="0" tIns="0" bIns="0">
            <a:spAutoFit/>
          </a:bodyPr>
          <a:lstStyle/>
          <a:p>
            <a:pPr algn="l">
              <a:lnSpc>
                <a:spcPct val="100000"/>
              </a:lnSpc>
              <a:spcBef>
                <a:spcPts val="400"/>
              </a:spcBef>
              <a:spcAft>
                <a:spcPts val="400"/>
              </a:spcAft>
            </a:pPr>
            <a:r>
              <a:rPr sz="3400" b="1" i="0">
                <a:solidFill>
                  <a:srgbClr val="FFFFFF"/>
                </a:solidFill>
                <a:latin typeface="Arial"/>
              </a:rPr>
              <a:t>Arc-Flash Analysis, First Aid &amp; Rescue</a:t>
            </a:r>
          </a:p>
        </p:txBody>
      </p:sp>
      <p:sp>
        <p:nvSpPr>
          <p:cNvPr id="7" name="Rectangle 6"/>
          <p:cNvSpPr/>
          <p:nvPr/>
        </p:nvSpPr>
        <p:spPr>
          <a:xfrm>
            <a:off x="5230368" y="3063240"/>
            <a:ext cx="1371600" cy="4572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212080" y="3337560"/>
            <a:ext cx="6400800" cy="2926080"/>
          </a:xfrm>
          <a:prstGeom prst="rect">
            <a:avLst/>
          </a:prstGeom>
          <a:noFill/>
        </p:spPr>
        <p:txBody>
          <a:bodyPr wrap="square" anchor="t" lIns="0" rIns="0" tIns="0" bIns="0">
            <a:spAutoFit/>
          </a:bodyPr>
          <a:lstStyle/>
          <a:p>
            <a:pPr algn="l">
              <a:lnSpc>
                <a:spcPct val="105000"/>
              </a:lnSpc>
              <a:spcBef>
                <a:spcPts val="600"/>
              </a:spcBef>
              <a:spcAft>
                <a:spcPts val="600"/>
              </a:spcAft>
            </a:pPr>
            <a:r>
              <a:rPr sz="1600" b="0" i="0">
                <a:solidFill>
                  <a:srgbClr val="CFDCEC"/>
                </a:solidFill>
                <a:latin typeface="Arial"/>
              </a:rPr>
              <a:t>—  What drives incident energy</a:t>
            </a:r>
          </a:p>
          <a:p>
            <a:pPr algn="l">
              <a:lnSpc>
                <a:spcPct val="105000"/>
              </a:lnSpc>
              <a:spcBef>
                <a:spcPts val="600"/>
              </a:spcBef>
              <a:spcAft>
                <a:spcPts val="600"/>
              </a:spcAft>
            </a:pPr>
            <a:r>
              <a:rPr sz="1600" b="0" i="0">
                <a:solidFill>
                  <a:srgbClr val="CFDCEC"/>
                </a:solidFill>
                <a:latin typeface="Arial"/>
              </a:rPr>
              <a:t>—  The arc-flash boundary &amp; working distance</a:t>
            </a:r>
          </a:p>
          <a:p>
            <a:pPr algn="l">
              <a:lnSpc>
                <a:spcPct val="105000"/>
              </a:lnSpc>
              <a:spcBef>
                <a:spcPts val="600"/>
              </a:spcBef>
              <a:spcAft>
                <a:spcPts val="600"/>
              </a:spcAft>
            </a:pPr>
            <a:r>
              <a:rPr sz="1600" b="0" i="0">
                <a:solidFill>
                  <a:srgbClr val="CFDCEC"/>
                </a:solidFill>
                <a:latin typeface="Arial"/>
              </a:rPr>
              <a:t>—  PPE categories &amp; the label</a:t>
            </a:r>
          </a:p>
          <a:p>
            <a:pPr algn="l">
              <a:lnSpc>
                <a:spcPct val="105000"/>
              </a:lnSpc>
              <a:spcBef>
                <a:spcPts val="600"/>
              </a:spcBef>
              <a:spcAft>
                <a:spcPts val="600"/>
              </a:spcAft>
            </a:pPr>
            <a:r>
              <a:rPr sz="1600" b="0" i="0">
                <a:solidFill>
                  <a:srgbClr val="CFDCEC"/>
                </a:solidFill>
                <a:latin typeface="Arial"/>
              </a:rPr>
              <a:t>—  Electrical injury &amp; burns</a:t>
            </a:r>
          </a:p>
          <a:p>
            <a:pPr algn="l">
              <a:lnSpc>
                <a:spcPct val="105000"/>
              </a:lnSpc>
              <a:spcBef>
                <a:spcPts val="600"/>
              </a:spcBef>
              <a:spcAft>
                <a:spcPts val="600"/>
              </a:spcAft>
            </a:pPr>
            <a:r>
              <a:rPr sz="1600" b="0" i="0">
                <a:solidFill>
                  <a:srgbClr val="CFDCEC"/>
                </a:solidFill>
                <a:latin typeface="Arial"/>
              </a:rPr>
              <a:t>—  Scene control, CPR &amp; AED</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7.1 INCIDENT ENERGY</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Arc-Flash Analysis — What Drives Incident Energy</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27632"/>
            <a:ext cx="10881360" cy="548640"/>
          </a:xfrm>
          <a:prstGeom prst="rect">
            <a:avLst/>
          </a:prstGeom>
          <a:noFill/>
        </p:spPr>
        <p:txBody>
          <a:bodyPr wrap="square" anchor="t" lIns="0" rIns="0" tIns="0" bIns="0">
            <a:spAutoFit/>
          </a:bodyPr>
          <a:lstStyle/>
          <a:p>
            <a:pPr algn="l">
              <a:lnSpc>
                <a:spcPct val="105000"/>
              </a:lnSpc>
              <a:spcBef>
                <a:spcPts val="400"/>
              </a:spcBef>
              <a:spcAft>
                <a:spcPts val="400"/>
              </a:spcAft>
            </a:pPr>
            <a:r>
              <a:rPr sz="1550" b="0" i="1">
                <a:solidFill>
                  <a:srgbClr val="5B6B7B"/>
                </a:solidFill>
                <a:latin typeface="Arial"/>
              </a:rPr>
              <a:t>Why two jobs at the same voltage can carry wildly different arc-flash hazard.</a:t>
            </a:r>
          </a:p>
        </p:txBody>
      </p:sp>
      <p:sp>
        <p:nvSpPr>
          <p:cNvPr id="8" name="TextBox 7"/>
          <p:cNvSpPr txBox="1"/>
          <p:nvPr/>
        </p:nvSpPr>
        <p:spPr>
          <a:xfrm>
            <a:off x="658368" y="2240280"/>
            <a:ext cx="10927080" cy="3703320"/>
          </a:xfrm>
          <a:prstGeom prst="rect">
            <a:avLst/>
          </a:prstGeom>
          <a:noFill/>
        </p:spPr>
        <p:txBody>
          <a:bodyPr wrap="square" anchor="t" lIns="0" rIns="0" tIns="0" bIns="0">
            <a:spAutoFit/>
          </a:bodyPr>
          <a:lstStyle/>
          <a:p>
            <a:pPr algn="l">
              <a:lnSpc>
                <a:spcPct val="105000"/>
              </a:lnSpc>
              <a:spcBef>
                <a:spcPts val="700"/>
              </a:spcBef>
              <a:spcAft>
                <a:spcPts val="200"/>
              </a:spcAft>
            </a:pPr>
            <a:r>
              <a:rPr sz="1800" b="0" i="0">
                <a:solidFill>
                  <a:srgbClr val="1A2B3C"/>
                </a:solidFill>
                <a:latin typeface="Arial"/>
              </a:rPr>
              <a:t>■  Incident energy is the thermal energy reaching a surface a set distance from an arc — measured in cal/cm²</a:t>
            </a:r>
          </a:p>
          <a:p>
            <a:pPr algn="l">
              <a:lnSpc>
                <a:spcPct val="105000"/>
              </a:lnSpc>
              <a:spcBef>
                <a:spcPts val="700"/>
              </a:spcBef>
              <a:spcAft>
                <a:spcPts val="200"/>
              </a:spcAft>
            </a:pPr>
            <a:r>
              <a:rPr sz="1800" b="0" i="0">
                <a:solidFill>
                  <a:srgbClr val="1A2B3C"/>
                </a:solidFill>
                <a:latin typeface="Arial"/>
              </a:rPr>
              <a:t>■  It rises with the available fault (bolted) current and with how long the arc lasts</a:t>
            </a:r>
          </a:p>
          <a:p>
            <a:pPr algn="l" lvl="1">
              <a:lnSpc>
                <a:spcPct val="103000"/>
              </a:lnSpc>
              <a:spcBef>
                <a:spcPts val="200"/>
              </a:spcBef>
              <a:spcAft>
                <a:spcPts val="200"/>
              </a:spcAft>
            </a:pPr>
            <a:r>
              <a:rPr sz="1500" b="0" i="0">
                <a:solidFill>
                  <a:srgbClr val="334455"/>
                </a:solidFill>
                <a:latin typeface="Arial"/>
              </a:rPr>
              <a:t>–  Clearing time is decisive: a faster-tripping device means far less energy</a:t>
            </a:r>
          </a:p>
          <a:p>
            <a:pPr algn="l">
              <a:lnSpc>
                <a:spcPct val="105000"/>
              </a:lnSpc>
              <a:spcBef>
                <a:spcPts val="700"/>
              </a:spcBef>
              <a:spcAft>
                <a:spcPts val="200"/>
              </a:spcAft>
            </a:pPr>
            <a:r>
              <a:rPr sz="1800" b="0" i="0">
                <a:solidFill>
                  <a:srgbClr val="1A2B3C"/>
                </a:solidFill>
                <a:latin typeface="Arial"/>
              </a:rPr>
              <a:t>■  It falls with the SQUARE of the distance from the arc</a:t>
            </a:r>
          </a:p>
          <a:p>
            <a:pPr algn="l">
              <a:lnSpc>
                <a:spcPct val="105000"/>
              </a:lnSpc>
              <a:spcBef>
                <a:spcPts val="700"/>
              </a:spcBef>
              <a:spcAft>
                <a:spcPts val="200"/>
              </a:spcAft>
            </a:pPr>
            <a:r>
              <a:rPr sz="1800" b="0" i="0">
                <a:solidFill>
                  <a:srgbClr val="1A2B3C"/>
                </a:solidFill>
                <a:latin typeface="Arial"/>
              </a:rPr>
              <a:t>■  An analysis (IEEE 1584 / NFPA 70E) calculates it for each location</a:t>
            </a:r>
          </a:p>
          <a:p>
            <a:pPr algn="l" lvl="1">
              <a:lnSpc>
                <a:spcPct val="103000"/>
              </a:lnSpc>
              <a:spcBef>
                <a:spcPts val="200"/>
              </a:spcBef>
              <a:spcAft>
                <a:spcPts val="200"/>
              </a:spcAft>
            </a:pPr>
            <a:r>
              <a:rPr sz="1500" b="0" i="0">
                <a:solidFill>
                  <a:srgbClr val="334455"/>
                </a:solidFill>
                <a:latin typeface="Arial"/>
              </a:rPr>
              <a:t>–  Inputs: fault current, electrode gap &amp; configuration, equipment type, working distance</a:t>
            </a:r>
          </a:p>
          <a:p>
            <a:pPr algn="l">
              <a:lnSpc>
                <a:spcPct val="105000"/>
              </a:lnSpc>
              <a:spcBef>
                <a:spcPts val="700"/>
              </a:spcBef>
              <a:spcAft>
                <a:spcPts val="200"/>
              </a:spcAft>
            </a:pPr>
            <a:r>
              <a:rPr sz="1800" b="0" i="0">
                <a:solidFill>
                  <a:srgbClr val="1A2B3C"/>
                </a:solidFill>
                <a:latin typeface="Arial"/>
              </a:rPr>
              <a:t>■  The result drives the required PPE arc rating and the arc-flash boundary</a:t>
            </a:r>
          </a:p>
        </p:txBody>
      </p:sp>
      <p:sp>
        <p:nvSpPr>
          <p:cNvPr id="9" name="Rectangle 8"/>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7 — Arc-Flash, First Aid &amp; Rescue</a:t>
            </a:r>
          </a:p>
        </p:txBody>
      </p:sp>
      <p:sp>
        <p:nvSpPr>
          <p:cNvPr id="11" name="TextBox 10"/>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102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7.2 BOUNDARY &amp; DISTANCE</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The Arc-Flash Boundary &amp; Working Distance</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783080"/>
            <a:ext cx="6949440" cy="4297680"/>
          </a:xfrm>
          <a:prstGeom prst="rect">
            <a:avLst/>
          </a:prstGeom>
          <a:noFill/>
        </p:spPr>
        <p:txBody>
          <a:bodyPr wrap="square" anchor="t" lIns="0" rIns="0" tIns="0" bIns="0">
            <a:spAutoFit/>
          </a:bodyPr>
          <a:lstStyle/>
          <a:p>
            <a:pPr algn="l">
              <a:lnSpc>
                <a:spcPct val="105000"/>
              </a:lnSpc>
              <a:spcBef>
                <a:spcPts val="700"/>
              </a:spcBef>
              <a:spcAft>
                <a:spcPts val="200"/>
              </a:spcAft>
            </a:pPr>
            <a:r>
              <a:rPr sz="1700" b="0" i="0">
                <a:solidFill>
                  <a:srgbClr val="1A2B3C"/>
                </a:solidFill>
                <a:latin typeface="Arial"/>
              </a:rPr>
              <a:t>■  Working distance: the arc-to-worker distance used in the calc (often 18 in for distribution)</a:t>
            </a:r>
          </a:p>
          <a:p>
            <a:pPr algn="l" lvl="1">
              <a:lnSpc>
                <a:spcPct val="102000"/>
              </a:lnSpc>
              <a:spcBef>
                <a:spcPts val="200"/>
              </a:spcBef>
              <a:spcAft>
                <a:spcPts val="100"/>
              </a:spcAft>
            </a:pPr>
            <a:r>
              <a:rPr sz="1400" b="0" i="0">
                <a:solidFill>
                  <a:srgbClr val="334455"/>
                </a:solidFill>
                <a:latin typeface="Arial"/>
              </a:rPr>
              <a:t>–  The incident energy at that distance sets the PPE arc rating you must wear</a:t>
            </a:r>
          </a:p>
          <a:p>
            <a:pPr algn="l">
              <a:lnSpc>
                <a:spcPct val="105000"/>
              </a:lnSpc>
              <a:spcBef>
                <a:spcPts val="700"/>
              </a:spcBef>
              <a:spcAft>
                <a:spcPts val="200"/>
              </a:spcAft>
            </a:pPr>
            <a:r>
              <a:rPr sz="1700" b="0" i="0">
                <a:solidFill>
                  <a:srgbClr val="1A2B3C"/>
                </a:solidFill>
                <a:latin typeface="Arial"/>
              </a:rPr>
              <a:t>■  Arc-flash boundary: the distance where incident energy = 1.2 cal/cm²</a:t>
            </a:r>
          </a:p>
          <a:p>
            <a:pPr algn="l" lvl="1">
              <a:lnSpc>
                <a:spcPct val="102000"/>
              </a:lnSpc>
              <a:spcBef>
                <a:spcPts val="200"/>
              </a:spcBef>
              <a:spcAft>
                <a:spcPts val="100"/>
              </a:spcAft>
            </a:pPr>
            <a:r>
              <a:rPr sz="1400" b="0" i="0">
                <a:solidFill>
                  <a:srgbClr val="334455"/>
                </a:solidFill>
                <a:latin typeface="Arial"/>
              </a:rPr>
              <a:t>–  1.2 cal/cm² is the onset of a second-degree burn to bare skin</a:t>
            </a:r>
          </a:p>
          <a:p>
            <a:pPr algn="l">
              <a:lnSpc>
                <a:spcPct val="105000"/>
              </a:lnSpc>
              <a:spcBef>
                <a:spcPts val="700"/>
              </a:spcBef>
              <a:spcAft>
                <a:spcPts val="200"/>
              </a:spcAft>
            </a:pPr>
            <a:r>
              <a:rPr sz="1700" b="0" i="0">
                <a:solidFill>
                  <a:srgbClr val="1A2B3C"/>
                </a:solidFill>
                <a:latin typeface="Arial"/>
              </a:rPr>
              <a:t>■  Anyone inside the boundary must wear arc-rated PPE</a:t>
            </a:r>
          </a:p>
          <a:p>
            <a:pPr algn="l">
              <a:lnSpc>
                <a:spcPct val="105000"/>
              </a:lnSpc>
              <a:spcBef>
                <a:spcPts val="700"/>
              </a:spcBef>
              <a:spcAft>
                <a:spcPts val="200"/>
              </a:spcAft>
            </a:pPr>
            <a:r>
              <a:rPr sz="1700" b="0" i="0">
                <a:solidFill>
                  <a:srgbClr val="1A2B3C"/>
                </a:solidFill>
                <a:latin typeface="Arial"/>
              </a:rPr>
              <a:t>■  Shock approach boundaries (limited / restricted) are separate and based on voltage</a:t>
            </a:r>
          </a:p>
        </p:txBody>
      </p:sp>
      <p:sp>
        <p:nvSpPr>
          <p:cNvPr id="8" name="Rounded Rectangle 7"/>
          <p:cNvSpPr/>
          <p:nvPr/>
        </p:nvSpPr>
        <p:spPr>
          <a:xfrm>
            <a:off x="7863840" y="1874519"/>
            <a:ext cx="3776472" cy="3931920"/>
          </a:xfrm>
          <a:prstGeom prst="roundRect">
            <a:avLst/>
          </a:prstGeom>
          <a:solidFill>
            <a:srgbClr val="E7EEF6"/>
          </a:solidFill>
          <a:ln w="19050">
            <a:solidFill>
              <a:srgbClr val="1340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863840" y="1874519"/>
            <a:ext cx="3776472" cy="548640"/>
          </a:xfrm>
          <a:prstGeom prst="roundRect">
            <a:avLst/>
          </a:prstGeom>
          <a:solidFill>
            <a:srgbClr val="1340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63840" y="2148839"/>
            <a:ext cx="3776472" cy="274320"/>
          </a:xfrm>
          <a:prstGeom prst="rect">
            <a:avLst/>
          </a:prstGeom>
          <a:solidFill>
            <a:srgbClr val="1340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92440" y="1920239"/>
            <a:ext cx="3319272" cy="475488"/>
          </a:xfrm>
          <a:prstGeom prst="rect">
            <a:avLst/>
          </a:prstGeom>
          <a:noFill/>
        </p:spPr>
        <p:txBody>
          <a:bodyPr wrap="square" anchor="ctr" lIns="0" rIns="0" tIns="0" bIns="0">
            <a:spAutoFit/>
          </a:bodyPr>
          <a:lstStyle/>
          <a:p>
            <a:pPr algn="l">
              <a:lnSpc>
                <a:spcPct val="105000"/>
              </a:lnSpc>
              <a:spcBef>
                <a:spcPts val="400"/>
              </a:spcBef>
              <a:spcAft>
                <a:spcPts val="400"/>
              </a:spcAft>
            </a:pPr>
            <a:r>
              <a:rPr sz="1400" b="1" i="0">
                <a:solidFill>
                  <a:srgbClr val="FFFFFF"/>
                </a:solidFill>
                <a:latin typeface="Arial"/>
              </a:rPr>
              <a:t>KEY CONCEPT</a:t>
            </a:r>
          </a:p>
        </p:txBody>
      </p:sp>
      <p:sp>
        <p:nvSpPr>
          <p:cNvPr id="12" name="TextBox 11"/>
          <p:cNvSpPr txBox="1"/>
          <p:nvPr/>
        </p:nvSpPr>
        <p:spPr>
          <a:xfrm>
            <a:off x="8138160" y="2587752"/>
            <a:ext cx="3227832" cy="3063239"/>
          </a:xfrm>
          <a:prstGeom prst="rect">
            <a:avLst/>
          </a:prstGeom>
          <a:noFill/>
        </p:spPr>
        <p:txBody>
          <a:bodyPr wrap="square" anchor="t" lIns="0" rIns="0" tIns="0" bIns="0">
            <a:spAutoFit/>
          </a:bodyPr>
          <a:lstStyle/>
          <a:p>
            <a:pPr algn="l">
              <a:lnSpc>
                <a:spcPct val="105000"/>
              </a:lnSpc>
              <a:spcBef>
                <a:spcPts val="400"/>
              </a:spcBef>
              <a:spcAft>
                <a:spcPts val="400"/>
              </a:spcAft>
            </a:pPr>
            <a:r>
              <a:rPr sz="1550" b="1" i="0">
                <a:solidFill>
                  <a:srgbClr val="134074"/>
                </a:solidFill>
                <a:latin typeface="Arial"/>
              </a:rPr>
              <a:t>Two different boundaries</a:t>
            </a:r>
          </a:p>
          <a:p>
            <a:pPr algn="l">
              <a:lnSpc>
                <a:spcPct val="105000"/>
              </a:lnSpc>
              <a:spcBef>
                <a:spcPts val="300"/>
              </a:spcBef>
              <a:spcAft>
                <a:spcPts val="100"/>
              </a:spcAft>
            </a:pPr>
            <a:r>
              <a:rPr sz="1300" b="0" i="0">
                <a:solidFill>
                  <a:srgbClr val="1A2B3C"/>
                </a:solidFill>
                <a:latin typeface="Arial"/>
              </a:rPr>
              <a:t>–  Arc-flash boundary = thermal (cal/cm²).</a:t>
            </a:r>
          </a:p>
          <a:p>
            <a:pPr algn="l">
              <a:lnSpc>
                <a:spcPct val="105000"/>
              </a:lnSpc>
              <a:spcBef>
                <a:spcPts val="300"/>
              </a:spcBef>
              <a:spcAft>
                <a:spcPts val="100"/>
              </a:spcAft>
            </a:pPr>
            <a:r>
              <a:rPr sz="1300" b="0" i="0">
                <a:solidFill>
                  <a:srgbClr val="1A2B3C"/>
                </a:solidFill>
                <a:latin typeface="Arial"/>
              </a:rPr>
              <a:t>–  Shock approach boundaries = voltage-based (the MAD family).</a:t>
            </a:r>
          </a:p>
          <a:p>
            <a:pPr algn="l">
              <a:lnSpc>
                <a:spcPct val="105000"/>
              </a:lnSpc>
              <a:spcBef>
                <a:spcPts val="300"/>
              </a:spcBef>
              <a:spcAft>
                <a:spcPts val="100"/>
              </a:spcAft>
            </a:pPr>
            <a:r>
              <a:rPr sz="1300" b="0" i="0">
                <a:solidFill>
                  <a:srgbClr val="1A2B3C"/>
                </a:solidFill>
                <a:latin typeface="Arial"/>
              </a:rPr>
              <a:t>–  Respect both — they guard against different hazards.</a:t>
            </a:r>
          </a:p>
        </p:txBody>
      </p:sp>
      <p:sp>
        <p:nvSpPr>
          <p:cNvPr id="13" name="Rectangle 12"/>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7 — Arc-Flash, First Aid &amp; Rescue</a:t>
            </a:r>
          </a:p>
        </p:txBody>
      </p:sp>
      <p:sp>
        <p:nvSpPr>
          <p:cNvPr id="15" name="TextBox 14"/>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103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7.3 PPE CATEGORIES</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Arc-Flash PPE Categories (NFPA 70E)</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640080" y="1828800"/>
          <a:ext cx="10908791" cy="2139696"/>
        </p:xfrm>
        <a:graphic>
          <a:graphicData uri="http://schemas.openxmlformats.org/drawingml/2006/table">
            <a:tbl>
              <a:tblPr firstRow="1" bandRow="1">
                <a:tableStyleId>{5C22544A-7EE6-4342-B048-85BDC9FD1C3A}</a:tableStyleId>
              </a:tblPr>
              <a:tblGrid>
                <a:gridCol w="1947998"/>
                <a:gridCol w="2727198"/>
                <a:gridCol w="6233595"/>
              </a:tblGrid>
              <a:tr h="427939">
                <a:tc>
                  <a:txBody>
                    <a:bodyPr wrap="square"/>
                    <a:lstStyle/>
                    <a:p>
                      <a:pPr algn="l"/>
                      <a:r>
                        <a:rPr sz="1300" b="1">
                          <a:solidFill>
                            <a:srgbClr val="FFFFFF"/>
                          </a:solidFill>
                          <a:latin typeface="Arial"/>
                        </a:rPr>
                        <a:t>Category</a:t>
                      </a:r>
                    </a:p>
                  </a:txBody>
                  <a:tcPr anchor="ctr" marL="91440" marR="73152" marT="36576" marB="36576">
                    <a:solidFill>
                      <a:srgbClr val="0B2545"/>
                    </a:solidFill>
                  </a:tcPr>
                </a:tc>
                <a:tc>
                  <a:txBody>
                    <a:bodyPr wrap="square"/>
                    <a:lstStyle/>
                    <a:p>
                      <a:pPr algn="l"/>
                      <a:r>
                        <a:rPr sz="1300" b="1">
                          <a:solidFill>
                            <a:srgbClr val="FFFFFF"/>
                          </a:solidFill>
                          <a:latin typeface="Arial"/>
                        </a:rPr>
                        <a:t>Min arc rating</a:t>
                      </a:r>
                    </a:p>
                  </a:txBody>
                  <a:tcPr anchor="ctr" marL="91440" marR="73152" marT="36576" marB="36576">
                    <a:solidFill>
                      <a:srgbClr val="0B2545"/>
                    </a:solidFill>
                  </a:tcPr>
                </a:tc>
                <a:tc>
                  <a:txBody>
                    <a:bodyPr wrap="square"/>
                    <a:lstStyle/>
                    <a:p>
                      <a:pPr algn="l"/>
                      <a:r>
                        <a:rPr sz="1300" b="1">
                          <a:solidFill>
                            <a:srgbClr val="FFFFFF"/>
                          </a:solidFill>
                          <a:latin typeface="Arial"/>
                        </a:rPr>
                        <a:t>Typical ensemble</a:t>
                      </a:r>
                    </a:p>
                  </a:txBody>
                  <a:tcPr anchor="ctr" marL="91440" marR="73152" marT="36576" marB="36576">
                    <a:solidFill>
                      <a:srgbClr val="0B2545"/>
                    </a:solidFill>
                  </a:tcPr>
                </a:tc>
              </a:tr>
              <a:tr h="427939">
                <a:tc>
                  <a:txBody>
                    <a:bodyPr wrap="square"/>
                    <a:lstStyle/>
                    <a:p>
                      <a:pPr algn="l"/>
                      <a:r>
                        <a:rPr sz="1250" b="1">
                          <a:solidFill>
                            <a:srgbClr val="0B2545"/>
                          </a:solidFill>
                          <a:latin typeface="Arial"/>
                        </a:rPr>
                        <a:t>CAT 1</a:t>
                      </a:r>
                    </a:p>
                  </a:txBody>
                  <a:tcPr anchor="ctr" marL="91440" marR="73152" marT="27432" marB="27432">
                    <a:solidFill>
                      <a:srgbClr val="FFFFFF"/>
                    </a:solidFill>
                  </a:tcPr>
                </a:tc>
                <a:tc>
                  <a:txBody>
                    <a:bodyPr wrap="square"/>
                    <a:lstStyle/>
                    <a:p>
                      <a:pPr algn="l"/>
                      <a:r>
                        <a:rPr sz="1250" b="0">
                          <a:solidFill>
                            <a:srgbClr val="1A2B3C"/>
                          </a:solidFill>
                          <a:latin typeface="Arial"/>
                        </a:rPr>
                        <a:t>≥ 4 cal/cm²</a:t>
                      </a:r>
                    </a:p>
                  </a:txBody>
                  <a:tcPr anchor="ctr" marL="91440" marR="73152" marT="27432" marB="27432">
                    <a:solidFill>
                      <a:srgbClr val="FFFFFF"/>
                    </a:solidFill>
                  </a:tcPr>
                </a:tc>
                <a:tc>
                  <a:txBody>
                    <a:bodyPr wrap="square"/>
                    <a:lstStyle/>
                    <a:p>
                      <a:pPr algn="l"/>
                      <a:r>
                        <a:rPr sz="1250" b="0">
                          <a:solidFill>
                            <a:srgbClr val="1A2B3C"/>
                          </a:solidFill>
                          <a:latin typeface="Arial"/>
                        </a:rPr>
                        <a:t>AR shirt &amp; pants, hard hat, arc face shield, gloves</a:t>
                      </a:r>
                    </a:p>
                  </a:txBody>
                  <a:tcPr anchor="ctr" marL="91440" marR="73152" marT="27432" marB="27432">
                    <a:solidFill>
                      <a:srgbClr val="FFFFFF"/>
                    </a:solidFill>
                  </a:tcPr>
                </a:tc>
              </a:tr>
              <a:tr h="427939">
                <a:tc>
                  <a:txBody>
                    <a:bodyPr wrap="square"/>
                    <a:lstStyle/>
                    <a:p>
                      <a:pPr algn="l"/>
                      <a:r>
                        <a:rPr sz="1250" b="1">
                          <a:solidFill>
                            <a:srgbClr val="0B2545"/>
                          </a:solidFill>
                          <a:latin typeface="Arial"/>
                        </a:rPr>
                        <a:t>CAT 2</a:t>
                      </a:r>
                    </a:p>
                  </a:txBody>
                  <a:tcPr anchor="ctr" marL="91440" marR="73152" marT="27432" marB="27432">
                    <a:solidFill>
                      <a:srgbClr val="EEF2F7"/>
                    </a:solidFill>
                  </a:tcPr>
                </a:tc>
                <a:tc>
                  <a:txBody>
                    <a:bodyPr wrap="square"/>
                    <a:lstStyle/>
                    <a:p>
                      <a:pPr algn="l"/>
                      <a:r>
                        <a:rPr sz="1250" b="0">
                          <a:solidFill>
                            <a:srgbClr val="1A2B3C"/>
                          </a:solidFill>
                          <a:latin typeface="Arial"/>
                        </a:rPr>
                        <a:t>≥ 8 cal/cm²</a:t>
                      </a:r>
                    </a:p>
                  </a:txBody>
                  <a:tcPr anchor="ctr" marL="91440" marR="73152" marT="27432" marB="27432">
                    <a:solidFill>
                      <a:srgbClr val="EEF2F7"/>
                    </a:solidFill>
                  </a:tcPr>
                </a:tc>
                <a:tc>
                  <a:txBody>
                    <a:bodyPr wrap="square"/>
                    <a:lstStyle/>
                    <a:p>
                      <a:pPr algn="l"/>
                      <a:r>
                        <a:rPr sz="1250" b="0">
                          <a:solidFill>
                            <a:srgbClr val="1A2B3C"/>
                          </a:solidFill>
                          <a:latin typeface="Arial"/>
                        </a:rPr>
                        <a:t>Above + arc-rated hood or balaclava with face shield</a:t>
                      </a:r>
                    </a:p>
                  </a:txBody>
                  <a:tcPr anchor="ctr" marL="91440" marR="73152" marT="27432" marB="27432">
                    <a:solidFill>
                      <a:srgbClr val="EEF2F7"/>
                    </a:solidFill>
                  </a:tcPr>
                </a:tc>
              </a:tr>
              <a:tr h="427939">
                <a:tc>
                  <a:txBody>
                    <a:bodyPr wrap="square"/>
                    <a:lstStyle/>
                    <a:p>
                      <a:pPr algn="l"/>
                      <a:r>
                        <a:rPr sz="1250" b="1">
                          <a:solidFill>
                            <a:srgbClr val="0B2545"/>
                          </a:solidFill>
                          <a:latin typeface="Arial"/>
                        </a:rPr>
                        <a:t>CAT 3</a:t>
                      </a:r>
                    </a:p>
                  </a:txBody>
                  <a:tcPr anchor="ctr" marL="91440" marR="73152" marT="27432" marB="27432">
                    <a:solidFill>
                      <a:srgbClr val="FFFFFF"/>
                    </a:solidFill>
                  </a:tcPr>
                </a:tc>
                <a:tc>
                  <a:txBody>
                    <a:bodyPr wrap="square"/>
                    <a:lstStyle/>
                    <a:p>
                      <a:pPr algn="l"/>
                      <a:r>
                        <a:rPr sz="1250" b="0">
                          <a:solidFill>
                            <a:srgbClr val="1A2B3C"/>
                          </a:solidFill>
                          <a:latin typeface="Arial"/>
                        </a:rPr>
                        <a:t>≥ 25 cal/cm²</a:t>
                      </a:r>
                    </a:p>
                  </a:txBody>
                  <a:tcPr anchor="ctr" marL="91440" marR="73152" marT="27432" marB="27432">
                    <a:solidFill>
                      <a:srgbClr val="FFFFFF"/>
                    </a:solidFill>
                  </a:tcPr>
                </a:tc>
                <a:tc>
                  <a:txBody>
                    <a:bodyPr wrap="square"/>
                    <a:lstStyle/>
                    <a:p>
                      <a:pPr algn="l"/>
                      <a:r>
                        <a:rPr sz="1250" b="0">
                          <a:solidFill>
                            <a:srgbClr val="1A2B3C"/>
                          </a:solidFill>
                          <a:latin typeface="Arial"/>
                        </a:rPr>
                        <a:t>AR flash-suit jacket &amp; trousers + arc-rated hood</a:t>
                      </a:r>
                    </a:p>
                  </a:txBody>
                  <a:tcPr anchor="ctr" marL="91440" marR="73152" marT="27432" marB="27432">
                    <a:solidFill>
                      <a:srgbClr val="FFFFFF"/>
                    </a:solidFill>
                  </a:tcPr>
                </a:tc>
              </a:tr>
              <a:tr h="427940">
                <a:tc>
                  <a:txBody>
                    <a:bodyPr wrap="square"/>
                    <a:lstStyle/>
                    <a:p>
                      <a:pPr algn="l"/>
                      <a:r>
                        <a:rPr sz="1250" b="1">
                          <a:solidFill>
                            <a:srgbClr val="0B2545"/>
                          </a:solidFill>
                          <a:latin typeface="Arial"/>
                        </a:rPr>
                        <a:t>CAT 4</a:t>
                      </a:r>
                    </a:p>
                  </a:txBody>
                  <a:tcPr anchor="ctr" marL="91440" marR="73152" marT="27432" marB="27432">
                    <a:solidFill>
                      <a:srgbClr val="EEF2F7"/>
                    </a:solidFill>
                  </a:tcPr>
                </a:tc>
                <a:tc>
                  <a:txBody>
                    <a:bodyPr wrap="square"/>
                    <a:lstStyle/>
                    <a:p>
                      <a:pPr algn="l"/>
                      <a:r>
                        <a:rPr sz="1250" b="0">
                          <a:solidFill>
                            <a:srgbClr val="1A2B3C"/>
                          </a:solidFill>
                          <a:latin typeface="Arial"/>
                        </a:rPr>
                        <a:t>≥ 40 cal/cm²</a:t>
                      </a:r>
                    </a:p>
                  </a:txBody>
                  <a:tcPr anchor="ctr" marL="91440" marR="73152" marT="27432" marB="27432">
                    <a:solidFill>
                      <a:srgbClr val="EEF2F7"/>
                    </a:solidFill>
                  </a:tcPr>
                </a:tc>
                <a:tc>
                  <a:txBody>
                    <a:bodyPr wrap="square"/>
                    <a:lstStyle/>
                    <a:p>
                      <a:pPr algn="l"/>
                      <a:r>
                        <a:rPr sz="1250" b="0">
                          <a:solidFill>
                            <a:srgbClr val="1A2B3C"/>
                          </a:solidFill>
                          <a:latin typeface="Arial"/>
                        </a:rPr>
                        <a:t>Heavy AR flash suit &amp; hood — full ensemble</a:t>
                      </a:r>
                    </a:p>
                  </a:txBody>
                  <a:tcPr anchor="ctr" marL="91440" marR="73152" marT="27432" marB="27432">
                    <a:solidFill>
                      <a:srgbClr val="EEF2F7"/>
                    </a:solidFill>
                  </a:tcPr>
                </a:tc>
              </a:tr>
            </a:tbl>
          </a:graphicData>
        </a:graphic>
      </p:graphicFrame>
      <p:sp>
        <p:nvSpPr>
          <p:cNvPr id="8" name="TextBox 7"/>
          <p:cNvSpPr txBox="1"/>
          <p:nvPr/>
        </p:nvSpPr>
        <p:spPr>
          <a:xfrm>
            <a:off x="658368" y="4133087"/>
            <a:ext cx="10881360" cy="822960"/>
          </a:xfrm>
          <a:prstGeom prst="rect">
            <a:avLst/>
          </a:prstGeom>
          <a:noFill/>
        </p:spPr>
        <p:txBody>
          <a:bodyPr wrap="square" anchor="t" lIns="0" rIns="0" tIns="0" bIns="0">
            <a:spAutoFit/>
          </a:bodyPr>
          <a:lstStyle/>
          <a:p>
            <a:pPr algn="l">
              <a:lnSpc>
                <a:spcPct val="110000"/>
              </a:lnSpc>
              <a:spcBef>
                <a:spcPts val="400"/>
              </a:spcBef>
              <a:spcAft>
                <a:spcPts val="400"/>
              </a:spcAft>
            </a:pPr>
            <a:r>
              <a:rPr sz="1200" b="0" i="1">
                <a:solidFill>
                  <a:srgbClr val="5B6B7B"/>
                </a:solidFill>
                <a:latin typeface="Arial"/>
              </a:rPr>
              <a:t>The category method is one approach; an incident-energy analysis is the other. Either way the garment's arc rating (ATPV) must meet or exceed the incident energy. Above ~40 cal/cm² the blast hazard alone may make energized work unacceptable — de-energize.</a:t>
            </a:r>
          </a:p>
        </p:txBody>
      </p:sp>
      <p:sp>
        <p:nvSpPr>
          <p:cNvPr id="9" name="Rectangle 8"/>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7 — Arc-Flash, First Aid &amp; Rescue</a:t>
            </a:r>
          </a:p>
        </p:txBody>
      </p:sp>
      <p:sp>
        <p:nvSpPr>
          <p:cNvPr id="11" name="TextBox 10"/>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104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7.4 THE LABEL</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Reading the Arc-Flash Label</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27632"/>
            <a:ext cx="10881360" cy="548640"/>
          </a:xfrm>
          <a:prstGeom prst="rect">
            <a:avLst/>
          </a:prstGeom>
          <a:noFill/>
        </p:spPr>
        <p:txBody>
          <a:bodyPr wrap="square" anchor="t" lIns="0" rIns="0" tIns="0" bIns="0">
            <a:spAutoFit/>
          </a:bodyPr>
          <a:lstStyle/>
          <a:p>
            <a:pPr algn="l">
              <a:lnSpc>
                <a:spcPct val="105000"/>
              </a:lnSpc>
              <a:spcBef>
                <a:spcPts val="400"/>
              </a:spcBef>
              <a:spcAft>
                <a:spcPts val="400"/>
              </a:spcAft>
            </a:pPr>
            <a:r>
              <a:rPr sz="1550" b="0" i="1">
                <a:solidFill>
                  <a:srgbClr val="5B6B7B"/>
                </a:solidFill>
                <a:latin typeface="Arial"/>
              </a:rPr>
              <a:t>The label turns the engineering study into a field decision.</a:t>
            </a:r>
          </a:p>
        </p:txBody>
      </p:sp>
      <p:sp>
        <p:nvSpPr>
          <p:cNvPr id="8" name="TextBox 7"/>
          <p:cNvSpPr txBox="1"/>
          <p:nvPr/>
        </p:nvSpPr>
        <p:spPr>
          <a:xfrm>
            <a:off x="658368" y="2240280"/>
            <a:ext cx="10927080" cy="3703320"/>
          </a:xfrm>
          <a:prstGeom prst="rect">
            <a:avLst/>
          </a:prstGeom>
          <a:noFill/>
        </p:spPr>
        <p:txBody>
          <a:bodyPr wrap="square" anchor="t" lIns="0" rIns="0" tIns="0" bIns="0">
            <a:spAutoFit/>
          </a:bodyPr>
          <a:lstStyle/>
          <a:p>
            <a:pPr algn="l">
              <a:lnSpc>
                <a:spcPct val="105000"/>
              </a:lnSpc>
              <a:spcBef>
                <a:spcPts val="700"/>
              </a:spcBef>
              <a:spcAft>
                <a:spcPts val="200"/>
              </a:spcAft>
            </a:pPr>
            <a:r>
              <a:rPr sz="1800" b="0" i="0">
                <a:solidFill>
                  <a:srgbClr val="1A2B3C"/>
                </a:solidFill>
                <a:latin typeface="Arial"/>
              </a:rPr>
              <a:t>■  Equipment should carry a label produced from the facility's arc-flash analysis</a:t>
            </a:r>
          </a:p>
          <a:p>
            <a:pPr algn="l">
              <a:lnSpc>
                <a:spcPct val="105000"/>
              </a:lnSpc>
              <a:spcBef>
                <a:spcPts val="700"/>
              </a:spcBef>
              <a:spcAft>
                <a:spcPts val="200"/>
              </a:spcAft>
            </a:pPr>
            <a:r>
              <a:rPr sz="1800" b="0" i="0">
                <a:solidFill>
                  <a:srgbClr val="1A2B3C"/>
                </a:solidFill>
                <a:latin typeface="Arial"/>
              </a:rPr>
              <a:t>■  Typical fields:</a:t>
            </a:r>
          </a:p>
          <a:p>
            <a:pPr algn="l" lvl="1">
              <a:lnSpc>
                <a:spcPct val="103000"/>
              </a:lnSpc>
              <a:spcBef>
                <a:spcPts val="200"/>
              </a:spcBef>
              <a:spcAft>
                <a:spcPts val="200"/>
              </a:spcAft>
            </a:pPr>
            <a:r>
              <a:rPr sz="1500" b="0" i="0">
                <a:solidFill>
                  <a:srgbClr val="334455"/>
                </a:solidFill>
                <a:latin typeface="Arial"/>
              </a:rPr>
              <a:t>–  Nominal system voltage · arc-flash boundary · incident energy @ working distance</a:t>
            </a:r>
          </a:p>
          <a:p>
            <a:pPr algn="l" lvl="1">
              <a:lnSpc>
                <a:spcPct val="103000"/>
              </a:lnSpc>
              <a:spcBef>
                <a:spcPts val="200"/>
              </a:spcBef>
              <a:spcAft>
                <a:spcPts val="200"/>
              </a:spcAft>
            </a:pPr>
            <a:r>
              <a:rPr sz="1500" b="0" i="0">
                <a:solidFill>
                  <a:srgbClr val="334455"/>
                </a:solidFill>
                <a:latin typeface="Arial"/>
              </a:rPr>
              <a:t>–  Required PPE category · minimum glove class · shock approach boundaries</a:t>
            </a:r>
          </a:p>
          <a:p>
            <a:pPr algn="l">
              <a:lnSpc>
                <a:spcPct val="105000"/>
              </a:lnSpc>
              <a:spcBef>
                <a:spcPts val="700"/>
              </a:spcBef>
              <a:spcAft>
                <a:spcPts val="200"/>
              </a:spcAft>
            </a:pPr>
            <a:r>
              <a:rPr sz="1800" b="0" i="0">
                <a:solidFill>
                  <a:srgbClr val="1A2B3C"/>
                </a:solidFill>
                <a:latin typeface="Arial"/>
              </a:rPr>
              <a:t>■  Use it to select PPE and set your boundaries BEFORE energizing or opening equipment</a:t>
            </a:r>
          </a:p>
          <a:p>
            <a:pPr algn="l">
              <a:lnSpc>
                <a:spcPct val="105000"/>
              </a:lnSpc>
              <a:spcBef>
                <a:spcPts val="700"/>
              </a:spcBef>
              <a:spcAft>
                <a:spcPts val="200"/>
              </a:spcAft>
            </a:pPr>
            <a:r>
              <a:rPr sz="1800" b="0" i="0">
                <a:solidFill>
                  <a:srgbClr val="1A2B3C"/>
                </a:solidFill>
                <a:latin typeface="Arial"/>
              </a:rPr>
              <a:t>■  Missing, outdated, or illegible label → STOP and get the analysis</a:t>
            </a:r>
          </a:p>
          <a:p>
            <a:pPr algn="l">
              <a:lnSpc>
                <a:spcPct val="105000"/>
              </a:lnSpc>
              <a:spcBef>
                <a:spcPts val="700"/>
              </a:spcBef>
              <a:spcAft>
                <a:spcPts val="200"/>
              </a:spcAft>
            </a:pPr>
            <a:r>
              <a:rPr sz="1800" b="0" i="0">
                <a:solidFill>
                  <a:srgbClr val="1A2B3C"/>
                </a:solidFill>
                <a:latin typeface="Arial"/>
              </a:rPr>
              <a:t>■  Labels change when the system changes — new transformer, settings, or fault current</a:t>
            </a:r>
          </a:p>
        </p:txBody>
      </p:sp>
      <p:sp>
        <p:nvSpPr>
          <p:cNvPr id="9" name="Rectangle 8"/>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7 — Arc-Flash, First Aid &amp; Rescue</a:t>
            </a:r>
          </a:p>
        </p:txBody>
      </p:sp>
      <p:sp>
        <p:nvSpPr>
          <p:cNvPr id="11" name="TextBox 10"/>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105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7.5 ELECTRICAL INJURY</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Electrical Injury — What Happens to the Body</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27632"/>
            <a:ext cx="10881360" cy="548640"/>
          </a:xfrm>
          <a:prstGeom prst="rect">
            <a:avLst/>
          </a:prstGeom>
          <a:noFill/>
        </p:spPr>
        <p:txBody>
          <a:bodyPr wrap="square" anchor="t" lIns="0" rIns="0" tIns="0" bIns="0">
            <a:spAutoFit/>
          </a:bodyPr>
          <a:lstStyle/>
          <a:p>
            <a:pPr algn="l">
              <a:lnSpc>
                <a:spcPct val="105000"/>
              </a:lnSpc>
              <a:spcBef>
                <a:spcPts val="400"/>
              </a:spcBef>
              <a:spcAft>
                <a:spcPts val="400"/>
              </a:spcAft>
            </a:pPr>
            <a:r>
              <a:rPr sz="1550" b="0" i="1">
                <a:solidFill>
                  <a:srgbClr val="5B6B7B"/>
                </a:solidFill>
                <a:latin typeface="Arial"/>
              </a:rPr>
              <a:t>One contact can injure several body systems at once — which is why every contact gets evaluated.</a:t>
            </a:r>
          </a:p>
        </p:txBody>
      </p:sp>
      <p:sp>
        <p:nvSpPr>
          <p:cNvPr id="8" name="TextBox 7"/>
          <p:cNvSpPr txBox="1"/>
          <p:nvPr/>
        </p:nvSpPr>
        <p:spPr>
          <a:xfrm>
            <a:off x="658368" y="2240280"/>
            <a:ext cx="10927080" cy="3703320"/>
          </a:xfrm>
          <a:prstGeom prst="rect">
            <a:avLst/>
          </a:prstGeom>
          <a:noFill/>
        </p:spPr>
        <p:txBody>
          <a:bodyPr wrap="square" anchor="t" lIns="0" rIns="0" tIns="0" bIns="0">
            <a:spAutoFit/>
          </a:bodyPr>
          <a:lstStyle/>
          <a:p>
            <a:pPr algn="l">
              <a:lnSpc>
                <a:spcPct val="105000"/>
              </a:lnSpc>
              <a:spcBef>
                <a:spcPts val="700"/>
              </a:spcBef>
              <a:spcAft>
                <a:spcPts val="200"/>
              </a:spcAft>
            </a:pPr>
            <a:r>
              <a:rPr sz="1800" b="0" i="0">
                <a:solidFill>
                  <a:srgbClr val="1A2B3C"/>
                </a:solidFill>
                <a:latin typeface="Arial"/>
              </a:rPr>
              <a:t>■  Cardiac: ventricular fibrillation or arrest from current across the chest</a:t>
            </a:r>
          </a:p>
          <a:p>
            <a:pPr algn="l">
              <a:lnSpc>
                <a:spcPct val="105000"/>
              </a:lnSpc>
              <a:spcBef>
                <a:spcPts val="700"/>
              </a:spcBef>
              <a:spcAft>
                <a:spcPts val="200"/>
              </a:spcAft>
            </a:pPr>
            <a:r>
              <a:rPr sz="1800" b="0" i="0">
                <a:solidFill>
                  <a:srgbClr val="1A2B3C"/>
                </a:solidFill>
                <a:latin typeface="Arial"/>
              </a:rPr>
              <a:t>■  Burns: surface arc burns AND internal burns along the current path</a:t>
            </a:r>
          </a:p>
          <a:p>
            <a:pPr algn="l" lvl="1">
              <a:lnSpc>
                <a:spcPct val="103000"/>
              </a:lnSpc>
              <a:spcBef>
                <a:spcPts val="200"/>
              </a:spcBef>
              <a:spcAft>
                <a:spcPts val="200"/>
              </a:spcAft>
            </a:pPr>
            <a:r>
              <a:rPr sz="1500" b="0" i="0">
                <a:solidFill>
                  <a:srgbClr val="334455"/>
                </a:solidFill>
                <a:latin typeface="Arial"/>
              </a:rPr>
              <a:t>–  Small entry/exit wounds can hide massive internal tissue damage</a:t>
            </a:r>
          </a:p>
          <a:p>
            <a:pPr algn="l">
              <a:lnSpc>
                <a:spcPct val="105000"/>
              </a:lnSpc>
              <a:spcBef>
                <a:spcPts val="700"/>
              </a:spcBef>
              <a:spcAft>
                <a:spcPts val="200"/>
              </a:spcAft>
            </a:pPr>
            <a:r>
              <a:rPr sz="1800" b="0" i="0">
                <a:solidFill>
                  <a:srgbClr val="1A2B3C"/>
                </a:solidFill>
                <a:latin typeface="Arial"/>
              </a:rPr>
              <a:t>■  Respiratory: chest muscles lock — breathing can stop</a:t>
            </a:r>
          </a:p>
          <a:p>
            <a:pPr algn="l">
              <a:lnSpc>
                <a:spcPct val="105000"/>
              </a:lnSpc>
              <a:spcBef>
                <a:spcPts val="700"/>
              </a:spcBef>
              <a:spcAft>
                <a:spcPts val="200"/>
              </a:spcAft>
            </a:pPr>
            <a:r>
              <a:rPr sz="1800" b="0" i="0">
                <a:solidFill>
                  <a:srgbClr val="1A2B3C"/>
                </a:solidFill>
                <a:latin typeface="Arial"/>
              </a:rPr>
              <a:t>■  Neurological: nerve damage, confusion, lasting deficits</a:t>
            </a:r>
          </a:p>
          <a:p>
            <a:pPr algn="l">
              <a:lnSpc>
                <a:spcPct val="105000"/>
              </a:lnSpc>
              <a:spcBef>
                <a:spcPts val="700"/>
              </a:spcBef>
              <a:spcAft>
                <a:spcPts val="200"/>
              </a:spcAft>
            </a:pPr>
            <a:r>
              <a:rPr sz="1800" b="0" i="0">
                <a:solidFill>
                  <a:srgbClr val="1A2B3C"/>
                </a:solidFill>
                <a:latin typeface="Arial"/>
              </a:rPr>
              <a:t>■  Trauma: falls from the shock, blast-thrown objects and molten metal</a:t>
            </a:r>
          </a:p>
          <a:p>
            <a:pPr algn="l">
              <a:lnSpc>
                <a:spcPct val="105000"/>
              </a:lnSpc>
              <a:spcBef>
                <a:spcPts val="700"/>
              </a:spcBef>
              <a:spcAft>
                <a:spcPts val="200"/>
              </a:spcAft>
            </a:pPr>
            <a:r>
              <a:rPr sz="1800" b="0" i="0">
                <a:solidFill>
                  <a:srgbClr val="1A2B3C"/>
                </a:solidFill>
                <a:latin typeface="Arial"/>
              </a:rPr>
              <a:t>■  Delayed effects: kidney injury from tissue breakdown; rhythm problems hours later</a:t>
            </a:r>
          </a:p>
        </p:txBody>
      </p:sp>
      <p:sp>
        <p:nvSpPr>
          <p:cNvPr id="9" name="Rectangle 8"/>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7 — Arc-Flash, First Aid &amp; Rescue</a:t>
            </a:r>
          </a:p>
        </p:txBody>
      </p:sp>
      <p:sp>
        <p:nvSpPr>
          <p:cNvPr id="11" name="TextBox 10"/>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106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7.6 SCENE CONTROL</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Emergency Response — Scene Control &amp; the Rescuer</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783080"/>
            <a:ext cx="6949440" cy="4297680"/>
          </a:xfrm>
          <a:prstGeom prst="rect">
            <a:avLst/>
          </a:prstGeom>
          <a:noFill/>
        </p:spPr>
        <p:txBody>
          <a:bodyPr wrap="square" anchor="t" lIns="0" rIns="0" tIns="0" bIns="0">
            <a:spAutoFit/>
          </a:bodyPr>
          <a:lstStyle/>
          <a:p>
            <a:pPr algn="l">
              <a:lnSpc>
                <a:spcPct val="105000"/>
              </a:lnSpc>
              <a:spcBef>
                <a:spcPts val="700"/>
              </a:spcBef>
              <a:spcAft>
                <a:spcPts val="200"/>
              </a:spcAft>
            </a:pPr>
            <a:r>
              <a:rPr sz="1700" b="0" i="0">
                <a:solidFill>
                  <a:srgbClr val="1A2B3C"/>
                </a:solidFill>
                <a:latin typeface="Arial"/>
              </a:rPr>
              <a:t>■  Protect yourself FIRST — a second victim helps no one</a:t>
            </a:r>
          </a:p>
          <a:p>
            <a:pPr algn="l">
              <a:lnSpc>
                <a:spcPct val="105000"/>
              </a:lnSpc>
              <a:spcBef>
                <a:spcPts val="700"/>
              </a:spcBef>
              <a:spcAft>
                <a:spcPts val="200"/>
              </a:spcAft>
            </a:pPr>
            <a:r>
              <a:rPr sz="1700" b="0" i="0">
                <a:solidFill>
                  <a:srgbClr val="1A2B3C"/>
                </a:solidFill>
                <a:latin typeface="Arial"/>
              </a:rPr>
              <a:t>■  Do NOT touch the patient until the source is removed / de-energized and you know it</a:t>
            </a:r>
          </a:p>
          <a:p>
            <a:pPr algn="l">
              <a:lnSpc>
                <a:spcPct val="105000"/>
              </a:lnSpc>
              <a:spcBef>
                <a:spcPts val="700"/>
              </a:spcBef>
              <a:spcAft>
                <a:spcPts val="200"/>
              </a:spcAft>
            </a:pPr>
            <a:r>
              <a:rPr sz="1700" b="0" i="0">
                <a:solidFill>
                  <a:srgbClr val="1A2B3C"/>
                </a:solidFill>
                <a:latin typeface="Arial"/>
              </a:rPr>
              <a:t>■  Treat downed conductors and the ground around them as energized — keep a wide barrier</a:t>
            </a:r>
          </a:p>
          <a:p>
            <a:pPr algn="l">
              <a:lnSpc>
                <a:spcPct val="105000"/>
              </a:lnSpc>
              <a:spcBef>
                <a:spcPts val="700"/>
              </a:spcBef>
              <a:spcAft>
                <a:spcPts val="200"/>
              </a:spcAft>
            </a:pPr>
            <a:r>
              <a:rPr sz="1700" b="0" i="0">
                <a:solidFill>
                  <a:srgbClr val="1A2B3C"/>
                </a:solidFill>
                <a:latin typeface="Arial"/>
              </a:rPr>
              <a:t>■  Call for help early with a precise location; send someone for the AED</a:t>
            </a:r>
          </a:p>
          <a:p>
            <a:pPr algn="l">
              <a:lnSpc>
                <a:spcPct val="105000"/>
              </a:lnSpc>
              <a:spcBef>
                <a:spcPts val="700"/>
              </a:spcBef>
              <a:spcAft>
                <a:spcPts val="200"/>
              </a:spcAft>
            </a:pPr>
            <a:r>
              <a:rPr sz="1700" b="0" i="0">
                <a:solidFill>
                  <a:srgbClr val="1A2B3C"/>
                </a:solidFill>
                <a:latin typeface="Arial"/>
              </a:rPr>
              <a:t>■  Decide who is in charge of the rescue and communicate clearly</a:t>
            </a:r>
          </a:p>
        </p:txBody>
      </p:sp>
      <p:sp>
        <p:nvSpPr>
          <p:cNvPr id="8" name="Rounded Rectangle 7"/>
          <p:cNvSpPr/>
          <p:nvPr/>
        </p:nvSpPr>
        <p:spPr>
          <a:xfrm>
            <a:off x="7863840" y="1874519"/>
            <a:ext cx="3776472" cy="3931920"/>
          </a:xfrm>
          <a:prstGeom prst="roundRect">
            <a:avLst/>
          </a:prstGeom>
          <a:solidFill>
            <a:srgbClr val="FDF4DE"/>
          </a:solidFill>
          <a:ln w="19050">
            <a:solidFill>
              <a:srgbClr val="C88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863840" y="1874519"/>
            <a:ext cx="3776472" cy="548640"/>
          </a:xfrm>
          <a:prstGeom prst="roundRect">
            <a:avLst/>
          </a:prstGeom>
          <a:solidFill>
            <a:srgbClr val="C88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63840" y="2148839"/>
            <a:ext cx="3776472" cy="274320"/>
          </a:xfrm>
          <a:prstGeom prst="rect">
            <a:avLst/>
          </a:prstGeom>
          <a:solidFill>
            <a:srgbClr val="C88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92440" y="1920239"/>
            <a:ext cx="3319272" cy="475488"/>
          </a:xfrm>
          <a:prstGeom prst="rect">
            <a:avLst/>
          </a:prstGeom>
          <a:noFill/>
        </p:spPr>
        <p:txBody>
          <a:bodyPr wrap="square" anchor="ctr" lIns="0" rIns="0" tIns="0" bIns="0">
            <a:spAutoFit/>
          </a:bodyPr>
          <a:lstStyle/>
          <a:p>
            <a:pPr algn="l">
              <a:lnSpc>
                <a:spcPct val="105000"/>
              </a:lnSpc>
              <a:spcBef>
                <a:spcPts val="400"/>
              </a:spcBef>
              <a:spcAft>
                <a:spcPts val="400"/>
              </a:spcAft>
            </a:pPr>
            <a:r>
              <a:rPr sz="1400" b="1" i="0">
                <a:solidFill>
                  <a:srgbClr val="FFFFFF"/>
                </a:solidFill>
                <a:latin typeface="Arial"/>
              </a:rPr>
              <a:t>WARNING  ⚠</a:t>
            </a:r>
          </a:p>
        </p:txBody>
      </p:sp>
      <p:sp>
        <p:nvSpPr>
          <p:cNvPr id="12" name="TextBox 11"/>
          <p:cNvSpPr txBox="1"/>
          <p:nvPr/>
        </p:nvSpPr>
        <p:spPr>
          <a:xfrm>
            <a:off x="8138160" y="2587752"/>
            <a:ext cx="3227832" cy="3063239"/>
          </a:xfrm>
          <a:prstGeom prst="rect">
            <a:avLst/>
          </a:prstGeom>
          <a:noFill/>
        </p:spPr>
        <p:txBody>
          <a:bodyPr wrap="square" anchor="t" lIns="0" rIns="0" tIns="0" bIns="0">
            <a:spAutoFit/>
          </a:bodyPr>
          <a:lstStyle/>
          <a:p>
            <a:pPr algn="l">
              <a:lnSpc>
                <a:spcPct val="105000"/>
              </a:lnSpc>
              <a:spcBef>
                <a:spcPts val="400"/>
              </a:spcBef>
              <a:spcAft>
                <a:spcPts val="400"/>
              </a:spcAft>
            </a:pPr>
            <a:r>
              <a:rPr sz="1550" b="1" i="0">
                <a:solidFill>
                  <a:srgbClr val="C88A00"/>
                </a:solidFill>
                <a:latin typeface="Arial"/>
              </a:rPr>
              <a:t>The order is fixed</a:t>
            </a:r>
          </a:p>
          <a:p>
            <a:pPr algn="l">
              <a:lnSpc>
                <a:spcPct val="105000"/>
              </a:lnSpc>
              <a:spcBef>
                <a:spcPts val="300"/>
              </a:spcBef>
              <a:spcAft>
                <a:spcPts val="100"/>
              </a:spcAft>
            </a:pPr>
            <a:r>
              <a:rPr sz="1300" b="0" i="0">
                <a:solidFill>
                  <a:srgbClr val="1A2B3C"/>
                </a:solidFill>
                <a:latin typeface="Arial"/>
              </a:rPr>
              <a:t>–  1. Make the scene safe (remove the source).</a:t>
            </a:r>
          </a:p>
          <a:p>
            <a:pPr algn="l">
              <a:lnSpc>
                <a:spcPct val="105000"/>
              </a:lnSpc>
              <a:spcBef>
                <a:spcPts val="300"/>
              </a:spcBef>
              <a:spcAft>
                <a:spcPts val="100"/>
              </a:spcAft>
            </a:pPr>
            <a:r>
              <a:rPr sz="1300" b="0" i="0">
                <a:solidFill>
                  <a:srgbClr val="1A2B3C"/>
                </a:solidFill>
                <a:latin typeface="Arial"/>
              </a:rPr>
              <a:t>–  2. Reach the patient.</a:t>
            </a:r>
          </a:p>
          <a:p>
            <a:pPr algn="l">
              <a:lnSpc>
                <a:spcPct val="105000"/>
              </a:lnSpc>
              <a:spcBef>
                <a:spcPts val="300"/>
              </a:spcBef>
              <a:spcAft>
                <a:spcPts val="100"/>
              </a:spcAft>
            </a:pPr>
            <a:r>
              <a:rPr sz="1300" b="0" i="0">
                <a:solidFill>
                  <a:srgbClr val="1A2B3C"/>
                </a:solidFill>
                <a:latin typeface="Arial"/>
              </a:rPr>
              <a:t>–  3. Treat — CPR/AED, then burns.</a:t>
            </a:r>
          </a:p>
          <a:p>
            <a:pPr algn="l">
              <a:lnSpc>
                <a:spcPct val="105000"/>
              </a:lnSpc>
              <a:spcBef>
                <a:spcPts val="300"/>
              </a:spcBef>
              <a:spcAft>
                <a:spcPts val="100"/>
              </a:spcAft>
            </a:pPr>
            <a:r>
              <a:rPr sz="1300" b="0" i="0">
                <a:solidFill>
                  <a:srgbClr val="1A2B3C"/>
                </a:solidFill>
                <a:latin typeface="Arial"/>
              </a:rPr>
              <a:t>–  Never skip step 1 to save time.</a:t>
            </a:r>
          </a:p>
        </p:txBody>
      </p:sp>
      <p:sp>
        <p:nvSpPr>
          <p:cNvPr id="13" name="Rectangle 12"/>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7 — Arc-Flash, First Aid &amp; Rescue</a:t>
            </a:r>
          </a:p>
        </p:txBody>
      </p:sp>
      <p:sp>
        <p:nvSpPr>
          <p:cNvPr id="15" name="TextBox 14"/>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107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7.7 CPR &amp; AED</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CPR &amp; AED for Electrical Contact</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27632"/>
            <a:ext cx="10881360" cy="502920"/>
          </a:xfrm>
          <a:prstGeom prst="rect">
            <a:avLst/>
          </a:prstGeom>
          <a:noFill/>
        </p:spPr>
        <p:txBody>
          <a:bodyPr wrap="square" anchor="t" lIns="0" rIns="0" tIns="0" bIns="0">
            <a:spAutoFit/>
          </a:bodyPr>
          <a:lstStyle/>
          <a:p>
            <a:pPr algn="l">
              <a:lnSpc>
                <a:spcPct val="105000"/>
              </a:lnSpc>
              <a:spcBef>
                <a:spcPts val="400"/>
              </a:spcBef>
              <a:spcAft>
                <a:spcPts val="400"/>
              </a:spcAft>
            </a:pPr>
            <a:r>
              <a:rPr sz="1500" b="0" i="1">
                <a:solidFill>
                  <a:srgbClr val="5B6B7B"/>
                </a:solidFill>
                <a:latin typeface="Arial"/>
              </a:rPr>
              <a:t>Push hard, push fast, minimize interruptions.</a:t>
            </a:r>
          </a:p>
        </p:txBody>
      </p:sp>
      <p:sp>
        <p:nvSpPr>
          <p:cNvPr id="8" name="Oval 7"/>
          <p:cNvSpPr/>
          <p:nvPr/>
        </p:nvSpPr>
        <p:spPr>
          <a:xfrm>
            <a:off x="640080" y="2194560"/>
            <a:ext cx="640080" cy="640080"/>
          </a:xfrm>
          <a:prstGeom prst="ellipse">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2194560"/>
            <a:ext cx="640080" cy="640080"/>
          </a:xfrm>
          <a:prstGeom prst="rect">
            <a:avLst/>
          </a:prstGeom>
          <a:noFill/>
        </p:spPr>
        <p:txBody>
          <a:bodyPr wrap="square" anchor="ctr" lIns="0" rIns="0" tIns="0" bIns="0">
            <a:spAutoFit/>
          </a:bodyPr>
          <a:lstStyle/>
          <a:p>
            <a:pPr algn="ctr">
              <a:lnSpc>
                <a:spcPct val="105000"/>
              </a:lnSpc>
              <a:spcBef>
                <a:spcPts val="400"/>
              </a:spcBef>
              <a:spcAft>
                <a:spcPts val="400"/>
              </a:spcAft>
            </a:pPr>
            <a:r>
              <a:rPr sz="2000" b="1" i="0">
                <a:solidFill>
                  <a:srgbClr val="0B2545"/>
                </a:solidFill>
                <a:latin typeface="Arial"/>
              </a:rPr>
              <a:t>1</a:t>
            </a:r>
          </a:p>
        </p:txBody>
      </p:sp>
      <p:sp>
        <p:nvSpPr>
          <p:cNvPr id="10" name="TextBox 9"/>
          <p:cNvSpPr txBox="1"/>
          <p:nvPr/>
        </p:nvSpPr>
        <p:spPr>
          <a:xfrm>
            <a:off x="1435608" y="2176272"/>
            <a:ext cx="10058400" cy="749808"/>
          </a:xfrm>
          <a:prstGeom prst="rect">
            <a:avLst/>
          </a:prstGeom>
          <a:noFill/>
        </p:spPr>
        <p:txBody>
          <a:bodyPr wrap="square" anchor="ctr" lIns="0" rIns="0" tIns="0" bIns="0">
            <a:spAutoFit/>
          </a:bodyPr>
          <a:lstStyle/>
          <a:p>
            <a:pPr algn="l">
              <a:lnSpc>
                <a:spcPct val="100000"/>
              </a:lnSpc>
              <a:spcBef>
                <a:spcPts val="400"/>
              </a:spcBef>
              <a:spcAft>
                <a:spcPts val="100"/>
              </a:spcAft>
            </a:pPr>
            <a:r>
              <a:rPr sz="1550" b="1" i="0">
                <a:solidFill>
                  <a:srgbClr val="0B2545"/>
                </a:solidFill>
                <a:latin typeface="Arial"/>
              </a:rPr>
              <a:t>1. Scene safe</a:t>
            </a:r>
          </a:p>
          <a:p>
            <a:pPr algn="l">
              <a:lnSpc>
                <a:spcPct val="100000"/>
              </a:lnSpc>
              <a:spcBef>
                <a:spcPts val="0"/>
              </a:spcBef>
              <a:spcAft>
                <a:spcPts val="400"/>
              </a:spcAft>
            </a:pPr>
            <a:r>
              <a:rPr sz="1250" b="0" i="0">
                <a:solidFill>
                  <a:srgbClr val="5B6B7B"/>
                </a:solidFill>
                <a:latin typeface="Arial"/>
              </a:rPr>
              <a:t>Confirm the source is removed / de-energized before you approach the patient.</a:t>
            </a:r>
          </a:p>
        </p:txBody>
      </p:sp>
      <p:sp>
        <p:nvSpPr>
          <p:cNvPr id="11" name="Oval 10"/>
          <p:cNvSpPr/>
          <p:nvPr/>
        </p:nvSpPr>
        <p:spPr>
          <a:xfrm>
            <a:off x="640080" y="2999232"/>
            <a:ext cx="640080" cy="640080"/>
          </a:xfrm>
          <a:prstGeom prst="ellipse">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999232"/>
            <a:ext cx="640080" cy="640080"/>
          </a:xfrm>
          <a:prstGeom prst="rect">
            <a:avLst/>
          </a:prstGeom>
          <a:noFill/>
        </p:spPr>
        <p:txBody>
          <a:bodyPr wrap="square" anchor="ctr" lIns="0" rIns="0" tIns="0" bIns="0">
            <a:spAutoFit/>
          </a:bodyPr>
          <a:lstStyle/>
          <a:p>
            <a:pPr algn="ctr">
              <a:lnSpc>
                <a:spcPct val="105000"/>
              </a:lnSpc>
              <a:spcBef>
                <a:spcPts val="400"/>
              </a:spcBef>
              <a:spcAft>
                <a:spcPts val="400"/>
              </a:spcAft>
            </a:pPr>
            <a:r>
              <a:rPr sz="2000" b="1" i="0">
                <a:solidFill>
                  <a:srgbClr val="0B2545"/>
                </a:solidFill>
                <a:latin typeface="Arial"/>
              </a:rPr>
              <a:t>2</a:t>
            </a:r>
          </a:p>
        </p:txBody>
      </p:sp>
      <p:sp>
        <p:nvSpPr>
          <p:cNvPr id="13" name="TextBox 12"/>
          <p:cNvSpPr txBox="1"/>
          <p:nvPr/>
        </p:nvSpPr>
        <p:spPr>
          <a:xfrm>
            <a:off x="1435608" y="2980944"/>
            <a:ext cx="10058400" cy="749808"/>
          </a:xfrm>
          <a:prstGeom prst="rect">
            <a:avLst/>
          </a:prstGeom>
          <a:noFill/>
        </p:spPr>
        <p:txBody>
          <a:bodyPr wrap="square" anchor="ctr" lIns="0" rIns="0" tIns="0" bIns="0">
            <a:spAutoFit/>
          </a:bodyPr>
          <a:lstStyle/>
          <a:p>
            <a:pPr algn="l">
              <a:lnSpc>
                <a:spcPct val="100000"/>
              </a:lnSpc>
              <a:spcBef>
                <a:spcPts val="400"/>
              </a:spcBef>
              <a:spcAft>
                <a:spcPts val="100"/>
              </a:spcAft>
            </a:pPr>
            <a:r>
              <a:rPr sz="1550" b="1" i="0">
                <a:solidFill>
                  <a:srgbClr val="0B2545"/>
                </a:solidFill>
                <a:latin typeface="Arial"/>
              </a:rPr>
              <a:t>2. Check &amp; call</a:t>
            </a:r>
          </a:p>
          <a:p>
            <a:pPr algn="l">
              <a:lnSpc>
                <a:spcPct val="100000"/>
              </a:lnSpc>
              <a:spcBef>
                <a:spcPts val="0"/>
              </a:spcBef>
              <a:spcAft>
                <a:spcPts val="400"/>
              </a:spcAft>
            </a:pPr>
            <a:r>
              <a:rPr sz="1250" b="0" i="0">
                <a:solidFill>
                  <a:srgbClr val="5B6B7B"/>
                </a:solidFill>
                <a:latin typeface="Arial"/>
              </a:rPr>
              <a:t>Check responsiveness and breathing; call 911 and send for the AED.</a:t>
            </a:r>
          </a:p>
        </p:txBody>
      </p:sp>
      <p:sp>
        <p:nvSpPr>
          <p:cNvPr id="14" name="Oval 13"/>
          <p:cNvSpPr/>
          <p:nvPr/>
        </p:nvSpPr>
        <p:spPr>
          <a:xfrm>
            <a:off x="640080" y="3803904"/>
            <a:ext cx="640080" cy="640080"/>
          </a:xfrm>
          <a:prstGeom prst="ellipse">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3803904"/>
            <a:ext cx="640080" cy="640080"/>
          </a:xfrm>
          <a:prstGeom prst="rect">
            <a:avLst/>
          </a:prstGeom>
          <a:noFill/>
        </p:spPr>
        <p:txBody>
          <a:bodyPr wrap="square" anchor="ctr" lIns="0" rIns="0" tIns="0" bIns="0">
            <a:spAutoFit/>
          </a:bodyPr>
          <a:lstStyle/>
          <a:p>
            <a:pPr algn="ctr">
              <a:lnSpc>
                <a:spcPct val="105000"/>
              </a:lnSpc>
              <a:spcBef>
                <a:spcPts val="400"/>
              </a:spcBef>
              <a:spcAft>
                <a:spcPts val="400"/>
              </a:spcAft>
            </a:pPr>
            <a:r>
              <a:rPr sz="2000" b="1" i="0">
                <a:solidFill>
                  <a:srgbClr val="0B2545"/>
                </a:solidFill>
                <a:latin typeface="Arial"/>
              </a:rPr>
              <a:t>3</a:t>
            </a:r>
          </a:p>
        </p:txBody>
      </p:sp>
      <p:sp>
        <p:nvSpPr>
          <p:cNvPr id="16" name="TextBox 15"/>
          <p:cNvSpPr txBox="1"/>
          <p:nvPr/>
        </p:nvSpPr>
        <p:spPr>
          <a:xfrm>
            <a:off x="1435608" y="3785616"/>
            <a:ext cx="10058400" cy="749808"/>
          </a:xfrm>
          <a:prstGeom prst="rect">
            <a:avLst/>
          </a:prstGeom>
          <a:noFill/>
        </p:spPr>
        <p:txBody>
          <a:bodyPr wrap="square" anchor="ctr" lIns="0" rIns="0" tIns="0" bIns="0">
            <a:spAutoFit/>
          </a:bodyPr>
          <a:lstStyle/>
          <a:p>
            <a:pPr algn="l">
              <a:lnSpc>
                <a:spcPct val="100000"/>
              </a:lnSpc>
              <a:spcBef>
                <a:spcPts val="400"/>
              </a:spcBef>
              <a:spcAft>
                <a:spcPts val="100"/>
              </a:spcAft>
            </a:pPr>
            <a:r>
              <a:rPr sz="1550" b="1" i="0">
                <a:solidFill>
                  <a:srgbClr val="0B2545"/>
                </a:solidFill>
                <a:latin typeface="Arial"/>
              </a:rPr>
              <a:t>3. Compressions</a:t>
            </a:r>
          </a:p>
          <a:p>
            <a:pPr algn="l">
              <a:lnSpc>
                <a:spcPct val="100000"/>
              </a:lnSpc>
              <a:spcBef>
                <a:spcPts val="0"/>
              </a:spcBef>
              <a:spcAft>
                <a:spcPts val="400"/>
              </a:spcAft>
            </a:pPr>
            <a:r>
              <a:rPr sz="1250" b="0" i="0">
                <a:solidFill>
                  <a:srgbClr val="5B6B7B"/>
                </a:solidFill>
                <a:latin typeface="Arial"/>
              </a:rPr>
              <a:t>Center of the chest, 100–120 per minute, about 2 inches deep, full recoil.</a:t>
            </a:r>
          </a:p>
        </p:txBody>
      </p:sp>
      <p:sp>
        <p:nvSpPr>
          <p:cNvPr id="17" name="Oval 16"/>
          <p:cNvSpPr/>
          <p:nvPr/>
        </p:nvSpPr>
        <p:spPr>
          <a:xfrm>
            <a:off x="640080" y="4608576"/>
            <a:ext cx="640080" cy="640080"/>
          </a:xfrm>
          <a:prstGeom prst="ellipse">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4608576"/>
            <a:ext cx="640080" cy="640080"/>
          </a:xfrm>
          <a:prstGeom prst="rect">
            <a:avLst/>
          </a:prstGeom>
          <a:noFill/>
        </p:spPr>
        <p:txBody>
          <a:bodyPr wrap="square" anchor="ctr" lIns="0" rIns="0" tIns="0" bIns="0">
            <a:spAutoFit/>
          </a:bodyPr>
          <a:lstStyle/>
          <a:p>
            <a:pPr algn="ctr">
              <a:lnSpc>
                <a:spcPct val="105000"/>
              </a:lnSpc>
              <a:spcBef>
                <a:spcPts val="400"/>
              </a:spcBef>
              <a:spcAft>
                <a:spcPts val="400"/>
              </a:spcAft>
            </a:pPr>
            <a:r>
              <a:rPr sz="2000" b="1" i="0">
                <a:solidFill>
                  <a:srgbClr val="0B2545"/>
                </a:solidFill>
                <a:latin typeface="Arial"/>
              </a:rPr>
              <a:t>4</a:t>
            </a:r>
          </a:p>
        </p:txBody>
      </p:sp>
      <p:sp>
        <p:nvSpPr>
          <p:cNvPr id="19" name="TextBox 18"/>
          <p:cNvSpPr txBox="1"/>
          <p:nvPr/>
        </p:nvSpPr>
        <p:spPr>
          <a:xfrm>
            <a:off x="1435608" y="4590288"/>
            <a:ext cx="10058400" cy="749808"/>
          </a:xfrm>
          <a:prstGeom prst="rect">
            <a:avLst/>
          </a:prstGeom>
          <a:noFill/>
        </p:spPr>
        <p:txBody>
          <a:bodyPr wrap="square" anchor="ctr" lIns="0" rIns="0" tIns="0" bIns="0">
            <a:spAutoFit/>
          </a:bodyPr>
          <a:lstStyle/>
          <a:p>
            <a:pPr algn="l">
              <a:lnSpc>
                <a:spcPct val="100000"/>
              </a:lnSpc>
              <a:spcBef>
                <a:spcPts val="400"/>
              </a:spcBef>
              <a:spcAft>
                <a:spcPts val="100"/>
              </a:spcAft>
            </a:pPr>
            <a:r>
              <a:rPr sz="1550" b="1" i="0">
                <a:solidFill>
                  <a:srgbClr val="0B2545"/>
                </a:solidFill>
                <a:latin typeface="Arial"/>
              </a:rPr>
              <a:t>4. Apply the AED</a:t>
            </a:r>
          </a:p>
          <a:p>
            <a:pPr algn="l">
              <a:lnSpc>
                <a:spcPct val="100000"/>
              </a:lnSpc>
              <a:spcBef>
                <a:spcPts val="0"/>
              </a:spcBef>
              <a:spcAft>
                <a:spcPts val="400"/>
              </a:spcAft>
            </a:pPr>
            <a:r>
              <a:rPr sz="1250" b="0" i="0">
                <a:solidFill>
                  <a:srgbClr val="5B6B7B"/>
                </a:solidFill>
                <a:latin typeface="Arial"/>
              </a:rPr>
              <a:t>Power on, attach pads, follow the voice prompts; clear for analysis and shock.</a:t>
            </a:r>
          </a:p>
        </p:txBody>
      </p:sp>
      <p:sp>
        <p:nvSpPr>
          <p:cNvPr id="20" name="Oval 19"/>
          <p:cNvSpPr/>
          <p:nvPr/>
        </p:nvSpPr>
        <p:spPr>
          <a:xfrm>
            <a:off x="640080" y="5413248"/>
            <a:ext cx="640080" cy="640080"/>
          </a:xfrm>
          <a:prstGeom prst="ellipse">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5413248"/>
            <a:ext cx="640080" cy="640080"/>
          </a:xfrm>
          <a:prstGeom prst="rect">
            <a:avLst/>
          </a:prstGeom>
          <a:noFill/>
        </p:spPr>
        <p:txBody>
          <a:bodyPr wrap="square" anchor="ctr" lIns="0" rIns="0" tIns="0" bIns="0">
            <a:spAutoFit/>
          </a:bodyPr>
          <a:lstStyle/>
          <a:p>
            <a:pPr algn="ctr">
              <a:lnSpc>
                <a:spcPct val="105000"/>
              </a:lnSpc>
              <a:spcBef>
                <a:spcPts val="400"/>
              </a:spcBef>
              <a:spcAft>
                <a:spcPts val="400"/>
              </a:spcAft>
            </a:pPr>
            <a:r>
              <a:rPr sz="2000" b="1" i="0">
                <a:solidFill>
                  <a:srgbClr val="0B2545"/>
                </a:solidFill>
                <a:latin typeface="Arial"/>
              </a:rPr>
              <a:t>5</a:t>
            </a:r>
          </a:p>
        </p:txBody>
      </p:sp>
      <p:sp>
        <p:nvSpPr>
          <p:cNvPr id="22" name="TextBox 21"/>
          <p:cNvSpPr txBox="1"/>
          <p:nvPr/>
        </p:nvSpPr>
        <p:spPr>
          <a:xfrm>
            <a:off x="1435608" y="5394960"/>
            <a:ext cx="10058400" cy="749808"/>
          </a:xfrm>
          <a:prstGeom prst="rect">
            <a:avLst/>
          </a:prstGeom>
          <a:noFill/>
        </p:spPr>
        <p:txBody>
          <a:bodyPr wrap="square" anchor="ctr" lIns="0" rIns="0" tIns="0" bIns="0">
            <a:spAutoFit/>
          </a:bodyPr>
          <a:lstStyle/>
          <a:p>
            <a:pPr algn="l">
              <a:lnSpc>
                <a:spcPct val="100000"/>
              </a:lnSpc>
              <a:spcBef>
                <a:spcPts val="400"/>
              </a:spcBef>
              <a:spcAft>
                <a:spcPts val="100"/>
              </a:spcAft>
            </a:pPr>
            <a:r>
              <a:rPr sz="1550" b="1" i="0">
                <a:solidFill>
                  <a:srgbClr val="0B2545"/>
                </a:solidFill>
                <a:latin typeface="Arial"/>
              </a:rPr>
              <a:t>5. Continue</a:t>
            </a:r>
          </a:p>
          <a:p>
            <a:pPr algn="l">
              <a:lnSpc>
                <a:spcPct val="100000"/>
              </a:lnSpc>
              <a:spcBef>
                <a:spcPts val="0"/>
              </a:spcBef>
              <a:spcAft>
                <a:spcPts val="400"/>
              </a:spcAft>
            </a:pPr>
            <a:r>
              <a:rPr sz="1250" b="0" i="0">
                <a:solidFill>
                  <a:srgbClr val="5B6B7B"/>
                </a:solidFill>
                <a:latin typeface="Arial"/>
              </a:rPr>
              <a:t>Resume compressions immediately; cycle until EMS takes over.</a:t>
            </a:r>
          </a:p>
        </p:txBody>
      </p:sp>
      <p:sp>
        <p:nvSpPr>
          <p:cNvPr id="23" name="Rectangle 22"/>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7 — Arc-Flash, First Aid &amp; Rescue</a:t>
            </a:r>
          </a:p>
        </p:txBody>
      </p:sp>
      <p:sp>
        <p:nvSpPr>
          <p:cNvPr id="25" name="TextBox 24"/>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108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7.8 BURNS &amp; CARE</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Burns &amp; Ongoing Care</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783080"/>
            <a:ext cx="10927080" cy="4160520"/>
          </a:xfrm>
          <a:prstGeom prst="rect">
            <a:avLst/>
          </a:prstGeom>
          <a:noFill/>
        </p:spPr>
        <p:txBody>
          <a:bodyPr wrap="square" anchor="t" lIns="0" rIns="0" tIns="0" bIns="0">
            <a:spAutoFit/>
          </a:bodyPr>
          <a:lstStyle/>
          <a:p>
            <a:pPr algn="l">
              <a:lnSpc>
                <a:spcPct val="105000"/>
              </a:lnSpc>
              <a:spcBef>
                <a:spcPts val="700"/>
              </a:spcBef>
              <a:spcAft>
                <a:spcPts val="200"/>
              </a:spcAft>
            </a:pPr>
            <a:r>
              <a:rPr sz="1800" b="0" i="0">
                <a:solidFill>
                  <a:srgbClr val="1A2B3C"/>
                </a:solidFill>
                <a:latin typeface="Arial"/>
              </a:rPr>
              <a:t>■  Stop the burning; cool a thermal burn with clean water where appropriate</a:t>
            </a:r>
          </a:p>
          <a:p>
            <a:pPr algn="l">
              <a:lnSpc>
                <a:spcPct val="105000"/>
              </a:lnSpc>
              <a:spcBef>
                <a:spcPts val="700"/>
              </a:spcBef>
              <a:spcAft>
                <a:spcPts val="200"/>
              </a:spcAft>
            </a:pPr>
            <a:r>
              <a:rPr sz="1800" b="0" i="0">
                <a:solidFill>
                  <a:srgbClr val="1A2B3C"/>
                </a:solidFill>
                <a:latin typeface="Arial"/>
              </a:rPr>
              <a:t>■  Cover with a clean, dry dressing — do not break blisters or apply ointments to severe burns</a:t>
            </a:r>
          </a:p>
          <a:p>
            <a:pPr algn="l">
              <a:lnSpc>
                <a:spcPct val="105000"/>
              </a:lnSpc>
              <a:spcBef>
                <a:spcPts val="700"/>
              </a:spcBef>
              <a:spcAft>
                <a:spcPts val="200"/>
              </a:spcAft>
            </a:pPr>
            <a:r>
              <a:rPr sz="1800" b="0" i="0">
                <a:solidFill>
                  <a:srgbClr val="1A2B3C"/>
                </a:solidFill>
                <a:latin typeface="Arial"/>
              </a:rPr>
              <a:t>■  Treat for shock; keep the patient warm</a:t>
            </a:r>
          </a:p>
          <a:p>
            <a:pPr algn="l">
              <a:lnSpc>
                <a:spcPct val="105000"/>
              </a:lnSpc>
              <a:spcBef>
                <a:spcPts val="700"/>
              </a:spcBef>
              <a:spcAft>
                <a:spcPts val="200"/>
              </a:spcAft>
            </a:pPr>
            <a:r>
              <a:rPr sz="1800" b="0" i="0">
                <a:solidFill>
                  <a:srgbClr val="1A2B3C"/>
                </a:solidFill>
                <a:latin typeface="Arial"/>
              </a:rPr>
              <a:t>■  Electrical burns are deceptive — internal damage far exceeds the visible wound</a:t>
            </a:r>
          </a:p>
          <a:p>
            <a:pPr algn="l">
              <a:lnSpc>
                <a:spcPct val="105000"/>
              </a:lnSpc>
              <a:spcBef>
                <a:spcPts val="700"/>
              </a:spcBef>
              <a:spcAft>
                <a:spcPts val="200"/>
              </a:spcAft>
            </a:pPr>
            <a:r>
              <a:rPr sz="1800" b="0" i="0">
                <a:solidFill>
                  <a:srgbClr val="1A2B3C"/>
                </a:solidFill>
                <a:latin typeface="Arial"/>
              </a:rPr>
              <a:t>■  ALWAYS transport for medical evaluation after any contact, even if they feel fine</a:t>
            </a:r>
          </a:p>
          <a:p>
            <a:pPr algn="l">
              <a:lnSpc>
                <a:spcPct val="105000"/>
              </a:lnSpc>
              <a:spcBef>
                <a:spcPts val="700"/>
              </a:spcBef>
              <a:spcAft>
                <a:spcPts val="200"/>
              </a:spcAft>
            </a:pPr>
            <a:r>
              <a:rPr sz="1800" b="0" i="0">
                <a:solidFill>
                  <a:srgbClr val="1A2B3C"/>
                </a:solidFill>
                <a:latin typeface="Arial"/>
              </a:rPr>
              <a:t>■  Report and investigate the contact — every event is a chance to prevent the next</a:t>
            </a:r>
          </a:p>
        </p:txBody>
      </p:sp>
      <p:sp>
        <p:nvSpPr>
          <p:cNvPr id="8" name="Rectangle 7"/>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7 — Arc-Flash, First Aid &amp; Rescue</a:t>
            </a:r>
          </a:p>
        </p:txBody>
      </p:sp>
      <p:sp>
        <p:nvSpPr>
          <p:cNvPr id="10" name="TextBox 9"/>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109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ILLUSTRATED</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Incident Energy vs Working Distance</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ig_arcenergy.png"/>
          <p:cNvPicPr>
            <a:picLocks noChangeAspect="1"/>
          </p:cNvPicPr>
          <p:nvPr/>
        </p:nvPicPr>
        <p:blipFill>
          <a:blip r:embed="rId2"/>
          <a:stretch>
            <a:fillRect/>
          </a:stretch>
        </p:blipFill>
        <p:spPr>
          <a:xfrm>
            <a:off x="1013701" y="1783080"/>
            <a:ext cx="10161548" cy="3703320"/>
          </a:xfrm>
          <a:prstGeom prst="rect">
            <a:avLst/>
          </a:prstGeom>
        </p:spPr>
      </p:pic>
      <p:sp>
        <p:nvSpPr>
          <p:cNvPr id="8" name="TextBox 7"/>
          <p:cNvSpPr txBox="1"/>
          <p:nvPr/>
        </p:nvSpPr>
        <p:spPr>
          <a:xfrm>
            <a:off x="822960" y="5650992"/>
            <a:ext cx="10515600" cy="640080"/>
          </a:xfrm>
          <a:prstGeom prst="rect">
            <a:avLst/>
          </a:prstGeom>
          <a:noFill/>
        </p:spPr>
        <p:txBody>
          <a:bodyPr wrap="square" anchor="t" lIns="0" rIns="0" tIns="0" bIns="0">
            <a:spAutoFit/>
          </a:bodyPr>
          <a:lstStyle/>
          <a:p>
            <a:pPr algn="ctr">
              <a:lnSpc>
                <a:spcPct val="118000"/>
              </a:lnSpc>
              <a:spcBef>
                <a:spcPts val="400"/>
              </a:spcBef>
              <a:spcAft>
                <a:spcPts val="400"/>
              </a:spcAft>
            </a:pPr>
            <a:r>
              <a:rPr sz="1300" b="0" i="1">
                <a:solidFill>
                  <a:srgbClr val="5B6B7B"/>
                </a:solidFill>
                <a:latin typeface="Arial"/>
              </a:rPr>
              <a:t>Energy falls with the square of distance; where it crosses 1.2 cal/cm² is the arc-flash boundary.</a:t>
            </a:r>
          </a:p>
        </p:txBody>
      </p:sp>
      <p:sp>
        <p:nvSpPr>
          <p:cNvPr id="9" name="Rectangle 8"/>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7 — Arc-Flash, First Aid &amp; Rescue</a:t>
            </a:r>
          </a:p>
        </p:txBody>
      </p:sp>
      <p:sp>
        <p:nvSpPr>
          <p:cNvPr id="11" name="TextBox 10"/>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110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ILLUSTRATED</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Arc-Flash PPE Categories</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ig_ppecat.png"/>
          <p:cNvPicPr>
            <a:picLocks noChangeAspect="1"/>
          </p:cNvPicPr>
          <p:nvPr/>
        </p:nvPicPr>
        <p:blipFill>
          <a:blip r:embed="rId2"/>
          <a:stretch>
            <a:fillRect/>
          </a:stretch>
        </p:blipFill>
        <p:spPr>
          <a:xfrm>
            <a:off x="1013701" y="1783080"/>
            <a:ext cx="10161548" cy="3703320"/>
          </a:xfrm>
          <a:prstGeom prst="rect">
            <a:avLst/>
          </a:prstGeom>
        </p:spPr>
      </p:pic>
      <p:sp>
        <p:nvSpPr>
          <p:cNvPr id="8" name="TextBox 7"/>
          <p:cNvSpPr txBox="1"/>
          <p:nvPr/>
        </p:nvSpPr>
        <p:spPr>
          <a:xfrm>
            <a:off x="822960" y="5650992"/>
            <a:ext cx="10515600" cy="640080"/>
          </a:xfrm>
          <a:prstGeom prst="rect">
            <a:avLst/>
          </a:prstGeom>
          <a:noFill/>
        </p:spPr>
        <p:txBody>
          <a:bodyPr wrap="square" anchor="t" lIns="0" rIns="0" tIns="0" bIns="0">
            <a:spAutoFit/>
          </a:bodyPr>
          <a:lstStyle/>
          <a:p>
            <a:pPr algn="ctr">
              <a:lnSpc>
                <a:spcPct val="118000"/>
              </a:lnSpc>
              <a:spcBef>
                <a:spcPts val="400"/>
              </a:spcBef>
              <a:spcAft>
                <a:spcPts val="400"/>
              </a:spcAft>
            </a:pPr>
            <a:r>
              <a:rPr sz="1300" b="0" i="1">
                <a:solidFill>
                  <a:srgbClr val="5B6B7B"/>
                </a:solidFill>
                <a:latin typeface="Arial"/>
              </a:rPr>
              <a:t>Four categories from ≥4 to ≥40 cal/cm². The garment's arc rating must meet or exceed the incident energy.</a:t>
            </a:r>
          </a:p>
        </p:txBody>
      </p:sp>
      <p:sp>
        <p:nvSpPr>
          <p:cNvPr id="9" name="Rectangle 8"/>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7 — Arc-Flash, First Aid &amp; Rescue</a:t>
            </a:r>
          </a:p>
        </p:txBody>
      </p:sp>
      <p:sp>
        <p:nvSpPr>
          <p:cNvPr id="11" name="TextBox 10"/>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111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ILLUSTRATED</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The Arc-Flash &amp; Shock Label</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ig_arclabel.png"/>
          <p:cNvPicPr>
            <a:picLocks noChangeAspect="1"/>
          </p:cNvPicPr>
          <p:nvPr/>
        </p:nvPicPr>
        <p:blipFill>
          <a:blip r:embed="rId2"/>
          <a:stretch>
            <a:fillRect/>
          </a:stretch>
        </p:blipFill>
        <p:spPr>
          <a:xfrm>
            <a:off x="3573305" y="1783080"/>
            <a:ext cx="5042341" cy="3703320"/>
          </a:xfrm>
          <a:prstGeom prst="rect">
            <a:avLst/>
          </a:prstGeom>
        </p:spPr>
      </p:pic>
      <p:sp>
        <p:nvSpPr>
          <p:cNvPr id="8" name="TextBox 7"/>
          <p:cNvSpPr txBox="1"/>
          <p:nvPr/>
        </p:nvSpPr>
        <p:spPr>
          <a:xfrm>
            <a:off x="822960" y="5650992"/>
            <a:ext cx="10515600" cy="640080"/>
          </a:xfrm>
          <a:prstGeom prst="rect">
            <a:avLst/>
          </a:prstGeom>
          <a:noFill/>
        </p:spPr>
        <p:txBody>
          <a:bodyPr wrap="square" anchor="t" lIns="0" rIns="0" tIns="0" bIns="0">
            <a:spAutoFit/>
          </a:bodyPr>
          <a:lstStyle/>
          <a:p>
            <a:pPr algn="ctr">
              <a:lnSpc>
                <a:spcPct val="118000"/>
              </a:lnSpc>
              <a:spcBef>
                <a:spcPts val="400"/>
              </a:spcBef>
              <a:spcAft>
                <a:spcPts val="400"/>
              </a:spcAft>
            </a:pPr>
            <a:r>
              <a:rPr sz="1300" b="0" i="1">
                <a:solidFill>
                  <a:srgbClr val="5B6B7B"/>
                </a:solidFill>
                <a:latin typeface="Arial"/>
              </a:rPr>
              <a:t>Voltage, boundaries, incident energy, PPE category, and glove class — read it before you open the door.</a:t>
            </a:r>
          </a:p>
        </p:txBody>
      </p:sp>
      <p:sp>
        <p:nvSpPr>
          <p:cNvPr id="9" name="Rectangle 8"/>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7 — Arc-Flash, First Aid &amp; Rescue</a:t>
            </a:r>
          </a:p>
        </p:txBody>
      </p:sp>
      <p:sp>
        <p:nvSpPr>
          <p:cNvPr id="11" name="TextBox 10"/>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112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ILLUSTRATED</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Emergency Scene Control</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ig_scenecontrol.png"/>
          <p:cNvPicPr>
            <a:picLocks noChangeAspect="1"/>
          </p:cNvPicPr>
          <p:nvPr/>
        </p:nvPicPr>
        <p:blipFill>
          <a:blip r:embed="rId2"/>
          <a:stretch>
            <a:fillRect/>
          </a:stretch>
        </p:blipFill>
        <p:spPr>
          <a:xfrm>
            <a:off x="1013701" y="1783080"/>
            <a:ext cx="10161548" cy="3703320"/>
          </a:xfrm>
          <a:prstGeom prst="rect">
            <a:avLst/>
          </a:prstGeom>
        </p:spPr>
      </p:pic>
      <p:sp>
        <p:nvSpPr>
          <p:cNvPr id="8" name="TextBox 7"/>
          <p:cNvSpPr txBox="1"/>
          <p:nvPr/>
        </p:nvSpPr>
        <p:spPr>
          <a:xfrm>
            <a:off x="822960" y="5650992"/>
            <a:ext cx="10515600" cy="640080"/>
          </a:xfrm>
          <a:prstGeom prst="rect">
            <a:avLst/>
          </a:prstGeom>
          <a:noFill/>
        </p:spPr>
        <p:txBody>
          <a:bodyPr wrap="square" anchor="t" lIns="0" rIns="0" tIns="0" bIns="0">
            <a:spAutoFit/>
          </a:bodyPr>
          <a:lstStyle/>
          <a:p>
            <a:pPr algn="ctr">
              <a:lnSpc>
                <a:spcPct val="118000"/>
              </a:lnSpc>
              <a:spcBef>
                <a:spcPts val="400"/>
              </a:spcBef>
              <a:spcAft>
                <a:spcPts val="400"/>
              </a:spcAft>
            </a:pPr>
            <a:r>
              <a:rPr sz="1300" b="0" i="1">
                <a:solidFill>
                  <a:srgbClr val="5B6B7B"/>
                </a:solidFill>
                <a:latin typeface="Arial"/>
              </a:rPr>
              <a:t>Treat the conductor and ground as energized; keep the patient untouched until the source is removed — then reach them.</a:t>
            </a:r>
          </a:p>
        </p:txBody>
      </p:sp>
      <p:sp>
        <p:nvSpPr>
          <p:cNvPr id="9" name="Rectangle 8"/>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7 — Arc-Flash, First Aid &amp; Rescue</a:t>
            </a:r>
          </a:p>
        </p:txBody>
      </p:sp>
      <p:sp>
        <p:nvSpPr>
          <p:cNvPr id="11" name="TextBox 10"/>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113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ILLUSTRATED</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CPR &amp; AED Sequence</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ig_cpraed.png"/>
          <p:cNvPicPr>
            <a:picLocks noChangeAspect="1"/>
          </p:cNvPicPr>
          <p:nvPr/>
        </p:nvPicPr>
        <p:blipFill>
          <a:blip r:embed="rId2"/>
          <a:stretch>
            <a:fillRect/>
          </a:stretch>
        </p:blipFill>
        <p:spPr>
          <a:xfrm>
            <a:off x="761695" y="1783080"/>
            <a:ext cx="10665561" cy="3703320"/>
          </a:xfrm>
          <a:prstGeom prst="rect">
            <a:avLst/>
          </a:prstGeom>
        </p:spPr>
      </p:pic>
      <p:sp>
        <p:nvSpPr>
          <p:cNvPr id="8" name="TextBox 7"/>
          <p:cNvSpPr txBox="1"/>
          <p:nvPr/>
        </p:nvSpPr>
        <p:spPr>
          <a:xfrm>
            <a:off x="822960" y="5650992"/>
            <a:ext cx="10515600" cy="640080"/>
          </a:xfrm>
          <a:prstGeom prst="rect">
            <a:avLst/>
          </a:prstGeom>
          <a:noFill/>
        </p:spPr>
        <p:txBody>
          <a:bodyPr wrap="square" anchor="t" lIns="0" rIns="0" tIns="0" bIns="0">
            <a:spAutoFit/>
          </a:bodyPr>
          <a:lstStyle/>
          <a:p>
            <a:pPr algn="ctr">
              <a:lnSpc>
                <a:spcPct val="118000"/>
              </a:lnSpc>
              <a:spcBef>
                <a:spcPts val="400"/>
              </a:spcBef>
              <a:spcAft>
                <a:spcPts val="400"/>
              </a:spcAft>
            </a:pPr>
            <a:r>
              <a:rPr sz="1300" b="0" i="1">
                <a:solidFill>
                  <a:srgbClr val="5B6B7B"/>
                </a:solidFill>
                <a:latin typeface="Arial"/>
              </a:rPr>
              <a:t>Once the scene is safe: check &amp; call, compress 100–120/min, apply the AED, continue until EMS arrives.</a:t>
            </a:r>
          </a:p>
        </p:txBody>
      </p:sp>
      <p:sp>
        <p:nvSpPr>
          <p:cNvPr id="9" name="Rectangle 8"/>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7 — Arc-Flash, First Aid &amp; Rescue</a:t>
            </a:r>
          </a:p>
        </p:txBody>
      </p:sp>
      <p:sp>
        <p:nvSpPr>
          <p:cNvPr id="11" name="TextBox 10"/>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114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MODULE 7 RECAP</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Module 7 — Key Takeaways</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783080"/>
            <a:ext cx="10927080" cy="4160520"/>
          </a:xfrm>
          <a:prstGeom prst="rect">
            <a:avLst/>
          </a:prstGeom>
          <a:noFill/>
        </p:spPr>
        <p:txBody>
          <a:bodyPr wrap="square" anchor="t" lIns="0" rIns="0" tIns="0" bIns="0">
            <a:spAutoFit/>
          </a:bodyPr>
          <a:lstStyle/>
          <a:p>
            <a:pPr algn="l">
              <a:lnSpc>
                <a:spcPct val="105000"/>
              </a:lnSpc>
              <a:spcBef>
                <a:spcPts val="700"/>
              </a:spcBef>
              <a:spcAft>
                <a:spcPts val="200"/>
              </a:spcAft>
            </a:pPr>
            <a:r>
              <a:rPr sz="1800" b="0" i="0">
                <a:solidFill>
                  <a:srgbClr val="1A2B3C"/>
                </a:solidFill>
                <a:latin typeface="Arial"/>
              </a:rPr>
              <a:t>■  Incident energy (cal/cm²) rises with fault current &amp; clearing time, falls with distance²</a:t>
            </a:r>
          </a:p>
          <a:p>
            <a:pPr algn="l">
              <a:lnSpc>
                <a:spcPct val="105000"/>
              </a:lnSpc>
              <a:spcBef>
                <a:spcPts val="700"/>
              </a:spcBef>
              <a:spcAft>
                <a:spcPts val="200"/>
              </a:spcAft>
            </a:pPr>
            <a:r>
              <a:rPr sz="1800" b="0" i="0">
                <a:solidFill>
                  <a:srgbClr val="1A2B3C"/>
                </a:solidFill>
                <a:latin typeface="Arial"/>
              </a:rPr>
              <a:t>■  The arc-flash boundary is where energy = 1.2 cal/cm²; PPE arc rating must meet or exceed the incident energy</a:t>
            </a:r>
          </a:p>
          <a:p>
            <a:pPr algn="l">
              <a:lnSpc>
                <a:spcPct val="105000"/>
              </a:lnSpc>
              <a:spcBef>
                <a:spcPts val="700"/>
              </a:spcBef>
              <a:spcAft>
                <a:spcPts val="200"/>
              </a:spcAft>
            </a:pPr>
            <a:r>
              <a:rPr sz="1800" b="0" i="0">
                <a:solidFill>
                  <a:srgbClr val="1A2B3C"/>
                </a:solidFill>
                <a:latin typeface="Arial"/>
              </a:rPr>
              <a:t>■  Read the label and set your boundaries before opening equipment</a:t>
            </a:r>
          </a:p>
          <a:p>
            <a:pPr algn="l">
              <a:lnSpc>
                <a:spcPct val="105000"/>
              </a:lnSpc>
              <a:spcBef>
                <a:spcPts val="700"/>
              </a:spcBef>
              <a:spcAft>
                <a:spcPts val="200"/>
              </a:spcAft>
            </a:pPr>
            <a:r>
              <a:rPr sz="1800" b="0" i="0">
                <a:solidFill>
                  <a:srgbClr val="1A2B3C"/>
                </a:solidFill>
                <a:latin typeface="Arial"/>
              </a:rPr>
              <a:t>■  One contact injures many systems — cardiac, burns, neuro, trauma; effects can be delayed</a:t>
            </a:r>
          </a:p>
          <a:p>
            <a:pPr algn="l">
              <a:lnSpc>
                <a:spcPct val="105000"/>
              </a:lnSpc>
              <a:spcBef>
                <a:spcPts val="700"/>
              </a:spcBef>
              <a:spcAft>
                <a:spcPts val="200"/>
              </a:spcAft>
            </a:pPr>
            <a:r>
              <a:rPr sz="1800" b="0" i="0">
                <a:solidFill>
                  <a:srgbClr val="1A2B3C"/>
                </a:solidFill>
                <a:latin typeface="Arial"/>
              </a:rPr>
              <a:t>■  Rescue order is fixed: make the scene safe, reach the patient, then treat</a:t>
            </a:r>
          </a:p>
          <a:p>
            <a:pPr algn="l">
              <a:lnSpc>
                <a:spcPct val="105000"/>
              </a:lnSpc>
              <a:spcBef>
                <a:spcPts val="700"/>
              </a:spcBef>
              <a:spcAft>
                <a:spcPts val="200"/>
              </a:spcAft>
            </a:pPr>
            <a:r>
              <a:rPr sz="1800" b="0" i="0">
                <a:solidFill>
                  <a:srgbClr val="1A2B3C"/>
                </a:solidFill>
                <a:latin typeface="Arial"/>
              </a:rPr>
              <a:t>■  CPR + AED for arrest; transport every contact for medical evaluation</a:t>
            </a:r>
          </a:p>
        </p:txBody>
      </p:sp>
      <p:sp>
        <p:nvSpPr>
          <p:cNvPr id="8" name="Rectangle 7"/>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7 — Arc-Flash, First Aid &amp; Rescue</a:t>
            </a:r>
          </a:p>
        </p:txBody>
      </p:sp>
      <p:sp>
        <p:nvSpPr>
          <p:cNvPr id="10" name="TextBox 9"/>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115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a:gsLst>
              <a:gs pos="0">
                <a:srgbClr val="0B2545"/>
              </a:gs>
              <a:gs pos="100000">
                <a:srgbClr val="071830"/>
              </a:gs>
            </a:gsLst>
            <a:lin ang="27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371600"/>
            <a:ext cx="3840480" cy="2926080"/>
          </a:xfrm>
          <a:prstGeom prst="rect">
            <a:avLst/>
          </a:prstGeom>
          <a:noFill/>
        </p:spPr>
        <p:txBody>
          <a:bodyPr wrap="square" anchor="ctr" lIns="0" rIns="0" tIns="0" bIns="0">
            <a:spAutoFit/>
          </a:bodyPr>
          <a:lstStyle/>
          <a:p>
            <a:pPr algn="l">
              <a:lnSpc>
                <a:spcPct val="105000"/>
              </a:lnSpc>
              <a:spcBef>
                <a:spcPts val="400"/>
              </a:spcBef>
              <a:spcAft>
                <a:spcPts val="0"/>
              </a:spcAft>
            </a:pPr>
            <a:r>
              <a:rPr sz="1800" b="1" i="0">
                <a:solidFill>
                  <a:srgbClr val="F5B100"/>
                </a:solidFill>
                <a:latin typeface="Arial"/>
              </a:rPr>
              <a:t>MODULE</a:t>
            </a:r>
          </a:p>
          <a:p>
            <a:pPr algn="l">
              <a:lnSpc>
                <a:spcPct val="90000"/>
              </a:lnSpc>
              <a:spcBef>
                <a:spcPts val="0"/>
              </a:spcBef>
              <a:spcAft>
                <a:spcPts val="400"/>
              </a:spcAft>
            </a:pPr>
            <a:r>
              <a:rPr sz="15000" b="1" i="0">
                <a:solidFill>
                  <a:srgbClr val="FFFFFF"/>
                </a:solidFill>
                <a:latin typeface="Arial"/>
              </a:rPr>
              <a:t>8</a:t>
            </a:r>
          </a:p>
        </p:txBody>
      </p:sp>
      <p:sp>
        <p:nvSpPr>
          <p:cNvPr id="5" name="Rectangle 4"/>
          <p:cNvSpPr/>
          <p:nvPr/>
        </p:nvSpPr>
        <p:spPr>
          <a:xfrm>
            <a:off x="4800600" y="1554480"/>
            <a:ext cx="36576" cy="3657600"/>
          </a:xfrm>
          <a:prstGeom prst="rect">
            <a:avLst/>
          </a:prstGeom>
          <a:solidFill>
            <a:srgbClr val="2A47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12080" y="1691640"/>
            <a:ext cx="6400800" cy="1463040"/>
          </a:xfrm>
          <a:prstGeom prst="rect">
            <a:avLst/>
          </a:prstGeom>
          <a:noFill/>
        </p:spPr>
        <p:txBody>
          <a:bodyPr wrap="square" anchor="t" lIns="0" rIns="0" tIns="0" bIns="0">
            <a:spAutoFit/>
          </a:bodyPr>
          <a:lstStyle/>
          <a:p>
            <a:pPr algn="l">
              <a:lnSpc>
                <a:spcPct val="100000"/>
              </a:lnSpc>
              <a:spcBef>
                <a:spcPts val="400"/>
              </a:spcBef>
              <a:spcAft>
                <a:spcPts val="400"/>
              </a:spcAft>
            </a:pPr>
            <a:r>
              <a:rPr sz="3400" b="1" i="0">
                <a:solidFill>
                  <a:srgbClr val="FFFFFF"/>
                </a:solidFill>
                <a:latin typeface="Arial"/>
              </a:rPr>
              <a:t>Current Paths, Grounding &amp; the Bucket Truck</a:t>
            </a:r>
          </a:p>
        </p:txBody>
      </p:sp>
      <p:sp>
        <p:nvSpPr>
          <p:cNvPr id="7" name="Rectangle 6"/>
          <p:cNvSpPr/>
          <p:nvPr/>
        </p:nvSpPr>
        <p:spPr>
          <a:xfrm>
            <a:off x="5230368" y="3063240"/>
            <a:ext cx="1371600" cy="4572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212080" y="3337560"/>
            <a:ext cx="6400800" cy="2926080"/>
          </a:xfrm>
          <a:prstGeom prst="rect">
            <a:avLst/>
          </a:prstGeom>
          <a:noFill/>
        </p:spPr>
        <p:txBody>
          <a:bodyPr wrap="square" anchor="t" lIns="0" rIns="0" tIns="0" bIns="0">
            <a:spAutoFit/>
          </a:bodyPr>
          <a:lstStyle/>
          <a:p>
            <a:pPr algn="l">
              <a:lnSpc>
                <a:spcPct val="105000"/>
              </a:lnSpc>
              <a:spcBef>
                <a:spcPts val="600"/>
              </a:spcBef>
              <a:spcAft>
                <a:spcPts val="600"/>
              </a:spcAft>
            </a:pPr>
            <a:r>
              <a:rPr sz="1600" b="0" i="0">
                <a:solidFill>
                  <a:srgbClr val="CFDCEC"/>
                </a:solidFill>
                <a:latin typeface="Arial"/>
              </a:rPr>
              <a:t>—  It's all a circuit — completing the loop</a:t>
            </a:r>
          </a:p>
          <a:p>
            <a:pPr algn="l">
              <a:lnSpc>
                <a:spcPct val="105000"/>
              </a:lnSpc>
              <a:spcBef>
                <a:spcPts val="600"/>
              </a:spcBef>
              <a:spcAft>
                <a:spcPts val="600"/>
              </a:spcAft>
            </a:pPr>
            <a:r>
              <a:rPr sz="1600" b="0" i="0">
                <a:solidFill>
                  <a:srgbClr val="CFDCEC"/>
                </a:solidFill>
                <a:latin typeface="Arial"/>
              </a:rPr>
              <a:t>—  Why we ground: trip protection + equipotential</a:t>
            </a:r>
          </a:p>
          <a:p>
            <a:pPr algn="l">
              <a:lnSpc>
                <a:spcPct val="105000"/>
              </a:lnSpc>
              <a:spcBef>
                <a:spcPts val="600"/>
              </a:spcBef>
              <a:spcAft>
                <a:spcPts val="600"/>
              </a:spcAft>
            </a:pPr>
            <a:r>
              <a:rPr sz="1600" b="0" i="0">
                <a:solidFill>
                  <a:srgbClr val="CFDCEC"/>
                </a:solidFill>
                <a:latin typeface="Arial"/>
              </a:rPr>
              <a:t>—  The bucket truck — grounded vs isolated vs bonded</a:t>
            </a:r>
          </a:p>
          <a:p>
            <a:pPr algn="l">
              <a:lnSpc>
                <a:spcPct val="105000"/>
              </a:lnSpc>
              <a:spcBef>
                <a:spcPts val="600"/>
              </a:spcBef>
              <a:spcAft>
                <a:spcPts val="600"/>
              </a:spcAft>
            </a:pPr>
            <a:r>
              <a:rPr sz="1600" b="0" i="0">
                <a:solidFill>
                  <a:srgbClr val="CFDCEC"/>
                </a:solidFill>
                <a:latin typeface="Arial"/>
              </a:rPr>
              <a:t>—  Dangers in the air vs on the ground</a:t>
            </a:r>
          </a:p>
          <a:p>
            <a:pPr algn="l">
              <a:lnSpc>
                <a:spcPct val="105000"/>
              </a:lnSpc>
              <a:spcBef>
                <a:spcPts val="600"/>
              </a:spcBef>
              <a:spcAft>
                <a:spcPts val="600"/>
              </a:spcAft>
            </a:pPr>
            <a:r>
              <a:rPr sz="1600" b="0" i="0">
                <a:solidFill>
                  <a:srgbClr val="CFDCEC"/>
                </a:solidFill>
                <a:latin typeface="Arial"/>
              </a:rPr>
              <a:t>—  Flow through grounds &amp; the zero-voltage idea</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8.1 IT'S A CIRCUIT</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It's All a Circuit — You Get Hurt by Completing It</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27632"/>
            <a:ext cx="10881360" cy="548640"/>
          </a:xfrm>
          <a:prstGeom prst="rect">
            <a:avLst/>
          </a:prstGeom>
          <a:noFill/>
        </p:spPr>
        <p:txBody>
          <a:bodyPr wrap="square" anchor="t" lIns="0" rIns="0" tIns="0" bIns="0">
            <a:spAutoFit/>
          </a:bodyPr>
          <a:lstStyle/>
          <a:p>
            <a:pPr algn="l">
              <a:lnSpc>
                <a:spcPct val="105000"/>
              </a:lnSpc>
              <a:spcBef>
                <a:spcPts val="400"/>
              </a:spcBef>
              <a:spcAft>
                <a:spcPts val="400"/>
              </a:spcAft>
            </a:pPr>
            <a:r>
              <a:rPr sz="1550" b="0" i="1">
                <a:solidFill>
                  <a:srgbClr val="5B6B7B"/>
                </a:solidFill>
                <a:latin typeface="Arial"/>
              </a:rPr>
              <a:t>Electricity does nothing until it has a complete loop across a difference in potential.</a:t>
            </a:r>
          </a:p>
        </p:txBody>
      </p:sp>
      <p:sp>
        <p:nvSpPr>
          <p:cNvPr id="8" name="TextBox 7"/>
          <p:cNvSpPr txBox="1"/>
          <p:nvPr/>
        </p:nvSpPr>
        <p:spPr>
          <a:xfrm>
            <a:off x="658368" y="2240280"/>
            <a:ext cx="10927080" cy="3703320"/>
          </a:xfrm>
          <a:prstGeom prst="rect">
            <a:avLst/>
          </a:prstGeom>
          <a:noFill/>
        </p:spPr>
        <p:txBody>
          <a:bodyPr wrap="square" anchor="t" lIns="0" rIns="0" tIns="0" bIns="0">
            <a:spAutoFit/>
          </a:bodyPr>
          <a:lstStyle/>
          <a:p>
            <a:pPr algn="l">
              <a:lnSpc>
                <a:spcPct val="105000"/>
              </a:lnSpc>
              <a:spcBef>
                <a:spcPts val="700"/>
              </a:spcBef>
              <a:spcAft>
                <a:spcPts val="200"/>
              </a:spcAft>
            </a:pPr>
            <a:r>
              <a:rPr sz="1800" b="0" i="0">
                <a:solidFill>
                  <a:srgbClr val="1A2B3C"/>
                </a:solidFill>
                <a:latin typeface="Arial"/>
              </a:rPr>
              <a:t>■  Current needs three things: a source, a complete path, and a difference in potential</a:t>
            </a:r>
          </a:p>
          <a:p>
            <a:pPr algn="l">
              <a:lnSpc>
                <a:spcPct val="105000"/>
              </a:lnSpc>
              <a:spcBef>
                <a:spcPts val="700"/>
              </a:spcBef>
              <a:spcAft>
                <a:spcPts val="200"/>
              </a:spcAft>
            </a:pPr>
            <a:r>
              <a:rPr sz="1800" b="0" i="0">
                <a:solidFill>
                  <a:srgbClr val="1A2B3C"/>
                </a:solidFill>
                <a:latin typeface="Arial"/>
              </a:rPr>
              <a:t>■  No complete loop → no current flows — an open circuit is dead-ended</a:t>
            </a:r>
          </a:p>
          <a:p>
            <a:pPr algn="l">
              <a:lnSpc>
                <a:spcPct val="105000"/>
              </a:lnSpc>
              <a:spcBef>
                <a:spcPts val="700"/>
              </a:spcBef>
              <a:spcAft>
                <a:spcPts val="200"/>
              </a:spcAft>
            </a:pPr>
            <a:r>
              <a:rPr sz="1800" b="0" i="0">
                <a:solidFill>
                  <a:srgbClr val="1A2B3C"/>
                </a:solidFill>
                <a:latin typeface="Arial"/>
              </a:rPr>
              <a:t>■  You are injured when your body BECOMES part of the loop — you turn into the load</a:t>
            </a:r>
          </a:p>
          <a:p>
            <a:pPr algn="l" lvl="1">
              <a:lnSpc>
                <a:spcPct val="103000"/>
              </a:lnSpc>
              <a:spcBef>
                <a:spcPts val="200"/>
              </a:spcBef>
              <a:spcAft>
                <a:spcPts val="200"/>
              </a:spcAft>
            </a:pPr>
            <a:r>
              <a:rPr sz="1500" b="0" i="0">
                <a:solidFill>
                  <a:srgbClr val="334455"/>
                </a:solidFill>
                <a:latin typeface="Arial"/>
              </a:rPr>
              <a:t>–  Touch one energized point AND a second point at a different potential → current flows through you</a:t>
            </a:r>
          </a:p>
          <a:p>
            <a:pPr algn="l">
              <a:lnSpc>
                <a:spcPct val="105000"/>
              </a:lnSpc>
              <a:spcBef>
                <a:spcPts val="700"/>
              </a:spcBef>
              <a:spcAft>
                <a:spcPts val="200"/>
              </a:spcAft>
            </a:pPr>
            <a:r>
              <a:rPr sz="1800" b="0" i="0">
                <a:solidFill>
                  <a:srgbClr val="1A2B3C"/>
                </a:solidFill>
                <a:latin typeface="Arial"/>
              </a:rPr>
              <a:t>■  Two ways to stay safe: never complete the loop, or sit at ONE potential (no difference across you)</a:t>
            </a:r>
          </a:p>
          <a:p>
            <a:pPr algn="l">
              <a:lnSpc>
                <a:spcPct val="105000"/>
              </a:lnSpc>
              <a:spcBef>
                <a:spcPts val="700"/>
              </a:spcBef>
              <a:spcAft>
                <a:spcPts val="200"/>
              </a:spcAft>
            </a:pPr>
            <a:r>
              <a:rPr sz="1800" b="0" i="0">
                <a:solidFill>
                  <a:srgbClr val="1A2B3C"/>
                </a:solidFill>
                <a:latin typeface="Arial"/>
              </a:rPr>
              <a:t>■  Every grounding and cover-up decision is really a question about where the current goes</a:t>
            </a:r>
          </a:p>
        </p:txBody>
      </p:sp>
      <p:sp>
        <p:nvSpPr>
          <p:cNvPr id="9" name="Rectangle 8"/>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8 — Current Paths &amp; Grounding</a:t>
            </a:r>
          </a:p>
        </p:txBody>
      </p:sp>
      <p:sp>
        <p:nvSpPr>
          <p:cNvPr id="11" name="TextBox 10"/>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117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8.2 WHY WE GROUND</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Why We Ground — Two Different Jobs</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783080"/>
            <a:ext cx="6949440" cy="4297680"/>
          </a:xfrm>
          <a:prstGeom prst="rect">
            <a:avLst/>
          </a:prstGeom>
          <a:noFill/>
        </p:spPr>
        <p:txBody>
          <a:bodyPr wrap="square" anchor="t" lIns="0" rIns="0" tIns="0" bIns="0">
            <a:spAutoFit/>
          </a:bodyPr>
          <a:lstStyle/>
          <a:p>
            <a:pPr algn="l">
              <a:lnSpc>
                <a:spcPct val="105000"/>
              </a:lnSpc>
              <a:spcBef>
                <a:spcPts val="700"/>
              </a:spcBef>
              <a:spcAft>
                <a:spcPts val="200"/>
              </a:spcAft>
            </a:pPr>
            <a:r>
              <a:rPr sz="1700" b="0" i="0">
                <a:solidFill>
                  <a:srgbClr val="1A2B3C"/>
                </a:solidFill>
                <a:latin typeface="Arial"/>
              </a:rPr>
              <a:t>■  Job 1 — a low-impedance FAULT PATH: if a line is accidentally energized, large current flows to ground and trips the protection FAST</a:t>
            </a:r>
          </a:p>
          <a:p>
            <a:pPr algn="l">
              <a:lnSpc>
                <a:spcPct val="105000"/>
              </a:lnSpc>
              <a:spcBef>
                <a:spcPts val="700"/>
              </a:spcBef>
              <a:spcAft>
                <a:spcPts val="200"/>
              </a:spcAft>
            </a:pPr>
            <a:r>
              <a:rPr sz="1700" b="0" i="0">
                <a:solidFill>
                  <a:srgbClr val="1A2B3C"/>
                </a:solidFill>
                <a:latin typeface="Arial"/>
              </a:rPr>
              <a:t>■  Job 2 — an EQUIPOTENTIAL ZONE: bond everything you can touch to one potential so there is little or no voltage ACROSS your body</a:t>
            </a:r>
          </a:p>
          <a:p>
            <a:pPr algn="l" lvl="1">
              <a:lnSpc>
                <a:spcPct val="102000"/>
              </a:lnSpc>
              <a:spcBef>
                <a:spcPts val="200"/>
              </a:spcBef>
              <a:spcAft>
                <a:spcPts val="100"/>
              </a:spcAft>
            </a:pPr>
            <a:r>
              <a:rPr sz="1400" b="0" i="0">
                <a:solidFill>
                  <a:srgbClr val="334455"/>
                </a:solidFill>
                <a:latin typeface="Arial"/>
              </a:rPr>
              <a:t>–  You can sit at thousands of volts to remote earth and be safe — if there is no difference across YOU</a:t>
            </a:r>
          </a:p>
          <a:p>
            <a:pPr algn="l">
              <a:lnSpc>
                <a:spcPct val="105000"/>
              </a:lnSpc>
              <a:spcBef>
                <a:spcPts val="700"/>
              </a:spcBef>
              <a:spcAft>
                <a:spcPts val="200"/>
              </a:spcAft>
            </a:pPr>
            <a:r>
              <a:rPr sz="1700" b="0" i="0">
                <a:solidFill>
                  <a:srgbClr val="1A2B3C"/>
                </a:solidFill>
                <a:latin typeface="Arial"/>
              </a:rPr>
              <a:t>■  A protective ground must carry the available fault current without burning open</a:t>
            </a:r>
          </a:p>
          <a:p>
            <a:pPr algn="l">
              <a:lnSpc>
                <a:spcPct val="105000"/>
              </a:lnSpc>
              <a:spcBef>
                <a:spcPts val="700"/>
              </a:spcBef>
              <a:spcAft>
                <a:spcPts val="200"/>
              </a:spcAft>
            </a:pPr>
            <a:r>
              <a:rPr sz="1700" b="0" i="0">
                <a:solidFill>
                  <a:srgbClr val="1A2B3C"/>
                </a:solidFill>
                <a:latin typeface="Arial"/>
              </a:rPr>
              <a:t>■  “Dead” is not “grounded” — induced voltage and accidental re-energizing are why we ground at the worksite</a:t>
            </a:r>
          </a:p>
        </p:txBody>
      </p:sp>
      <p:sp>
        <p:nvSpPr>
          <p:cNvPr id="8" name="Rounded Rectangle 7"/>
          <p:cNvSpPr/>
          <p:nvPr/>
        </p:nvSpPr>
        <p:spPr>
          <a:xfrm>
            <a:off x="7863840" y="1874519"/>
            <a:ext cx="3776472" cy="3931920"/>
          </a:xfrm>
          <a:prstGeom prst="roundRect">
            <a:avLst/>
          </a:prstGeom>
          <a:solidFill>
            <a:srgbClr val="E7EEF6"/>
          </a:solidFill>
          <a:ln w="19050">
            <a:solidFill>
              <a:srgbClr val="1340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863840" y="1874519"/>
            <a:ext cx="3776472" cy="548640"/>
          </a:xfrm>
          <a:prstGeom prst="roundRect">
            <a:avLst/>
          </a:prstGeom>
          <a:solidFill>
            <a:srgbClr val="1340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63840" y="2148839"/>
            <a:ext cx="3776472" cy="274320"/>
          </a:xfrm>
          <a:prstGeom prst="rect">
            <a:avLst/>
          </a:prstGeom>
          <a:solidFill>
            <a:srgbClr val="1340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92440" y="1920239"/>
            <a:ext cx="3319272" cy="475488"/>
          </a:xfrm>
          <a:prstGeom prst="rect">
            <a:avLst/>
          </a:prstGeom>
          <a:noFill/>
        </p:spPr>
        <p:txBody>
          <a:bodyPr wrap="square" anchor="ctr" lIns="0" rIns="0" tIns="0" bIns="0">
            <a:spAutoFit/>
          </a:bodyPr>
          <a:lstStyle/>
          <a:p>
            <a:pPr algn="l">
              <a:lnSpc>
                <a:spcPct val="105000"/>
              </a:lnSpc>
              <a:spcBef>
                <a:spcPts val="400"/>
              </a:spcBef>
              <a:spcAft>
                <a:spcPts val="400"/>
              </a:spcAft>
            </a:pPr>
            <a:r>
              <a:rPr sz="1400" b="1" i="0">
                <a:solidFill>
                  <a:srgbClr val="FFFFFF"/>
                </a:solidFill>
                <a:latin typeface="Arial"/>
              </a:rPr>
              <a:t>KEY CONCEPT</a:t>
            </a:r>
          </a:p>
        </p:txBody>
      </p:sp>
      <p:sp>
        <p:nvSpPr>
          <p:cNvPr id="12" name="TextBox 11"/>
          <p:cNvSpPr txBox="1"/>
          <p:nvPr/>
        </p:nvSpPr>
        <p:spPr>
          <a:xfrm>
            <a:off x="8138160" y="2587752"/>
            <a:ext cx="3227832" cy="3063239"/>
          </a:xfrm>
          <a:prstGeom prst="rect">
            <a:avLst/>
          </a:prstGeom>
          <a:noFill/>
        </p:spPr>
        <p:txBody>
          <a:bodyPr wrap="square" anchor="t" lIns="0" rIns="0" tIns="0" bIns="0">
            <a:spAutoFit/>
          </a:bodyPr>
          <a:lstStyle/>
          <a:p>
            <a:pPr algn="l">
              <a:lnSpc>
                <a:spcPct val="105000"/>
              </a:lnSpc>
              <a:spcBef>
                <a:spcPts val="400"/>
              </a:spcBef>
              <a:spcAft>
                <a:spcPts val="400"/>
              </a:spcAft>
            </a:pPr>
            <a:r>
              <a:rPr sz="1550" b="1" i="0">
                <a:solidFill>
                  <a:srgbClr val="134074"/>
                </a:solidFill>
                <a:latin typeface="Arial"/>
              </a:rPr>
              <a:t>Ground = path + equipotential</a:t>
            </a:r>
          </a:p>
          <a:p>
            <a:pPr algn="l">
              <a:lnSpc>
                <a:spcPct val="105000"/>
              </a:lnSpc>
              <a:spcBef>
                <a:spcPts val="300"/>
              </a:spcBef>
              <a:spcAft>
                <a:spcPts val="100"/>
              </a:spcAft>
            </a:pPr>
            <a:r>
              <a:rPr sz="1300" b="0" i="0">
                <a:solidFill>
                  <a:srgbClr val="1A2B3C"/>
                </a:solidFill>
                <a:latin typeface="Arial"/>
              </a:rPr>
              <a:t>–  Trips protection (a path to the source).</a:t>
            </a:r>
          </a:p>
          <a:p>
            <a:pPr algn="l">
              <a:lnSpc>
                <a:spcPct val="105000"/>
              </a:lnSpc>
              <a:spcBef>
                <a:spcPts val="300"/>
              </a:spcBef>
              <a:spcAft>
                <a:spcPts val="100"/>
              </a:spcAft>
            </a:pPr>
            <a:r>
              <a:rPr sz="1300" b="0" i="0">
                <a:solidFill>
                  <a:srgbClr val="1A2B3C"/>
                </a:solidFill>
                <a:latin typeface="Arial"/>
              </a:rPr>
              <a:t>–  Flattens the voltage you stand in (equipotential).</a:t>
            </a:r>
          </a:p>
          <a:p>
            <a:pPr algn="l">
              <a:lnSpc>
                <a:spcPct val="105000"/>
              </a:lnSpc>
              <a:spcBef>
                <a:spcPts val="300"/>
              </a:spcBef>
              <a:spcAft>
                <a:spcPts val="100"/>
              </a:spcAft>
            </a:pPr>
            <a:r>
              <a:rPr sz="1300" b="0" i="0">
                <a:solidFill>
                  <a:srgbClr val="1A2B3C"/>
                </a:solidFill>
                <a:latin typeface="Arial"/>
              </a:rPr>
              <a:t>–  Both protect the worker — for different reasons.</a:t>
            </a:r>
          </a:p>
        </p:txBody>
      </p:sp>
      <p:sp>
        <p:nvSpPr>
          <p:cNvPr id="13" name="Rectangle 12"/>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8 — Current Paths &amp; Grounding</a:t>
            </a:r>
          </a:p>
        </p:txBody>
      </p:sp>
      <p:sp>
        <p:nvSpPr>
          <p:cNvPr id="15" name="TextBox 14"/>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118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8.3 TRUCK: GROUND OR ISOLATE?</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The Bucket Truck: Ground It, Isolate It, or Bond It?</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27632"/>
            <a:ext cx="10881360" cy="548640"/>
          </a:xfrm>
          <a:prstGeom prst="rect">
            <a:avLst/>
          </a:prstGeom>
          <a:noFill/>
        </p:spPr>
        <p:txBody>
          <a:bodyPr wrap="square" anchor="t" lIns="0" rIns="0" tIns="0" bIns="0">
            <a:spAutoFit/>
          </a:bodyPr>
          <a:lstStyle/>
          <a:p>
            <a:pPr algn="l">
              <a:lnSpc>
                <a:spcPct val="105000"/>
              </a:lnSpc>
              <a:spcBef>
                <a:spcPts val="400"/>
              </a:spcBef>
              <a:spcAft>
                <a:spcPts val="400"/>
              </a:spcAft>
            </a:pPr>
            <a:r>
              <a:rPr sz="1550" b="0" i="1">
                <a:solidFill>
                  <a:srgbClr val="5B6B7B"/>
                </a:solidFill>
                <a:latin typeface="Arial"/>
              </a:rPr>
              <a:t>Three legitimate methods — the wrong mix of them is what kills.</a:t>
            </a:r>
          </a:p>
        </p:txBody>
      </p:sp>
      <p:sp>
        <p:nvSpPr>
          <p:cNvPr id="8" name="TextBox 7"/>
          <p:cNvSpPr txBox="1"/>
          <p:nvPr/>
        </p:nvSpPr>
        <p:spPr>
          <a:xfrm>
            <a:off x="658368" y="2240280"/>
            <a:ext cx="10927080" cy="3703320"/>
          </a:xfrm>
          <a:prstGeom prst="rect">
            <a:avLst/>
          </a:prstGeom>
          <a:noFill/>
        </p:spPr>
        <p:txBody>
          <a:bodyPr wrap="square" anchor="t" lIns="0" rIns="0" tIns="0" bIns="0">
            <a:spAutoFit/>
          </a:bodyPr>
          <a:lstStyle/>
          <a:p>
            <a:pPr algn="l">
              <a:lnSpc>
                <a:spcPct val="105000"/>
              </a:lnSpc>
              <a:spcBef>
                <a:spcPts val="700"/>
              </a:spcBef>
              <a:spcAft>
                <a:spcPts val="200"/>
              </a:spcAft>
            </a:pPr>
            <a:r>
              <a:rPr sz="1800" b="0" i="0">
                <a:solidFill>
                  <a:srgbClr val="1A2B3C"/>
                </a:solidFill>
                <a:latin typeface="Arial"/>
              </a:rPr>
              <a:t>■  GROUNDED: bond the truck to the system/earth so a contact faults and trips protection</a:t>
            </a:r>
          </a:p>
          <a:p>
            <a:pPr algn="l">
              <a:lnSpc>
                <a:spcPct val="105000"/>
              </a:lnSpc>
              <a:spcBef>
                <a:spcPts val="700"/>
              </a:spcBef>
              <a:spcAft>
                <a:spcPts val="200"/>
              </a:spcAft>
            </a:pPr>
            <a:r>
              <a:rPr sz="1800" b="0" i="0">
                <a:solidFill>
                  <a:srgbClr val="1A2B3C"/>
                </a:solidFill>
                <a:latin typeface="Arial"/>
              </a:rPr>
              <a:t>■  ISOLATED: keep the truck off ground and rely on the insulated boom — treat the truck as energized</a:t>
            </a:r>
          </a:p>
          <a:p>
            <a:pPr algn="l">
              <a:lnSpc>
                <a:spcPct val="105000"/>
              </a:lnSpc>
              <a:spcBef>
                <a:spcPts val="700"/>
              </a:spcBef>
              <a:spcAft>
                <a:spcPts val="200"/>
              </a:spcAft>
            </a:pPr>
            <a:r>
              <a:rPr sz="1800" b="0" i="0">
                <a:solidFill>
                  <a:srgbClr val="1A2B3C"/>
                </a:solidFill>
                <a:latin typeface="Arial"/>
              </a:rPr>
              <a:t>■  BONDED / at potential: bond the bucket to the conductor and work at line potential (bird-on-wire)</a:t>
            </a:r>
          </a:p>
          <a:p>
            <a:pPr algn="l">
              <a:lnSpc>
                <a:spcPct val="105000"/>
              </a:lnSpc>
              <a:spcBef>
                <a:spcPts val="700"/>
              </a:spcBef>
              <a:spcAft>
                <a:spcPts val="200"/>
              </a:spcAft>
            </a:pPr>
            <a:r>
              <a:rPr sz="1800" b="0" i="0">
                <a:solidFill>
                  <a:srgbClr val="1A2B3C"/>
                </a:solidFill>
                <a:latin typeface="Arial"/>
              </a:rPr>
              <a:t>■  Which one you use is set by your employer's procedure, the system, and the task — never mix methods by accident</a:t>
            </a:r>
          </a:p>
          <a:p>
            <a:pPr algn="l" lvl="1">
              <a:lnSpc>
                <a:spcPct val="103000"/>
              </a:lnSpc>
              <a:spcBef>
                <a:spcPts val="200"/>
              </a:spcBef>
              <a:spcAft>
                <a:spcPts val="200"/>
              </a:spcAft>
            </a:pPr>
            <a:r>
              <a:rPr sz="1500" b="0" i="0">
                <a:solidFill>
                  <a:srgbClr val="334455"/>
                </a:solidFill>
                <a:latin typeface="Arial"/>
              </a:rPr>
              <a:t>–  The danger is a half-measure: a truck that is neither solidly grounded nor truly isolated</a:t>
            </a:r>
          </a:p>
        </p:txBody>
      </p:sp>
      <p:sp>
        <p:nvSpPr>
          <p:cNvPr id="9" name="Rectangle 8"/>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8 — Current Paths &amp; Grounding</a:t>
            </a:r>
          </a:p>
        </p:txBody>
      </p:sp>
      <p:sp>
        <p:nvSpPr>
          <p:cNvPr id="11" name="TextBox 10"/>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119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8.4 GROUNDED TRUCK</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Scenario A — The GROUNDED Truck</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783080"/>
            <a:ext cx="6949440" cy="4297680"/>
          </a:xfrm>
          <a:prstGeom prst="rect">
            <a:avLst/>
          </a:prstGeom>
          <a:noFill/>
        </p:spPr>
        <p:txBody>
          <a:bodyPr wrap="square" anchor="t" lIns="0" rIns="0" tIns="0" bIns="0">
            <a:spAutoFit/>
          </a:bodyPr>
          <a:lstStyle/>
          <a:p>
            <a:pPr algn="l">
              <a:lnSpc>
                <a:spcPct val="105000"/>
              </a:lnSpc>
              <a:spcBef>
                <a:spcPts val="700"/>
              </a:spcBef>
              <a:spcAft>
                <a:spcPts val="200"/>
              </a:spcAft>
            </a:pPr>
            <a:r>
              <a:rPr sz="1700" b="0" i="0">
                <a:solidFill>
                  <a:srgbClr val="1A2B3C"/>
                </a:solidFill>
                <a:latin typeface="Arial"/>
              </a:rPr>
              <a:t>■  The truck is bonded to a driven ground / the system ground</a:t>
            </a:r>
          </a:p>
          <a:p>
            <a:pPr algn="l">
              <a:lnSpc>
                <a:spcPct val="105000"/>
              </a:lnSpc>
              <a:spcBef>
                <a:spcPts val="700"/>
              </a:spcBef>
              <a:spcAft>
                <a:spcPts val="200"/>
              </a:spcAft>
            </a:pPr>
            <a:r>
              <a:rPr sz="1700" b="0" i="0">
                <a:solidFill>
                  <a:srgbClr val="1A2B3C"/>
                </a:solidFill>
                <a:latin typeface="Arial"/>
              </a:rPr>
              <a:t>■  If the boom contacts a line, fault current flows down the truck and into the earth</a:t>
            </a:r>
          </a:p>
          <a:p>
            <a:pPr algn="l" lvl="1">
              <a:lnSpc>
                <a:spcPct val="102000"/>
              </a:lnSpc>
              <a:spcBef>
                <a:spcPts val="200"/>
              </a:spcBef>
              <a:spcAft>
                <a:spcPts val="100"/>
              </a:spcAft>
            </a:pPr>
            <a:r>
              <a:rPr sz="1400" b="0" i="0">
                <a:solidFill>
                  <a:srgbClr val="334455"/>
                </a:solidFill>
                <a:latin typeface="Arial"/>
              </a:rPr>
              <a:t>–  Protection sees the fault and trips quickly — the upside of grounding</a:t>
            </a:r>
          </a:p>
          <a:p>
            <a:pPr algn="l">
              <a:lnSpc>
                <a:spcPct val="105000"/>
              </a:lnSpc>
              <a:spcBef>
                <a:spcPts val="700"/>
              </a:spcBef>
              <a:spcAft>
                <a:spcPts val="200"/>
              </a:spcAft>
            </a:pPr>
            <a:r>
              <a:rPr sz="1700" b="0" i="0">
                <a:solidFill>
                  <a:srgbClr val="1A2B3C"/>
                </a:solidFill>
                <a:latin typeface="Arial"/>
              </a:rPr>
              <a:t>■  But the current entering the earth raises the ground potential around the truck</a:t>
            </a:r>
          </a:p>
          <a:p>
            <a:pPr algn="l" lvl="1">
              <a:lnSpc>
                <a:spcPct val="102000"/>
              </a:lnSpc>
              <a:spcBef>
                <a:spcPts val="200"/>
              </a:spcBef>
              <a:spcAft>
                <a:spcPts val="100"/>
              </a:spcAft>
            </a:pPr>
            <a:r>
              <a:rPr sz="1400" b="0" i="0">
                <a:solidFill>
                  <a:srgbClr val="334455"/>
                </a:solidFill>
                <a:latin typeface="Arial"/>
              </a:rPr>
              <a:t>–  Step &amp; touch potential endangers the ground crew and the public near the truck</a:t>
            </a:r>
          </a:p>
          <a:p>
            <a:pPr algn="l">
              <a:lnSpc>
                <a:spcPct val="105000"/>
              </a:lnSpc>
              <a:spcBef>
                <a:spcPts val="700"/>
              </a:spcBef>
              <a:spcAft>
                <a:spcPts val="200"/>
              </a:spcAft>
            </a:pPr>
            <a:r>
              <a:rPr sz="1700" b="0" i="0">
                <a:solidFill>
                  <a:srgbClr val="1A2B3C"/>
                </a:solidFill>
                <a:latin typeface="Arial"/>
              </a:rPr>
              <a:t>■  Anyone touching the truck while standing on the ground is across that voltage</a:t>
            </a:r>
          </a:p>
        </p:txBody>
      </p:sp>
      <p:sp>
        <p:nvSpPr>
          <p:cNvPr id="8" name="Rounded Rectangle 7"/>
          <p:cNvSpPr/>
          <p:nvPr/>
        </p:nvSpPr>
        <p:spPr>
          <a:xfrm>
            <a:off x="7863840" y="1874519"/>
            <a:ext cx="3776472" cy="3931920"/>
          </a:xfrm>
          <a:prstGeom prst="roundRect">
            <a:avLst/>
          </a:prstGeom>
          <a:solidFill>
            <a:srgbClr val="FDF4DE"/>
          </a:solidFill>
          <a:ln w="19050">
            <a:solidFill>
              <a:srgbClr val="C88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863840" y="1874519"/>
            <a:ext cx="3776472" cy="548640"/>
          </a:xfrm>
          <a:prstGeom prst="roundRect">
            <a:avLst/>
          </a:prstGeom>
          <a:solidFill>
            <a:srgbClr val="C88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63840" y="2148839"/>
            <a:ext cx="3776472" cy="274320"/>
          </a:xfrm>
          <a:prstGeom prst="rect">
            <a:avLst/>
          </a:prstGeom>
          <a:solidFill>
            <a:srgbClr val="C88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92440" y="1920239"/>
            <a:ext cx="3319272" cy="475488"/>
          </a:xfrm>
          <a:prstGeom prst="rect">
            <a:avLst/>
          </a:prstGeom>
          <a:noFill/>
        </p:spPr>
        <p:txBody>
          <a:bodyPr wrap="square" anchor="ctr" lIns="0" rIns="0" tIns="0" bIns="0">
            <a:spAutoFit/>
          </a:bodyPr>
          <a:lstStyle/>
          <a:p>
            <a:pPr algn="l">
              <a:lnSpc>
                <a:spcPct val="105000"/>
              </a:lnSpc>
              <a:spcBef>
                <a:spcPts val="400"/>
              </a:spcBef>
              <a:spcAft>
                <a:spcPts val="400"/>
              </a:spcAft>
            </a:pPr>
            <a:r>
              <a:rPr sz="1400" b="1" i="0">
                <a:solidFill>
                  <a:srgbClr val="FFFFFF"/>
                </a:solidFill>
                <a:latin typeface="Arial"/>
              </a:rPr>
              <a:t>WARNING  ⚠</a:t>
            </a:r>
          </a:p>
        </p:txBody>
      </p:sp>
      <p:sp>
        <p:nvSpPr>
          <p:cNvPr id="12" name="TextBox 11"/>
          <p:cNvSpPr txBox="1"/>
          <p:nvPr/>
        </p:nvSpPr>
        <p:spPr>
          <a:xfrm>
            <a:off x="8138160" y="2587752"/>
            <a:ext cx="3227832" cy="3063239"/>
          </a:xfrm>
          <a:prstGeom prst="rect">
            <a:avLst/>
          </a:prstGeom>
          <a:noFill/>
        </p:spPr>
        <p:txBody>
          <a:bodyPr wrap="square" anchor="t" lIns="0" rIns="0" tIns="0" bIns="0">
            <a:spAutoFit/>
          </a:bodyPr>
          <a:lstStyle/>
          <a:p>
            <a:pPr algn="l">
              <a:lnSpc>
                <a:spcPct val="105000"/>
              </a:lnSpc>
              <a:spcBef>
                <a:spcPts val="400"/>
              </a:spcBef>
              <a:spcAft>
                <a:spcPts val="400"/>
              </a:spcAft>
            </a:pPr>
            <a:r>
              <a:rPr sz="1550" b="1" i="0">
                <a:solidFill>
                  <a:srgbClr val="C88A00"/>
                </a:solidFill>
                <a:latin typeface="Arial"/>
              </a:rPr>
              <a:t>The trade-off</a:t>
            </a:r>
          </a:p>
          <a:p>
            <a:pPr algn="l">
              <a:lnSpc>
                <a:spcPct val="105000"/>
              </a:lnSpc>
              <a:spcBef>
                <a:spcPts val="300"/>
              </a:spcBef>
              <a:spcAft>
                <a:spcPts val="100"/>
              </a:spcAft>
            </a:pPr>
            <a:r>
              <a:rPr sz="1300" b="0" i="0">
                <a:solidFill>
                  <a:srgbClr val="1A2B3C"/>
                </a:solidFill>
                <a:latin typeface="Arial"/>
              </a:rPr>
              <a:t>–  Grounding buys you a fast trip.</a:t>
            </a:r>
          </a:p>
          <a:p>
            <a:pPr algn="l">
              <a:lnSpc>
                <a:spcPct val="105000"/>
              </a:lnSpc>
              <a:spcBef>
                <a:spcPts val="300"/>
              </a:spcBef>
              <a:spcAft>
                <a:spcPts val="100"/>
              </a:spcAft>
            </a:pPr>
            <a:r>
              <a:rPr sz="1300" b="0" i="0">
                <a:solidFill>
                  <a:srgbClr val="1A2B3C"/>
                </a:solidFill>
                <a:latin typeface="Arial"/>
              </a:rPr>
              <a:t>–  It also puts the ground crew in the fault path.</a:t>
            </a:r>
          </a:p>
          <a:p>
            <a:pPr algn="l">
              <a:lnSpc>
                <a:spcPct val="105000"/>
              </a:lnSpc>
              <a:spcBef>
                <a:spcPts val="300"/>
              </a:spcBef>
              <a:spcAft>
                <a:spcPts val="100"/>
              </a:spcAft>
            </a:pPr>
            <a:r>
              <a:rPr sz="1300" b="0" i="0">
                <a:solidFill>
                  <a:srgbClr val="1A2B3C"/>
                </a:solidFill>
                <a:latin typeface="Arial"/>
              </a:rPr>
              <a:t>–  Control the area: bond, barricade, keep people back.</a:t>
            </a:r>
          </a:p>
        </p:txBody>
      </p:sp>
      <p:sp>
        <p:nvSpPr>
          <p:cNvPr id="13" name="Rectangle 12"/>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8 — Current Paths &amp; Grounding</a:t>
            </a:r>
          </a:p>
        </p:txBody>
      </p:sp>
      <p:sp>
        <p:nvSpPr>
          <p:cNvPr id="15" name="TextBox 14"/>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120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8.5 ISOLATED TRUCK</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Scenario B — The ISOLATED (Ungrounded) Truck</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783080"/>
            <a:ext cx="6949440" cy="4297680"/>
          </a:xfrm>
          <a:prstGeom prst="rect">
            <a:avLst/>
          </a:prstGeom>
          <a:noFill/>
        </p:spPr>
        <p:txBody>
          <a:bodyPr wrap="square" anchor="t" lIns="0" rIns="0" tIns="0" bIns="0">
            <a:spAutoFit/>
          </a:bodyPr>
          <a:lstStyle/>
          <a:p>
            <a:pPr algn="l">
              <a:lnSpc>
                <a:spcPct val="105000"/>
              </a:lnSpc>
              <a:spcBef>
                <a:spcPts val="700"/>
              </a:spcBef>
              <a:spcAft>
                <a:spcPts val="200"/>
              </a:spcAft>
            </a:pPr>
            <a:r>
              <a:rPr sz="1700" b="0" i="0">
                <a:solidFill>
                  <a:srgbClr val="1A2B3C"/>
                </a:solidFill>
                <a:latin typeface="Arial"/>
              </a:rPr>
              <a:t>■  The truck is NOT grounded; the insulated (dielectric) boom isolates the bucket worker</a:t>
            </a:r>
          </a:p>
          <a:p>
            <a:pPr algn="l">
              <a:lnSpc>
                <a:spcPct val="105000"/>
              </a:lnSpc>
              <a:spcBef>
                <a:spcPts val="700"/>
              </a:spcBef>
              <a:spcAft>
                <a:spcPts val="200"/>
              </a:spcAft>
            </a:pPr>
            <a:r>
              <a:rPr sz="1700" b="0" i="0">
                <a:solidFill>
                  <a:srgbClr val="1A2B3C"/>
                </a:solidFill>
                <a:latin typeface="Arial"/>
              </a:rPr>
              <a:t>■  If the boom contacts a line, there is no path to complete — so the breaker does NOT trip</a:t>
            </a:r>
          </a:p>
          <a:p>
            <a:pPr algn="l" lvl="1">
              <a:lnSpc>
                <a:spcPct val="102000"/>
              </a:lnSpc>
              <a:spcBef>
                <a:spcPts val="200"/>
              </a:spcBef>
              <a:spcAft>
                <a:spcPts val="100"/>
              </a:spcAft>
            </a:pPr>
            <a:r>
              <a:rPr sz="1400" b="0" i="0">
                <a:solidFill>
                  <a:srgbClr val="334455"/>
                </a:solidFill>
                <a:latin typeface="Arial"/>
              </a:rPr>
              <a:t>–  The whole truck rises to line potential and stays energized</a:t>
            </a:r>
          </a:p>
          <a:p>
            <a:pPr algn="l">
              <a:lnSpc>
                <a:spcPct val="105000"/>
              </a:lnSpc>
              <a:spcBef>
                <a:spcPts val="700"/>
              </a:spcBef>
              <a:spcAft>
                <a:spcPts val="200"/>
              </a:spcAft>
            </a:pPr>
            <a:r>
              <a:rPr sz="1700" b="0" i="0">
                <a:solidFill>
                  <a:srgbClr val="1A2B3C"/>
                </a:solidFill>
                <a:latin typeface="Arial"/>
              </a:rPr>
              <a:t>■  The bucket worker is safe at potential — but the TRUCK is now a live object</a:t>
            </a:r>
          </a:p>
          <a:p>
            <a:pPr algn="l">
              <a:lnSpc>
                <a:spcPct val="105000"/>
              </a:lnSpc>
              <a:spcBef>
                <a:spcPts val="700"/>
              </a:spcBef>
              <a:spcAft>
                <a:spcPts val="200"/>
              </a:spcAft>
            </a:pPr>
            <a:r>
              <a:rPr sz="1700" b="0" i="0">
                <a:solidFill>
                  <a:srgbClr val="1A2B3C"/>
                </a:solidFill>
                <a:latin typeface="Arial"/>
              </a:rPr>
              <a:t>■  Anyone who bridges truck-to-ground (steps off, hands up a tool, touches the chassis) completes the circuit</a:t>
            </a:r>
          </a:p>
          <a:p>
            <a:pPr algn="l">
              <a:lnSpc>
                <a:spcPct val="105000"/>
              </a:lnSpc>
              <a:spcBef>
                <a:spcPts val="700"/>
              </a:spcBef>
              <a:spcAft>
                <a:spcPts val="200"/>
              </a:spcAft>
            </a:pPr>
            <a:r>
              <a:rPr sz="1700" b="0" i="0">
                <a:solidFill>
                  <a:srgbClr val="1A2B3C"/>
                </a:solidFill>
                <a:latin typeface="Arial"/>
              </a:rPr>
              <a:t>■  Barricade the truck, keep ground workers clear, and treat it as energized</a:t>
            </a:r>
          </a:p>
        </p:txBody>
      </p:sp>
      <p:sp>
        <p:nvSpPr>
          <p:cNvPr id="8" name="Rounded Rectangle 7"/>
          <p:cNvSpPr/>
          <p:nvPr/>
        </p:nvSpPr>
        <p:spPr>
          <a:xfrm>
            <a:off x="7863840" y="1874519"/>
            <a:ext cx="3776472" cy="3931920"/>
          </a:xfrm>
          <a:prstGeom prst="roundRect">
            <a:avLst/>
          </a:prstGeom>
          <a:solidFill>
            <a:srgbClr val="FDF4DE"/>
          </a:solidFill>
          <a:ln w="19050">
            <a:solidFill>
              <a:srgbClr val="C88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863840" y="1874519"/>
            <a:ext cx="3776472" cy="548640"/>
          </a:xfrm>
          <a:prstGeom prst="roundRect">
            <a:avLst/>
          </a:prstGeom>
          <a:solidFill>
            <a:srgbClr val="C88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63840" y="2148839"/>
            <a:ext cx="3776472" cy="274320"/>
          </a:xfrm>
          <a:prstGeom prst="rect">
            <a:avLst/>
          </a:prstGeom>
          <a:solidFill>
            <a:srgbClr val="C88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92440" y="1920239"/>
            <a:ext cx="3319272" cy="475488"/>
          </a:xfrm>
          <a:prstGeom prst="rect">
            <a:avLst/>
          </a:prstGeom>
          <a:noFill/>
        </p:spPr>
        <p:txBody>
          <a:bodyPr wrap="square" anchor="ctr" lIns="0" rIns="0" tIns="0" bIns="0">
            <a:spAutoFit/>
          </a:bodyPr>
          <a:lstStyle/>
          <a:p>
            <a:pPr algn="l">
              <a:lnSpc>
                <a:spcPct val="105000"/>
              </a:lnSpc>
              <a:spcBef>
                <a:spcPts val="400"/>
              </a:spcBef>
              <a:spcAft>
                <a:spcPts val="400"/>
              </a:spcAft>
            </a:pPr>
            <a:r>
              <a:rPr sz="1400" b="1" i="0">
                <a:solidFill>
                  <a:srgbClr val="FFFFFF"/>
                </a:solidFill>
                <a:latin typeface="Arial"/>
              </a:rPr>
              <a:t>WARNING  ⚠</a:t>
            </a:r>
          </a:p>
        </p:txBody>
      </p:sp>
      <p:sp>
        <p:nvSpPr>
          <p:cNvPr id="12" name="TextBox 11"/>
          <p:cNvSpPr txBox="1"/>
          <p:nvPr/>
        </p:nvSpPr>
        <p:spPr>
          <a:xfrm>
            <a:off x="8138160" y="2587752"/>
            <a:ext cx="3227832" cy="3063239"/>
          </a:xfrm>
          <a:prstGeom prst="rect">
            <a:avLst/>
          </a:prstGeom>
          <a:noFill/>
        </p:spPr>
        <p:txBody>
          <a:bodyPr wrap="square" anchor="t" lIns="0" rIns="0" tIns="0" bIns="0">
            <a:spAutoFit/>
          </a:bodyPr>
          <a:lstStyle/>
          <a:p>
            <a:pPr algn="l">
              <a:lnSpc>
                <a:spcPct val="105000"/>
              </a:lnSpc>
              <a:spcBef>
                <a:spcPts val="400"/>
              </a:spcBef>
              <a:spcAft>
                <a:spcPts val="400"/>
              </a:spcAft>
            </a:pPr>
            <a:r>
              <a:rPr sz="1550" b="1" i="0">
                <a:solidFill>
                  <a:srgbClr val="C88A00"/>
                </a:solidFill>
                <a:latin typeface="Arial"/>
              </a:rPr>
              <a:t>No path, no trip</a:t>
            </a:r>
          </a:p>
          <a:p>
            <a:pPr algn="l">
              <a:lnSpc>
                <a:spcPct val="105000"/>
              </a:lnSpc>
              <a:spcBef>
                <a:spcPts val="300"/>
              </a:spcBef>
              <a:spcAft>
                <a:spcPts val="100"/>
              </a:spcAft>
            </a:pPr>
            <a:r>
              <a:rPr sz="1300" b="0" i="0">
                <a:solidFill>
                  <a:srgbClr val="1A2B3C"/>
                </a:solidFill>
                <a:latin typeface="Arial"/>
              </a:rPr>
              <a:t>–  The boom protects the worker aloft.</a:t>
            </a:r>
          </a:p>
          <a:p>
            <a:pPr algn="l">
              <a:lnSpc>
                <a:spcPct val="105000"/>
              </a:lnSpc>
              <a:spcBef>
                <a:spcPts val="300"/>
              </a:spcBef>
              <a:spcAft>
                <a:spcPts val="100"/>
              </a:spcAft>
            </a:pPr>
            <a:r>
              <a:rPr sz="1300" b="0" i="0">
                <a:solidFill>
                  <a:srgbClr val="1A2B3C"/>
                </a:solidFill>
                <a:latin typeface="Arial"/>
              </a:rPr>
              <a:t>–  The truck is energized with no warning trip.</a:t>
            </a:r>
          </a:p>
          <a:p>
            <a:pPr algn="l">
              <a:lnSpc>
                <a:spcPct val="105000"/>
              </a:lnSpc>
              <a:spcBef>
                <a:spcPts val="300"/>
              </a:spcBef>
              <a:spcAft>
                <a:spcPts val="100"/>
              </a:spcAft>
            </a:pPr>
            <a:r>
              <a:rPr sz="1300" b="0" i="0">
                <a:solidFill>
                  <a:srgbClr val="1A2B3C"/>
                </a:solidFill>
                <a:latin typeface="Arial"/>
              </a:rPr>
              <a:t>–  Never bridge the truck to ground.</a:t>
            </a:r>
          </a:p>
        </p:txBody>
      </p:sp>
      <p:sp>
        <p:nvSpPr>
          <p:cNvPr id="13" name="Rectangle 12"/>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8 — Current Paths &amp; Grounding</a:t>
            </a:r>
          </a:p>
        </p:txBody>
      </p:sp>
      <p:sp>
        <p:nvSpPr>
          <p:cNvPr id="15" name="TextBox 14"/>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121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8.6 BONDED / AT POTENTIAL</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Working at Potential — Bonded (Bird on a Wire)</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783080"/>
            <a:ext cx="6949440" cy="4297680"/>
          </a:xfrm>
          <a:prstGeom prst="rect">
            <a:avLst/>
          </a:prstGeom>
          <a:noFill/>
        </p:spPr>
        <p:txBody>
          <a:bodyPr wrap="square" anchor="t" lIns="0" rIns="0" tIns="0" bIns="0">
            <a:spAutoFit/>
          </a:bodyPr>
          <a:lstStyle/>
          <a:p>
            <a:pPr algn="l">
              <a:lnSpc>
                <a:spcPct val="105000"/>
              </a:lnSpc>
              <a:spcBef>
                <a:spcPts val="700"/>
              </a:spcBef>
              <a:spcAft>
                <a:spcPts val="200"/>
              </a:spcAft>
            </a:pPr>
            <a:r>
              <a:rPr sz="1700" b="0" i="0">
                <a:solidFill>
                  <a:srgbClr val="1A2B3C"/>
                </a:solidFill>
                <a:latin typeface="Arial"/>
              </a:rPr>
              <a:t>■  The bucket / worker is BONDED directly to the conductor with a jumper</a:t>
            </a:r>
          </a:p>
          <a:p>
            <a:pPr algn="l">
              <a:lnSpc>
                <a:spcPct val="105000"/>
              </a:lnSpc>
              <a:spcBef>
                <a:spcPts val="700"/>
              </a:spcBef>
              <a:spcAft>
                <a:spcPts val="200"/>
              </a:spcAft>
            </a:pPr>
            <a:r>
              <a:rPr sz="1700" b="0" i="0">
                <a:solidFill>
                  <a:srgbClr val="1A2B3C"/>
                </a:solidFill>
                <a:latin typeface="Arial"/>
              </a:rPr>
              <a:t>■  Worker and conductor sit at the SAME potential — like the bird on one wire</a:t>
            </a:r>
          </a:p>
          <a:p>
            <a:pPr algn="l" lvl="1">
              <a:lnSpc>
                <a:spcPct val="102000"/>
              </a:lnSpc>
              <a:spcBef>
                <a:spcPts val="200"/>
              </a:spcBef>
              <a:spcAft>
                <a:spcPts val="100"/>
              </a:spcAft>
            </a:pPr>
            <a:r>
              <a:rPr sz="1400" b="0" i="0">
                <a:solidFill>
                  <a:srgbClr val="334455"/>
                </a:solidFill>
                <a:latin typeface="Arial"/>
              </a:rPr>
              <a:t>–  No difference across the body → no current through the worker, even at line potential</a:t>
            </a:r>
          </a:p>
          <a:p>
            <a:pPr algn="l">
              <a:lnSpc>
                <a:spcPct val="105000"/>
              </a:lnSpc>
              <a:spcBef>
                <a:spcPts val="700"/>
              </a:spcBef>
              <a:spcAft>
                <a:spcPts val="200"/>
              </a:spcAft>
            </a:pPr>
            <a:r>
              <a:rPr sz="1700" b="0" i="0">
                <a:solidFill>
                  <a:srgbClr val="1A2B3C"/>
                </a:solidFill>
                <a:latin typeface="Arial"/>
              </a:rPr>
              <a:t>■  The rule that makes it safe: absolutely NO second point at a different potential</a:t>
            </a:r>
          </a:p>
          <a:p>
            <a:pPr algn="l" lvl="1">
              <a:lnSpc>
                <a:spcPct val="102000"/>
              </a:lnSpc>
              <a:spcBef>
                <a:spcPts val="200"/>
              </a:spcBef>
              <a:spcAft>
                <a:spcPts val="100"/>
              </a:spcAft>
            </a:pPr>
            <a:r>
              <a:rPr sz="1400" b="0" i="0">
                <a:solidFill>
                  <a:srgbClr val="334455"/>
                </a:solidFill>
                <a:latin typeface="Arial"/>
              </a:rPr>
              <a:t>–  Another phase, a grounded structure, or the boom touching earth would be fatal</a:t>
            </a:r>
          </a:p>
          <a:p>
            <a:pPr algn="l">
              <a:lnSpc>
                <a:spcPct val="105000"/>
              </a:lnSpc>
              <a:spcBef>
                <a:spcPts val="700"/>
              </a:spcBef>
              <a:spcAft>
                <a:spcPts val="200"/>
              </a:spcAft>
            </a:pPr>
            <a:r>
              <a:rPr sz="1700" b="0" i="0">
                <a:solidFill>
                  <a:srgbClr val="1A2B3C"/>
                </a:solidFill>
                <a:latin typeface="Arial"/>
              </a:rPr>
              <a:t>■  This is a deliberate, procedure-driven method — not the same as accidental isolation</a:t>
            </a:r>
          </a:p>
        </p:txBody>
      </p:sp>
      <p:sp>
        <p:nvSpPr>
          <p:cNvPr id="8" name="Rounded Rectangle 7"/>
          <p:cNvSpPr/>
          <p:nvPr/>
        </p:nvSpPr>
        <p:spPr>
          <a:xfrm>
            <a:off x="7863840" y="1874519"/>
            <a:ext cx="3776472" cy="3931920"/>
          </a:xfrm>
          <a:prstGeom prst="roundRect">
            <a:avLst/>
          </a:prstGeom>
          <a:solidFill>
            <a:srgbClr val="E7EEF6"/>
          </a:solidFill>
          <a:ln w="19050">
            <a:solidFill>
              <a:srgbClr val="1340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863840" y="1874519"/>
            <a:ext cx="3776472" cy="548640"/>
          </a:xfrm>
          <a:prstGeom prst="roundRect">
            <a:avLst/>
          </a:prstGeom>
          <a:solidFill>
            <a:srgbClr val="1340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63840" y="2148839"/>
            <a:ext cx="3776472" cy="274320"/>
          </a:xfrm>
          <a:prstGeom prst="rect">
            <a:avLst/>
          </a:prstGeom>
          <a:solidFill>
            <a:srgbClr val="1340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92440" y="1920239"/>
            <a:ext cx="3319272" cy="475488"/>
          </a:xfrm>
          <a:prstGeom prst="rect">
            <a:avLst/>
          </a:prstGeom>
          <a:noFill/>
        </p:spPr>
        <p:txBody>
          <a:bodyPr wrap="square" anchor="ctr" lIns="0" rIns="0" tIns="0" bIns="0">
            <a:spAutoFit/>
          </a:bodyPr>
          <a:lstStyle/>
          <a:p>
            <a:pPr algn="l">
              <a:lnSpc>
                <a:spcPct val="105000"/>
              </a:lnSpc>
              <a:spcBef>
                <a:spcPts val="400"/>
              </a:spcBef>
              <a:spcAft>
                <a:spcPts val="400"/>
              </a:spcAft>
            </a:pPr>
            <a:r>
              <a:rPr sz="1400" b="1" i="0">
                <a:solidFill>
                  <a:srgbClr val="FFFFFF"/>
                </a:solidFill>
                <a:latin typeface="Arial"/>
              </a:rPr>
              <a:t>KEY CONCEPT</a:t>
            </a:r>
          </a:p>
        </p:txBody>
      </p:sp>
      <p:sp>
        <p:nvSpPr>
          <p:cNvPr id="12" name="TextBox 11"/>
          <p:cNvSpPr txBox="1"/>
          <p:nvPr/>
        </p:nvSpPr>
        <p:spPr>
          <a:xfrm>
            <a:off x="8138160" y="2587752"/>
            <a:ext cx="3227832" cy="3063239"/>
          </a:xfrm>
          <a:prstGeom prst="rect">
            <a:avLst/>
          </a:prstGeom>
          <a:noFill/>
        </p:spPr>
        <p:txBody>
          <a:bodyPr wrap="square" anchor="t" lIns="0" rIns="0" tIns="0" bIns="0">
            <a:spAutoFit/>
          </a:bodyPr>
          <a:lstStyle/>
          <a:p>
            <a:pPr algn="l">
              <a:lnSpc>
                <a:spcPct val="105000"/>
              </a:lnSpc>
              <a:spcBef>
                <a:spcPts val="400"/>
              </a:spcBef>
              <a:spcAft>
                <a:spcPts val="400"/>
              </a:spcAft>
            </a:pPr>
            <a:r>
              <a:rPr sz="1550" b="1" i="0">
                <a:solidFill>
                  <a:srgbClr val="134074"/>
                </a:solidFill>
                <a:latin typeface="Arial"/>
              </a:rPr>
              <a:t>One potential only</a:t>
            </a:r>
          </a:p>
          <a:p>
            <a:pPr algn="l">
              <a:lnSpc>
                <a:spcPct val="105000"/>
              </a:lnSpc>
              <a:spcBef>
                <a:spcPts val="300"/>
              </a:spcBef>
              <a:spcAft>
                <a:spcPts val="100"/>
              </a:spcAft>
            </a:pPr>
            <a:r>
              <a:rPr sz="1300" b="0" i="0">
                <a:solidFill>
                  <a:srgbClr val="1A2B3C"/>
                </a:solidFill>
                <a:latin typeface="Arial"/>
              </a:rPr>
              <a:t>–  Bonded = you ride the wire's potential.</a:t>
            </a:r>
          </a:p>
          <a:p>
            <a:pPr algn="l">
              <a:lnSpc>
                <a:spcPct val="105000"/>
              </a:lnSpc>
              <a:spcBef>
                <a:spcPts val="300"/>
              </a:spcBef>
              <a:spcAft>
                <a:spcPts val="100"/>
              </a:spcAft>
            </a:pPr>
            <a:r>
              <a:rPr sz="1300" b="0" i="0">
                <a:solidFill>
                  <a:srgbClr val="1A2B3C"/>
                </a:solidFill>
                <a:latin typeface="Arial"/>
              </a:rPr>
              <a:t>–  Safe only while there is no second potential.</a:t>
            </a:r>
          </a:p>
          <a:p>
            <a:pPr algn="l">
              <a:lnSpc>
                <a:spcPct val="105000"/>
              </a:lnSpc>
              <a:spcBef>
                <a:spcPts val="300"/>
              </a:spcBef>
              <a:spcAft>
                <a:spcPts val="100"/>
              </a:spcAft>
            </a:pPr>
            <a:r>
              <a:rPr sz="1300" b="0" i="0">
                <a:solidFill>
                  <a:srgbClr val="1A2B3C"/>
                </a:solidFill>
                <a:latin typeface="Arial"/>
              </a:rPr>
              <a:t>–  Maintain isolation from everything else.</a:t>
            </a:r>
          </a:p>
        </p:txBody>
      </p:sp>
      <p:sp>
        <p:nvSpPr>
          <p:cNvPr id="13" name="Rectangle 12"/>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8 — Current Paths &amp; Grounding</a:t>
            </a:r>
          </a:p>
        </p:txBody>
      </p:sp>
      <p:sp>
        <p:nvSpPr>
          <p:cNvPr id="15" name="TextBox 14"/>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122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8.7 AIR VS GROUND</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Dangers in the Air vs On the Ground</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783080"/>
            <a:ext cx="6949440" cy="4297680"/>
          </a:xfrm>
          <a:prstGeom prst="rect">
            <a:avLst/>
          </a:prstGeom>
          <a:noFill/>
        </p:spPr>
        <p:txBody>
          <a:bodyPr wrap="square" anchor="t" lIns="0" rIns="0" tIns="0" bIns="0">
            <a:spAutoFit/>
          </a:bodyPr>
          <a:lstStyle/>
          <a:p>
            <a:pPr algn="l">
              <a:lnSpc>
                <a:spcPct val="105000"/>
              </a:lnSpc>
              <a:spcBef>
                <a:spcPts val="700"/>
              </a:spcBef>
              <a:spcAft>
                <a:spcPts val="200"/>
              </a:spcAft>
            </a:pPr>
            <a:r>
              <a:rPr sz="1700" b="0" i="0">
                <a:solidFill>
                  <a:srgbClr val="1A2B3C"/>
                </a:solidFill>
                <a:latin typeface="Arial"/>
              </a:rPr>
              <a:t>■  ALOFT: direct contact, second point of contact, phase-to-phase / phase-to-ground, MAD &amp; arc-over, induced voltage, the boom bridging in</a:t>
            </a:r>
          </a:p>
          <a:p>
            <a:pPr algn="l">
              <a:lnSpc>
                <a:spcPct val="105000"/>
              </a:lnSpc>
              <a:spcBef>
                <a:spcPts val="700"/>
              </a:spcBef>
              <a:spcAft>
                <a:spcPts val="200"/>
              </a:spcAft>
            </a:pPr>
            <a:r>
              <a:rPr sz="1700" b="0" i="0">
                <a:solidFill>
                  <a:srgbClr val="1A2B3C"/>
                </a:solidFill>
                <a:latin typeface="Arial"/>
              </a:rPr>
              <a:t>■  ON THE GROUND: step &amp; touch potential, a downed conductor energizing the earth, the truck as a live object, ground gradient across the feet, the public</a:t>
            </a:r>
          </a:p>
          <a:p>
            <a:pPr algn="l">
              <a:lnSpc>
                <a:spcPct val="105000"/>
              </a:lnSpc>
              <a:spcBef>
                <a:spcPts val="700"/>
              </a:spcBef>
              <a:spcAft>
                <a:spcPts val="200"/>
              </a:spcAft>
            </a:pPr>
            <a:r>
              <a:rPr sz="1700" b="0" i="0">
                <a:solidFill>
                  <a:srgbClr val="1A2B3C"/>
                </a:solidFill>
                <a:latin typeface="Arial"/>
              </a:rPr>
              <a:t>■  The same fault is two different problems depending on where you are standing</a:t>
            </a:r>
          </a:p>
          <a:p>
            <a:pPr algn="l">
              <a:lnSpc>
                <a:spcPct val="105000"/>
              </a:lnSpc>
              <a:spcBef>
                <a:spcPts val="700"/>
              </a:spcBef>
              <a:spcAft>
                <a:spcPts val="200"/>
              </a:spcAft>
            </a:pPr>
            <a:r>
              <a:rPr sz="1700" b="0" i="0">
                <a:solidFill>
                  <a:srgbClr val="1A2B3C"/>
                </a:solidFill>
                <a:latin typeface="Arial"/>
              </a:rPr>
              <a:t>■  Aloft you control it with cover-up, MAD, isolation/bonding; on the ground with grounds, EPZ, barricades, and shuffling</a:t>
            </a:r>
          </a:p>
        </p:txBody>
      </p:sp>
      <p:sp>
        <p:nvSpPr>
          <p:cNvPr id="8" name="Rounded Rectangle 7"/>
          <p:cNvSpPr/>
          <p:nvPr/>
        </p:nvSpPr>
        <p:spPr>
          <a:xfrm>
            <a:off x="7863840" y="1874519"/>
            <a:ext cx="3776472" cy="3931920"/>
          </a:xfrm>
          <a:prstGeom prst="roundRect">
            <a:avLst/>
          </a:prstGeom>
          <a:solidFill>
            <a:srgbClr val="FBEAE7"/>
          </a:solidFill>
          <a:ln w="19050">
            <a:solidFill>
              <a:srgbClr val="D435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863840" y="1874519"/>
            <a:ext cx="3776472" cy="548640"/>
          </a:xfrm>
          <a:prstGeom prst="roundRect">
            <a:avLst/>
          </a:prstGeom>
          <a:solidFill>
            <a:srgbClr val="D43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63840" y="2148839"/>
            <a:ext cx="3776472" cy="274320"/>
          </a:xfrm>
          <a:prstGeom prst="rect">
            <a:avLst/>
          </a:prstGeom>
          <a:solidFill>
            <a:srgbClr val="D43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92440" y="1920239"/>
            <a:ext cx="3319272" cy="475488"/>
          </a:xfrm>
          <a:prstGeom prst="rect">
            <a:avLst/>
          </a:prstGeom>
          <a:noFill/>
        </p:spPr>
        <p:txBody>
          <a:bodyPr wrap="square" anchor="ctr" lIns="0" rIns="0" tIns="0" bIns="0">
            <a:spAutoFit/>
          </a:bodyPr>
          <a:lstStyle/>
          <a:p>
            <a:pPr algn="l">
              <a:lnSpc>
                <a:spcPct val="105000"/>
              </a:lnSpc>
              <a:spcBef>
                <a:spcPts val="400"/>
              </a:spcBef>
              <a:spcAft>
                <a:spcPts val="400"/>
              </a:spcAft>
            </a:pPr>
            <a:r>
              <a:rPr sz="1400" b="1" i="0">
                <a:solidFill>
                  <a:srgbClr val="FFFFFF"/>
                </a:solidFill>
                <a:latin typeface="Arial"/>
              </a:rPr>
              <a:t>DANGER  ⚠</a:t>
            </a:r>
          </a:p>
        </p:txBody>
      </p:sp>
      <p:sp>
        <p:nvSpPr>
          <p:cNvPr id="12" name="TextBox 11"/>
          <p:cNvSpPr txBox="1"/>
          <p:nvPr/>
        </p:nvSpPr>
        <p:spPr>
          <a:xfrm>
            <a:off x="8138160" y="2587752"/>
            <a:ext cx="3227832" cy="3063239"/>
          </a:xfrm>
          <a:prstGeom prst="rect">
            <a:avLst/>
          </a:prstGeom>
          <a:noFill/>
        </p:spPr>
        <p:txBody>
          <a:bodyPr wrap="square" anchor="t" lIns="0" rIns="0" tIns="0" bIns="0">
            <a:spAutoFit/>
          </a:bodyPr>
          <a:lstStyle/>
          <a:p>
            <a:pPr algn="l">
              <a:lnSpc>
                <a:spcPct val="105000"/>
              </a:lnSpc>
              <a:spcBef>
                <a:spcPts val="400"/>
              </a:spcBef>
              <a:spcAft>
                <a:spcPts val="400"/>
              </a:spcAft>
            </a:pPr>
            <a:r>
              <a:rPr sz="1550" b="1" i="0">
                <a:solidFill>
                  <a:srgbClr val="D4351A"/>
                </a:solidFill>
                <a:latin typeface="Arial"/>
              </a:rPr>
              <a:t>Two zones, two playbooks</a:t>
            </a:r>
          </a:p>
          <a:p>
            <a:pPr algn="l">
              <a:lnSpc>
                <a:spcPct val="105000"/>
              </a:lnSpc>
              <a:spcBef>
                <a:spcPts val="300"/>
              </a:spcBef>
              <a:spcAft>
                <a:spcPts val="100"/>
              </a:spcAft>
            </a:pPr>
            <a:r>
              <a:rPr sz="1300" b="0" i="0">
                <a:solidFill>
                  <a:srgbClr val="1A2B3C"/>
                </a:solidFill>
                <a:latin typeface="Arial"/>
              </a:rPr>
              <a:t>–  Aloft: isolate / bond / cover-up.</a:t>
            </a:r>
          </a:p>
          <a:p>
            <a:pPr algn="l">
              <a:lnSpc>
                <a:spcPct val="105000"/>
              </a:lnSpc>
              <a:spcBef>
                <a:spcPts val="300"/>
              </a:spcBef>
              <a:spcAft>
                <a:spcPts val="100"/>
              </a:spcAft>
            </a:pPr>
            <a:r>
              <a:rPr sz="1300" b="0" i="0">
                <a:solidFill>
                  <a:srgbClr val="1A2B3C"/>
                </a:solidFill>
                <a:latin typeface="Arial"/>
              </a:rPr>
              <a:t>–  Ground: equipotential / barricade / shuffle.</a:t>
            </a:r>
          </a:p>
          <a:p>
            <a:pPr algn="l">
              <a:lnSpc>
                <a:spcPct val="105000"/>
              </a:lnSpc>
              <a:spcBef>
                <a:spcPts val="300"/>
              </a:spcBef>
              <a:spcAft>
                <a:spcPts val="100"/>
              </a:spcAft>
            </a:pPr>
            <a:r>
              <a:rPr sz="1300" b="0" i="0">
                <a:solidFill>
                  <a:srgbClr val="1A2B3C"/>
                </a:solidFill>
                <a:latin typeface="Arial"/>
              </a:rPr>
              <a:t>–  Brief BOTH before the job.</a:t>
            </a:r>
          </a:p>
        </p:txBody>
      </p:sp>
      <p:sp>
        <p:nvSpPr>
          <p:cNvPr id="13" name="Rectangle 12"/>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8 — Current Paths &amp; Grounding</a:t>
            </a:r>
          </a:p>
        </p:txBody>
      </p:sp>
      <p:sp>
        <p:nvSpPr>
          <p:cNvPr id="15" name="TextBox 14"/>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123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8.8 FLOW &amp; ZERO-VOLTAGE</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Flow Through Grounds &amp; the Zero-Voltage Idea</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783080"/>
            <a:ext cx="6949440" cy="4297680"/>
          </a:xfrm>
          <a:prstGeom prst="rect">
            <a:avLst/>
          </a:prstGeom>
          <a:noFill/>
        </p:spPr>
        <p:txBody>
          <a:bodyPr wrap="square" anchor="t" lIns="0" rIns="0" tIns="0" bIns="0">
            <a:spAutoFit/>
          </a:bodyPr>
          <a:lstStyle/>
          <a:p>
            <a:pPr algn="l">
              <a:lnSpc>
                <a:spcPct val="105000"/>
              </a:lnSpc>
              <a:spcBef>
                <a:spcPts val="700"/>
              </a:spcBef>
              <a:spcAft>
                <a:spcPts val="200"/>
              </a:spcAft>
            </a:pPr>
            <a:r>
              <a:rPr sz="1700" b="0" i="0">
                <a:solidFill>
                  <a:srgbClr val="1A2B3C"/>
                </a:solidFill>
                <a:latin typeface="Arial"/>
              </a:rPr>
              <a:t>■  Fault current follows EVERY available path back to its source, in proportion to each path's impedance</a:t>
            </a:r>
          </a:p>
          <a:p>
            <a:pPr algn="l">
              <a:lnSpc>
                <a:spcPct val="105000"/>
              </a:lnSpc>
              <a:spcBef>
                <a:spcPts val="700"/>
              </a:spcBef>
              <a:spcAft>
                <a:spcPts val="200"/>
              </a:spcAft>
            </a:pPr>
            <a:r>
              <a:rPr sz="1700" b="0" i="0">
                <a:solidFill>
                  <a:srgbClr val="1A2B3C"/>
                </a:solidFill>
                <a:latin typeface="Arial"/>
              </a:rPr>
              <a:t>■  Good grounds give it a fat, low-impedance path — so very little chooses to go through you</a:t>
            </a:r>
          </a:p>
          <a:p>
            <a:pPr algn="l">
              <a:lnSpc>
                <a:spcPct val="105000"/>
              </a:lnSpc>
              <a:spcBef>
                <a:spcPts val="700"/>
              </a:spcBef>
              <a:spcAft>
                <a:spcPts val="200"/>
              </a:spcAft>
            </a:pPr>
            <a:r>
              <a:rPr sz="1700" b="0" i="0">
                <a:solidFill>
                  <a:srgbClr val="1A2B3C"/>
                </a:solidFill>
                <a:latin typeface="Arial"/>
              </a:rPr>
              <a:t>■  Equipotential bonding makes the voltage ACROSS your body near zero, even if you are at high potential to remote earth</a:t>
            </a:r>
          </a:p>
          <a:p>
            <a:pPr algn="l" lvl="1">
              <a:lnSpc>
                <a:spcPct val="102000"/>
              </a:lnSpc>
              <a:spcBef>
                <a:spcPts val="200"/>
              </a:spcBef>
              <a:spcAft>
                <a:spcPts val="100"/>
              </a:spcAft>
            </a:pPr>
            <a:r>
              <a:rPr sz="1400" b="0" i="0">
                <a:solidFill>
                  <a:srgbClr val="334455"/>
                </a:solidFill>
                <a:latin typeface="Arial"/>
              </a:rPr>
              <a:t>–  High potential is fine; a DIFFERENCE in potential across you is what hurts</a:t>
            </a:r>
          </a:p>
          <a:p>
            <a:pPr algn="l">
              <a:lnSpc>
                <a:spcPct val="105000"/>
              </a:lnSpc>
              <a:spcBef>
                <a:spcPts val="700"/>
              </a:spcBef>
              <a:spcAft>
                <a:spcPts val="200"/>
              </a:spcAft>
            </a:pPr>
            <a:r>
              <a:rPr sz="1700" b="0" i="0">
                <a:solidFill>
                  <a:srgbClr val="1A2B3C"/>
                </a:solidFill>
                <a:latin typeface="Arial"/>
              </a:rPr>
              <a:t>■  Test dead, then ground — and remember “dead” is not “grounded” until you have bonded it at the worksite</a:t>
            </a:r>
          </a:p>
        </p:txBody>
      </p:sp>
      <p:sp>
        <p:nvSpPr>
          <p:cNvPr id="8" name="Rounded Rectangle 7"/>
          <p:cNvSpPr/>
          <p:nvPr/>
        </p:nvSpPr>
        <p:spPr>
          <a:xfrm>
            <a:off x="7863840" y="1874519"/>
            <a:ext cx="3776472" cy="3931920"/>
          </a:xfrm>
          <a:prstGeom prst="roundRect">
            <a:avLst/>
          </a:prstGeom>
          <a:solidFill>
            <a:srgbClr val="E6F3EC"/>
          </a:solidFill>
          <a:ln w="19050">
            <a:solidFill>
              <a:srgbClr val="2E8B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863840" y="1874519"/>
            <a:ext cx="3776472" cy="548640"/>
          </a:xfrm>
          <a:prstGeom prst="round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63840" y="2148839"/>
            <a:ext cx="3776472" cy="27432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92440" y="1920239"/>
            <a:ext cx="3319272" cy="475488"/>
          </a:xfrm>
          <a:prstGeom prst="rect">
            <a:avLst/>
          </a:prstGeom>
          <a:noFill/>
        </p:spPr>
        <p:txBody>
          <a:bodyPr wrap="square" anchor="ctr" lIns="0" rIns="0" tIns="0" bIns="0">
            <a:spAutoFit/>
          </a:bodyPr>
          <a:lstStyle/>
          <a:p>
            <a:pPr algn="l">
              <a:lnSpc>
                <a:spcPct val="105000"/>
              </a:lnSpc>
              <a:spcBef>
                <a:spcPts val="400"/>
              </a:spcBef>
              <a:spcAft>
                <a:spcPts val="400"/>
              </a:spcAft>
            </a:pPr>
            <a:r>
              <a:rPr sz="1400" b="1" i="0">
                <a:solidFill>
                  <a:srgbClr val="FFFFFF"/>
                </a:solidFill>
                <a:latin typeface="Arial"/>
              </a:rPr>
              <a:t>BEST PRACTICE</a:t>
            </a:r>
          </a:p>
        </p:txBody>
      </p:sp>
      <p:sp>
        <p:nvSpPr>
          <p:cNvPr id="12" name="TextBox 11"/>
          <p:cNvSpPr txBox="1"/>
          <p:nvPr/>
        </p:nvSpPr>
        <p:spPr>
          <a:xfrm>
            <a:off x="8138160" y="2587752"/>
            <a:ext cx="3227832" cy="3063239"/>
          </a:xfrm>
          <a:prstGeom prst="rect">
            <a:avLst/>
          </a:prstGeom>
          <a:noFill/>
        </p:spPr>
        <p:txBody>
          <a:bodyPr wrap="square" anchor="t" lIns="0" rIns="0" tIns="0" bIns="0">
            <a:spAutoFit/>
          </a:bodyPr>
          <a:lstStyle/>
          <a:p>
            <a:pPr algn="l">
              <a:lnSpc>
                <a:spcPct val="105000"/>
              </a:lnSpc>
              <a:spcBef>
                <a:spcPts val="400"/>
              </a:spcBef>
              <a:spcAft>
                <a:spcPts val="400"/>
              </a:spcAft>
            </a:pPr>
            <a:r>
              <a:rPr sz="1550" b="1" i="0">
                <a:solidFill>
                  <a:srgbClr val="2E8B57"/>
                </a:solidFill>
                <a:latin typeface="Arial"/>
              </a:rPr>
              <a:t>Zero across you</a:t>
            </a:r>
          </a:p>
          <a:p>
            <a:pPr algn="l">
              <a:lnSpc>
                <a:spcPct val="105000"/>
              </a:lnSpc>
              <a:spcBef>
                <a:spcPts val="300"/>
              </a:spcBef>
              <a:spcAft>
                <a:spcPts val="100"/>
              </a:spcAft>
            </a:pPr>
            <a:r>
              <a:rPr sz="1300" b="0" i="0">
                <a:solidFill>
                  <a:srgbClr val="1A2B3C"/>
                </a:solidFill>
                <a:latin typeface="Arial"/>
              </a:rPr>
              <a:t>–  Current splits by impedance — make your body the worst path.</a:t>
            </a:r>
          </a:p>
          <a:p>
            <a:pPr algn="l">
              <a:lnSpc>
                <a:spcPct val="105000"/>
              </a:lnSpc>
              <a:spcBef>
                <a:spcPts val="300"/>
              </a:spcBef>
              <a:spcAft>
                <a:spcPts val="100"/>
              </a:spcAft>
            </a:pPr>
            <a:r>
              <a:rPr sz="1300" b="0" i="0">
                <a:solidFill>
                  <a:srgbClr val="1A2B3C"/>
                </a:solidFill>
                <a:latin typeface="Arial"/>
              </a:rPr>
              <a:t>–  Bond to kill the difference, not the potential.</a:t>
            </a:r>
          </a:p>
          <a:p>
            <a:pPr algn="l">
              <a:lnSpc>
                <a:spcPct val="105000"/>
              </a:lnSpc>
              <a:spcBef>
                <a:spcPts val="300"/>
              </a:spcBef>
              <a:spcAft>
                <a:spcPts val="100"/>
              </a:spcAft>
            </a:pPr>
            <a:r>
              <a:rPr sz="1300" b="0" i="0">
                <a:solidFill>
                  <a:srgbClr val="1A2B3C"/>
                </a:solidFill>
                <a:latin typeface="Arial"/>
              </a:rPr>
              <a:t>–  The grounds do the carrying; you stay at one level.</a:t>
            </a:r>
          </a:p>
        </p:txBody>
      </p:sp>
      <p:sp>
        <p:nvSpPr>
          <p:cNvPr id="13" name="Rectangle 12"/>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8 — Current Paths &amp; Grounding</a:t>
            </a:r>
          </a:p>
        </p:txBody>
      </p:sp>
      <p:sp>
        <p:nvSpPr>
          <p:cNvPr id="15" name="TextBox 14"/>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124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8.9 THE DECISION</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Choosing &amp; Controlling the Current Path</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27632"/>
            <a:ext cx="10881360" cy="548640"/>
          </a:xfrm>
          <a:prstGeom prst="rect">
            <a:avLst/>
          </a:prstGeom>
          <a:noFill/>
        </p:spPr>
        <p:txBody>
          <a:bodyPr wrap="square" anchor="t" lIns="0" rIns="0" tIns="0" bIns="0">
            <a:spAutoFit/>
          </a:bodyPr>
          <a:lstStyle/>
          <a:p>
            <a:pPr algn="l">
              <a:lnSpc>
                <a:spcPct val="105000"/>
              </a:lnSpc>
              <a:spcBef>
                <a:spcPts val="400"/>
              </a:spcBef>
              <a:spcAft>
                <a:spcPts val="400"/>
              </a:spcAft>
            </a:pPr>
            <a:r>
              <a:rPr sz="1550" b="0" i="1">
                <a:solidFill>
                  <a:srgbClr val="5B6B7B"/>
                </a:solidFill>
                <a:latin typeface="Arial"/>
              </a:rPr>
              <a:t>Before the boom goes up, decide where the current would go — and prove it can't go through a person.</a:t>
            </a:r>
          </a:p>
        </p:txBody>
      </p:sp>
      <p:sp>
        <p:nvSpPr>
          <p:cNvPr id="8" name="TextBox 7"/>
          <p:cNvSpPr txBox="1"/>
          <p:nvPr/>
        </p:nvSpPr>
        <p:spPr>
          <a:xfrm>
            <a:off x="658368" y="2240280"/>
            <a:ext cx="10927080" cy="3703320"/>
          </a:xfrm>
          <a:prstGeom prst="rect">
            <a:avLst/>
          </a:prstGeom>
          <a:noFill/>
        </p:spPr>
        <p:txBody>
          <a:bodyPr wrap="square" anchor="t" lIns="0" rIns="0" tIns="0" bIns="0">
            <a:spAutoFit/>
          </a:bodyPr>
          <a:lstStyle/>
          <a:p>
            <a:pPr algn="l">
              <a:lnSpc>
                <a:spcPct val="105000"/>
              </a:lnSpc>
              <a:spcBef>
                <a:spcPts val="700"/>
              </a:spcBef>
              <a:spcAft>
                <a:spcPts val="200"/>
              </a:spcAft>
            </a:pPr>
            <a:r>
              <a:rPr sz="1800" b="0" i="0">
                <a:solidFill>
                  <a:srgbClr val="1A2B3C"/>
                </a:solidFill>
                <a:latin typeface="Arial"/>
              </a:rPr>
              <a:t>■  Identify the source(s) and every path the current could take to get back</a:t>
            </a:r>
          </a:p>
          <a:p>
            <a:pPr algn="l">
              <a:lnSpc>
                <a:spcPct val="105000"/>
              </a:lnSpc>
              <a:spcBef>
                <a:spcPts val="700"/>
              </a:spcBef>
              <a:spcAft>
                <a:spcPts val="200"/>
              </a:spcAft>
            </a:pPr>
            <a:r>
              <a:rPr sz="1800" b="0" i="0">
                <a:solidFill>
                  <a:srgbClr val="1A2B3C"/>
                </a:solidFill>
                <a:latin typeface="Arial"/>
              </a:rPr>
              <a:t>■  Pick the method on purpose — grounded, isolated, or bonded — per your procedure</a:t>
            </a:r>
          </a:p>
          <a:p>
            <a:pPr algn="l">
              <a:lnSpc>
                <a:spcPct val="105000"/>
              </a:lnSpc>
              <a:spcBef>
                <a:spcPts val="700"/>
              </a:spcBef>
              <a:spcAft>
                <a:spcPts val="200"/>
              </a:spcAft>
            </a:pPr>
            <a:r>
              <a:rPr sz="1800" b="0" i="0">
                <a:solidFill>
                  <a:srgbClr val="1A2B3C"/>
                </a:solidFill>
                <a:latin typeface="Arial"/>
              </a:rPr>
              <a:t>■  Control the ground area: bond/EPZ, barricade, and keep the public and ground crew clear</a:t>
            </a:r>
          </a:p>
          <a:p>
            <a:pPr algn="l">
              <a:lnSpc>
                <a:spcPct val="105000"/>
              </a:lnSpc>
              <a:spcBef>
                <a:spcPts val="700"/>
              </a:spcBef>
              <a:spcAft>
                <a:spcPts val="200"/>
              </a:spcAft>
            </a:pPr>
            <a:r>
              <a:rPr sz="1800" b="0" i="0">
                <a:solidFill>
                  <a:srgbClr val="1A2B3C"/>
                </a:solidFill>
                <a:latin typeface="Arial"/>
              </a:rPr>
              <a:t>■  Cover up aloft, hold MAD, and never create a second point at a different potential</a:t>
            </a:r>
          </a:p>
          <a:p>
            <a:pPr algn="l">
              <a:lnSpc>
                <a:spcPct val="105000"/>
              </a:lnSpc>
              <a:spcBef>
                <a:spcPts val="700"/>
              </a:spcBef>
              <a:spcAft>
                <a:spcPts val="200"/>
              </a:spcAft>
            </a:pPr>
            <a:r>
              <a:rPr sz="1800" b="0" i="0">
                <a:solidFill>
                  <a:srgbClr val="1A2B3C"/>
                </a:solidFill>
                <a:latin typeface="Arial"/>
              </a:rPr>
              <a:t>■  Treat every conductor and the truck as energized until tested, grounded, or bonded</a:t>
            </a:r>
          </a:p>
        </p:txBody>
      </p:sp>
      <p:sp>
        <p:nvSpPr>
          <p:cNvPr id="9" name="Rectangle 8"/>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8 — Current Paths &amp; Grounding</a:t>
            </a:r>
          </a:p>
        </p:txBody>
      </p:sp>
      <p:sp>
        <p:nvSpPr>
          <p:cNvPr id="11" name="TextBox 10"/>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125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ILLUSTRATED</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A Circuit Needs a Complete Loop</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ig_circuit.png"/>
          <p:cNvPicPr>
            <a:picLocks noChangeAspect="1"/>
          </p:cNvPicPr>
          <p:nvPr/>
        </p:nvPicPr>
        <p:blipFill>
          <a:blip r:embed="rId2"/>
          <a:stretch>
            <a:fillRect/>
          </a:stretch>
        </p:blipFill>
        <p:spPr>
          <a:xfrm>
            <a:off x="3573305" y="1783080"/>
            <a:ext cx="5042341" cy="3703320"/>
          </a:xfrm>
          <a:prstGeom prst="rect">
            <a:avLst/>
          </a:prstGeom>
        </p:spPr>
      </p:pic>
      <p:sp>
        <p:nvSpPr>
          <p:cNvPr id="8" name="TextBox 7"/>
          <p:cNvSpPr txBox="1"/>
          <p:nvPr/>
        </p:nvSpPr>
        <p:spPr>
          <a:xfrm>
            <a:off x="822960" y="5650992"/>
            <a:ext cx="10515600" cy="640080"/>
          </a:xfrm>
          <a:prstGeom prst="rect">
            <a:avLst/>
          </a:prstGeom>
          <a:noFill/>
        </p:spPr>
        <p:txBody>
          <a:bodyPr wrap="square" anchor="t" lIns="0" rIns="0" tIns="0" bIns="0">
            <a:spAutoFit/>
          </a:bodyPr>
          <a:lstStyle/>
          <a:p>
            <a:pPr algn="ctr">
              <a:lnSpc>
                <a:spcPct val="118000"/>
              </a:lnSpc>
              <a:spcBef>
                <a:spcPts val="400"/>
              </a:spcBef>
              <a:spcAft>
                <a:spcPts val="400"/>
              </a:spcAft>
            </a:pPr>
            <a:r>
              <a:rPr sz="1300" b="0" i="1">
                <a:solidFill>
                  <a:srgbClr val="5B6B7B"/>
                </a:solidFill>
                <a:latin typeface="Arial"/>
              </a:rPr>
              <a:t>Source, a complete path, and a difference in potential — all three, or nothing flows. You become the load when you bridge two potentials.</a:t>
            </a:r>
          </a:p>
        </p:txBody>
      </p:sp>
      <p:sp>
        <p:nvSpPr>
          <p:cNvPr id="9" name="Rectangle 8"/>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8 — Current Paths &amp; Grounding</a:t>
            </a:r>
          </a:p>
        </p:txBody>
      </p:sp>
      <p:sp>
        <p:nvSpPr>
          <p:cNvPr id="11" name="TextBox 10"/>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126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ILLUSTRATED</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The Grounded Truck — Fault Path &amp; Step/Touch</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ig_truckground.png"/>
          <p:cNvPicPr>
            <a:picLocks noChangeAspect="1"/>
          </p:cNvPicPr>
          <p:nvPr/>
        </p:nvPicPr>
        <p:blipFill>
          <a:blip r:embed="rId2"/>
          <a:stretch>
            <a:fillRect/>
          </a:stretch>
        </p:blipFill>
        <p:spPr>
          <a:xfrm>
            <a:off x="1013701" y="1783080"/>
            <a:ext cx="10161548" cy="3703320"/>
          </a:xfrm>
          <a:prstGeom prst="rect">
            <a:avLst/>
          </a:prstGeom>
        </p:spPr>
      </p:pic>
      <p:sp>
        <p:nvSpPr>
          <p:cNvPr id="8" name="TextBox 7"/>
          <p:cNvSpPr txBox="1"/>
          <p:nvPr/>
        </p:nvSpPr>
        <p:spPr>
          <a:xfrm>
            <a:off x="822960" y="5650992"/>
            <a:ext cx="10515600" cy="640080"/>
          </a:xfrm>
          <a:prstGeom prst="rect">
            <a:avLst/>
          </a:prstGeom>
          <a:noFill/>
        </p:spPr>
        <p:txBody>
          <a:bodyPr wrap="square" anchor="t" lIns="0" rIns="0" tIns="0" bIns="0">
            <a:spAutoFit/>
          </a:bodyPr>
          <a:lstStyle/>
          <a:p>
            <a:pPr algn="ctr">
              <a:lnSpc>
                <a:spcPct val="118000"/>
              </a:lnSpc>
              <a:spcBef>
                <a:spcPts val="400"/>
              </a:spcBef>
              <a:spcAft>
                <a:spcPts val="400"/>
              </a:spcAft>
            </a:pPr>
            <a:r>
              <a:rPr sz="1300" b="0" i="1">
                <a:solidFill>
                  <a:srgbClr val="5B6B7B"/>
                </a:solidFill>
                <a:latin typeface="Arial"/>
              </a:rPr>
              <a:t>Grounding trips protection fast — but the current entering the earth raises the ground potential, putting the crew and public near the truck in the circuit.</a:t>
            </a:r>
          </a:p>
        </p:txBody>
      </p:sp>
      <p:sp>
        <p:nvSpPr>
          <p:cNvPr id="9" name="Rectangle 8"/>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8 — Current Paths &amp; Grounding</a:t>
            </a:r>
          </a:p>
        </p:txBody>
      </p:sp>
      <p:sp>
        <p:nvSpPr>
          <p:cNvPr id="11" name="TextBox 10"/>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127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ILLUSTRATED</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The Isolated Truck — No Path, No Trip</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ig_truckisolated.png"/>
          <p:cNvPicPr>
            <a:picLocks noChangeAspect="1"/>
          </p:cNvPicPr>
          <p:nvPr/>
        </p:nvPicPr>
        <p:blipFill>
          <a:blip r:embed="rId2"/>
          <a:stretch>
            <a:fillRect/>
          </a:stretch>
        </p:blipFill>
        <p:spPr>
          <a:xfrm>
            <a:off x="1013701" y="1783080"/>
            <a:ext cx="10161548" cy="3703320"/>
          </a:xfrm>
          <a:prstGeom prst="rect">
            <a:avLst/>
          </a:prstGeom>
        </p:spPr>
      </p:pic>
      <p:sp>
        <p:nvSpPr>
          <p:cNvPr id="8" name="TextBox 7"/>
          <p:cNvSpPr txBox="1"/>
          <p:nvPr/>
        </p:nvSpPr>
        <p:spPr>
          <a:xfrm>
            <a:off x="822960" y="5650992"/>
            <a:ext cx="10515600" cy="640080"/>
          </a:xfrm>
          <a:prstGeom prst="rect">
            <a:avLst/>
          </a:prstGeom>
          <a:noFill/>
        </p:spPr>
        <p:txBody>
          <a:bodyPr wrap="square" anchor="t" lIns="0" rIns="0" tIns="0" bIns="0">
            <a:spAutoFit/>
          </a:bodyPr>
          <a:lstStyle/>
          <a:p>
            <a:pPr algn="ctr">
              <a:lnSpc>
                <a:spcPct val="118000"/>
              </a:lnSpc>
              <a:spcBef>
                <a:spcPts val="400"/>
              </a:spcBef>
              <a:spcAft>
                <a:spcPts val="400"/>
              </a:spcAft>
            </a:pPr>
            <a:r>
              <a:rPr sz="1300" b="0" i="1">
                <a:solidFill>
                  <a:srgbClr val="5B6B7B"/>
                </a:solidFill>
                <a:latin typeface="Arial"/>
              </a:rPr>
              <a:t>No ground path means the breaker never trips and the whole truck sits at line potential. The boom protects the worker; bridging the truck to ground completes the circuit.</a:t>
            </a:r>
          </a:p>
        </p:txBody>
      </p:sp>
      <p:sp>
        <p:nvSpPr>
          <p:cNvPr id="9" name="Rectangle 8"/>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8 — Current Paths &amp; Grounding</a:t>
            </a:r>
          </a:p>
        </p:txBody>
      </p:sp>
      <p:sp>
        <p:nvSpPr>
          <p:cNvPr id="11" name="TextBox 10"/>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128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ILLUSTRATED</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Bonded — Working at Line Potential</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ig_bonded.png"/>
          <p:cNvPicPr>
            <a:picLocks noChangeAspect="1"/>
          </p:cNvPicPr>
          <p:nvPr/>
        </p:nvPicPr>
        <p:blipFill>
          <a:blip r:embed="rId2"/>
          <a:stretch>
            <a:fillRect/>
          </a:stretch>
        </p:blipFill>
        <p:spPr>
          <a:xfrm>
            <a:off x="3573305" y="1783080"/>
            <a:ext cx="5042341" cy="3703320"/>
          </a:xfrm>
          <a:prstGeom prst="rect">
            <a:avLst/>
          </a:prstGeom>
        </p:spPr>
      </p:pic>
      <p:sp>
        <p:nvSpPr>
          <p:cNvPr id="8" name="TextBox 7"/>
          <p:cNvSpPr txBox="1"/>
          <p:nvPr/>
        </p:nvSpPr>
        <p:spPr>
          <a:xfrm>
            <a:off x="822960" y="5650992"/>
            <a:ext cx="10515600" cy="640080"/>
          </a:xfrm>
          <a:prstGeom prst="rect">
            <a:avLst/>
          </a:prstGeom>
          <a:noFill/>
        </p:spPr>
        <p:txBody>
          <a:bodyPr wrap="square" anchor="t" lIns="0" rIns="0" tIns="0" bIns="0">
            <a:spAutoFit/>
          </a:bodyPr>
          <a:lstStyle/>
          <a:p>
            <a:pPr algn="ctr">
              <a:lnSpc>
                <a:spcPct val="118000"/>
              </a:lnSpc>
              <a:spcBef>
                <a:spcPts val="400"/>
              </a:spcBef>
              <a:spcAft>
                <a:spcPts val="400"/>
              </a:spcAft>
            </a:pPr>
            <a:r>
              <a:rPr sz="1300" b="0" i="1">
                <a:solidFill>
                  <a:srgbClr val="5B6B7B"/>
                </a:solidFill>
                <a:latin typeface="Arial"/>
              </a:rPr>
              <a:t>Bond the bucket to the conductor and ride at one potential, like the bird on a wire — fatal the instant a second potential is touched.</a:t>
            </a:r>
          </a:p>
        </p:txBody>
      </p:sp>
      <p:sp>
        <p:nvSpPr>
          <p:cNvPr id="9" name="Rectangle 8"/>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8 — Current Paths &amp; Grounding</a:t>
            </a:r>
          </a:p>
        </p:txBody>
      </p:sp>
      <p:sp>
        <p:nvSpPr>
          <p:cNvPr id="11" name="TextBox 10"/>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129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ILLUSTRATED</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Air vs Ground — Two Zones, Two Playbooks</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ig_airground.png"/>
          <p:cNvPicPr>
            <a:picLocks noChangeAspect="1"/>
          </p:cNvPicPr>
          <p:nvPr/>
        </p:nvPicPr>
        <p:blipFill>
          <a:blip r:embed="rId2"/>
          <a:stretch>
            <a:fillRect/>
          </a:stretch>
        </p:blipFill>
        <p:spPr>
          <a:xfrm>
            <a:off x="1013701" y="1783080"/>
            <a:ext cx="10161548" cy="3703320"/>
          </a:xfrm>
          <a:prstGeom prst="rect">
            <a:avLst/>
          </a:prstGeom>
        </p:spPr>
      </p:pic>
      <p:sp>
        <p:nvSpPr>
          <p:cNvPr id="8" name="TextBox 7"/>
          <p:cNvSpPr txBox="1"/>
          <p:nvPr/>
        </p:nvSpPr>
        <p:spPr>
          <a:xfrm>
            <a:off x="822960" y="5650992"/>
            <a:ext cx="10515600" cy="640080"/>
          </a:xfrm>
          <a:prstGeom prst="rect">
            <a:avLst/>
          </a:prstGeom>
          <a:noFill/>
        </p:spPr>
        <p:txBody>
          <a:bodyPr wrap="square" anchor="t" lIns="0" rIns="0" tIns="0" bIns="0">
            <a:spAutoFit/>
          </a:bodyPr>
          <a:lstStyle/>
          <a:p>
            <a:pPr algn="ctr">
              <a:lnSpc>
                <a:spcPct val="118000"/>
              </a:lnSpc>
              <a:spcBef>
                <a:spcPts val="400"/>
              </a:spcBef>
              <a:spcAft>
                <a:spcPts val="400"/>
              </a:spcAft>
            </a:pPr>
            <a:r>
              <a:rPr sz="1300" b="0" i="1">
                <a:solidFill>
                  <a:srgbClr val="5B6B7B"/>
                </a:solidFill>
                <a:latin typeface="Arial"/>
              </a:rPr>
              <a:t>The same fault is a different problem depending on where you stand. Brief both the aloft hazards and the ground hazards before the job.</a:t>
            </a:r>
          </a:p>
        </p:txBody>
      </p:sp>
      <p:sp>
        <p:nvSpPr>
          <p:cNvPr id="9" name="Rectangle 8"/>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8 — Current Paths &amp; Grounding</a:t>
            </a:r>
          </a:p>
        </p:txBody>
      </p:sp>
      <p:sp>
        <p:nvSpPr>
          <p:cNvPr id="11" name="TextBox 10"/>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130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MODULE 8 RECAP</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Module 8 — Key Takeaways</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783080"/>
            <a:ext cx="10927080" cy="4160520"/>
          </a:xfrm>
          <a:prstGeom prst="rect">
            <a:avLst/>
          </a:prstGeom>
          <a:noFill/>
        </p:spPr>
        <p:txBody>
          <a:bodyPr wrap="square" anchor="t" lIns="0" rIns="0" tIns="0" bIns="0">
            <a:spAutoFit/>
          </a:bodyPr>
          <a:lstStyle/>
          <a:p>
            <a:pPr algn="l">
              <a:lnSpc>
                <a:spcPct val="105000"/>
              </a:lnSpc>
              <a:spcBef>
                <a:spcPts val="700"/>
              </a:spcBef>
              <a:spcAft>
                <a:spcPts val="200"/>
              </a:spcAft>
            </a:pPr>
            <a:r>
              <a:rPr sz="1800" b="0" i="0">
                <a:solidFill>
                  <a:srgbClr val="1A2B3C"/>
                </a:solidFill>
                <a:latin typeface="Arial"/>
              </a:rPr>
              <a:t>■  Injury = your body completing a circuit; safety = no loop, or one potential across you</a:t>
            </a:r>
          </a:p>
          <a:p>
            <a:pPr algn="l">
              <a:lnSpc>
                <a:spcPct val="105000"/>
              </a:lnSpc>
              <a:spcBef>
                <a:spcPts val="700"/>
              </a:spcBef>
              <a:spcAft>
                <a:spcPts val="200"/>
              </a:spcAft>
            </a:pPr>
            <a:r>
              <a:rPr sz="1800" b="0" i="0">
                <a:solidFill>
                  <a:srgbClr val="1A2B3C"/>
                </a:solidFill>
                <a:latin typeface="Arial"/>
              </a:rPr>
              <a:t>■  We ground for two reasons: a fault path to trip protection AND an equipotential zone</a:t>
            </a:r>
          </a:p>
          <a:p>
            <a:pPr algn="l">
              <a:lnSpc>
                <a:spcPct val="105000"/>
              </a:lnSpc>
              <a:spcBef>
                <a:spcPts val="700"/>
              </a:spcBef>
              <a:spcAft>
                <a:spcPts val="200"/>
              </a:spcAft>
            </a:pPr>
            <a:r>
              <a:rPr sz="1800" b="0" i="0">
                <a:solidFill>
                  <a:srgbClr val="1A2B3C"/>
                </a:solidFill>
                <a:latin typeface="Arial"/>
              </a:rPr>
              <a:t>■  Grounded truck → trips fast but energizes the ground (step &amp; touch); barricade it</a:t>
            </a:r>
          </a:p>
          <a:p>
            <a:pPr algn="l">
              <a:lnSpc>
                <a:spcPct val="105000"/>
              </a:lnSpc>
              <a:spcBef>
                <a:spcPts val="700"/>
              </a:spcBef>
              <a:spcAft>
                <a:spcPts val="200"/>
              </a:spcAft>
            </a:pPr>
            <a:r>
              <a:rPr sz="1800" b="0" i="0">
                <a:solidFill>
                  <a:srgbClr val="1A2B3C"/>
                </a:solidFill>
                <a:latin typeface="Arial"/>
              </a:rPr>
              <a:t>■  Isolated truck → the boom protects the worker, but the truck is live and won't trip; never bridge it to ground</a:t>
            </a:r>
          </a:p>
          <a:p>
            <a:pPr algn="l">
              <a:lnSpc>
                <a:spcPct val="105000"/>
              </a:lnSpc>
              <a:spcBef>
                <a:spcPts val="700"/>
              </a:spcBef>
              <a:spcAft>
                <a:spcPts val="200"/>
              </a:spcAft>
            </a:pPr>
            <a:r>
              <a:rPr sz="1800" b="0" i="0">
                <a:solidFill>
                  <a:srgbClr val="1A2B3C"/>
                </a:solidFill>
                <a:latin typeface="Arial"/>
              </a:rPr>
              <a:t>■  Bonded / at potential → safe at one potential only; no second point, ever</a:t>
            </a:r>
          </a:p>
          <a:p>
            <a:pPr algn="l">
              <a:lnSpc>
                <a:spcPct val="105000"/>
              </a:lnSpc>
              <a:spcBef>
                <a:spcPts val="700"/>
              </a:spcBef>
              <a:spcAft>
                <a:spcPts val="200"/>
              </a:spcAft>
            </a:pPr>
            <a:r>
              <a:rPr sz="1800" b="0" i="0">
                <a:solidFill>
                  <a:srgbClr val="1A2B3C"/>
                </a:solidFill>
                <a:latin typeface="Arial"/>
              </a:rPr>
              <a:t>■  High potential doesn't hurt — a difference across you does; current splits by impedance</a:t>
            </a:r>
          </a:p>
        </p:txBody>
      </p:sp>
      <p:sp>
        <p:nvSpPr>
          <p:cNvPr id="8" name="Rectangle 7"/>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Module 8 — Current Paths &amp; Grounding</a:t>
            </a:r>
          </a:p>
        </p:txBody>
      </p:sp>
      <p:sp>
        <p:nvSpPr>
          <p:cNvPr id="10" name="TextBox 9"/>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131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a:gsLst>
              <a:gs pos="0">
                <a:srgbClr val="0B2545"/>
              </a:gs>
              <a:gs pos="100000">
                <a:srgbClr val="071830"/>
              </a:gs>
            </a:gsLst>
            <a:lin ang="27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371600"/>
            <a:ext cx="3840480" cy="2926080"/>
          </a:xfrm>
          <a:prstGeom prst="rect">
            <a:avLst/>
          </a:prstGeom>
          <a:noFill/>
        </p:spPr>
        <p:txBody>
          <a:bodyPr wrap="square" anchor="ctr" lIns="0" rIns="0" tIns="0" bIns="0">
            <a:spAutoFit/>
          </a:bodyPr>
          <a:lstStyle/>
          <a:p>
            <a:pPr algn="l">
              <a:lnSpc>
                <a:spcPct val="105000"/>
              </a:lnSpc>
              <a:spcBef>
                <a:spcPts val="400"/>
              </a:spcBef>
              <a:spcAft>
                <a:spcPts val="0"/>
              </a:spcAft>
            </a:pPr>
            <a:r>
              <a:rPr sz="1800" b="1" i="0">
                <a:solidFill>
                  <a:srgbClr val="F5B100"/>
                </a:solidFill>
                <a:latin typeface="Arial"/>
              </a:rPr>
              <a:t>MODULE</a:t>
            </a:r>
          </a:p>
          <a:p>
            <a:pPr algn="l">
              <a:lnSpc>
                <a:spcPct val="90000"/>
              </a:lnSpc>
              <a:spcBef>
                <a:spcPts val="0"/>
              </a:spcBef>
              <a:spcAft>
                <a:spcPts val="400"/>
              </a:spcAft>
            </a:pPr>
            <a:r>
              <a:rPr sz="15000" b="1" i="0">
                <a:solidFill>
                  <a:srgbClr val="FFFFFF"/>
                </a:solidFill>
                <a:latin typeface="Arial"/>
              </a:rPr>
              <a:t>✓</a:t>
            </a:r>
          </a:p>
        </p:txBody>
      </p:sp>
      <p:sp>
        <p:nvSpPr>
          <p:cNvPr id="5" name="Rectangle 4"/>
          <p:cNvSpPr/>
          <p:nvPr/>
        </p:nvSpPr>
        <p:spPr>
          <a:xfrm>
            <a:off x="4800600" y="1554480"/>
            <a:ext cx="36576" cy="3657600"/>
          </a:xfrm>
          <a:prstGeom prst="rect">
            <a:avLst/>
          </a:prstGeom>
          <a:solidFill>
            <a:srgbClr val="2A47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12080" y="1691640"/>
            <a:ext cx="6400800" cy="1463040"/>
          </a:xfrm>
          <a:prstGeom prst="rect">
            <a:avLst/>
          </a:prstGeom>
          <a:noFill/>
        </p:spPr>
        <p:txBody>
          <a:bodyPr wrap="square" anchor="t" lIns="0" rIns="0" tIns="0" bIns="0">
            <a:spAutoFit/>
          </a:bodyPr>
          <a:lstStyle/>
          <a:p>
            <a:pPr algn="l">
              <a:lnSpc>
                <a:spcPct val="100000"/>
              </a:lnSpc>
              <a:spcBef>
                <a:spcPts val="400"/>
              </a:spcBef>
              <a:spcAft>
                <a:spcPts val="400"/>
              </a:spcAft>
            </a:pPr>
            <a:r>
              <a:rPr sz="3400" b="1" i="0">
                <a:solidFill>
                  <a:srgbClr val="FFFFFF"/>
                </a:solidFill>
                <a:latin typeface="Arial"/>
              </a:rPr>
              <a:t>Bringing It All Together</a:t>
            </a:r>
          </a:p>
        </p:txBody>
      </p:sp>
      <p:sp>
        <p:nvSpPr>
          <p:cNvPr id="7" name="Rectangle 6"/>
          <p:cNvSpPr/>
          <p:nvPr/>
        </p:nvSpPr>
        <p:spPr>
          <a:xfrm>
            <a:off x="5230368" y="3063240"/>
            <a:ext cx="1371600" cy="4572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212080" y="3337560"/>
            <a:ext cx="6400800" cy="2926080"/>
          </a:xfrm>
          <a:prstGeom prst="rect">
            <a:avLst/>
          </a:prstGeom>
          <a:noFill/>
        </p:spPr>
        <p:txBody>
          <a:bodyPr wrap="square" anchor="t" lIns="0" rIns="0" tIns="0" bIns="0">
            <a:spAutoFit/>
          </a:bodyPr>
          <a:lstStyle/>
          <a:p>
            <a:pPr algn="l">
              <a:lnSpc>
                <a:spcPct val="105000"/>
              </a:lnSpc>
              <a:spcBef>
                <a:spcPts val="600"/>
              </a:spcBef>
              <a:spcAft>
                <a:spcPts val="600"/>
              </a:spcAft>
            </a:pPr>
            <a:r>
              <a:rPr sz="1600" b="0" i="0">
                <a:solidFill>
                  <a:srgbClr val="CFDCEC"/>
                </a:solidFill>
                <a:latin typeface="Arial"/>
              </a:rPr>
              <a:t>—  The mental model from theory to the field</a:t>
            </a:r>
          </a:p>
          <a:p>
            <a:pPr algn="l">
              <a:lnSpc>
                <a:spcPct val="105000"/>
              </a:lnSpc>
              <a:spcBef>
                <a:spcPts val="600"/>
              </a:spcBef>
              <a:spcAft>
                <a:spcPts val="600"/>
              </a:spcAft>
            </a:pPr>
            <a:r>
              <a:rPr sz="1600" b="0" i="0">
                <a:solidFill>
                  <a:srgbClr val="CFDCEC"/>
                </a:solidFill>
                <a:latin typeface="Arial"/>
              </a:rPr>
              <a:t>—  Daily safe-work disciplines</a:t>
            </a:r>
          </a:p>
          <a:p>
            <a:pPr algn="l">
              <a:lnSpc>
                <a:spcPct val="105000"/>
              </a:lnSpc>
              <a:spcBef>
                <a:spcPts val="600"/>
              </a:spcBef>
              <a:spcAft>
                <a:spcPts val="600"/>
              </a:spcAft>
            </a:pPr>
            <a:r>
              <a:rPr sz="1600" b="0" i="0">
                <a:solidFill>
                  <a:srgbClr val="CFDCEC"/>
                </a:solidFill>
                <a:latin typeface="Arial"/>
              </a:rPr>
              <a:t>—  Final reminders</a:t>
            </a:r>
          </a:p>
          <a:p>
            <a:pPr algn="l">
              <a:lnSpc>
                <a:spcPct val="105000"/>
              </a:lnSpc>
              <a:spcBef>
                <a:spcPts val="600"/>
              </a:spcBef>
              <a:spcAft>
                <a:spcPts val="600"/>
              </a:spcAft>
            </a:pPr>
            <a:r>
              <a:rPr sz="1600" b="0" i="0">
                <a:solidFill>
                  <a:srgbClr val="CFDCEC"/>
                </a:solidFill>
                <a:latin typeface="Arial"/>
              </a:rPr>
              <a:t>—  Resources &amp; references</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SYNTHESIS</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From Theory to the Field — The Mental Model</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40080" y="1783080"/>
            <a:ext cx="583692" cy="583692"/>
          </a:xfrm>
          <a:prstGeom prst="ellipse">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783080"/>
            <a:ext cx="583692" cy="583692"/>
          </a:xfrm>
          <a:prstGeom prst="rect">
            <a:avLst/>
          </a:prstGeom>
          <a:noFill/>
        </p:spPr>
        <p:txBody>
          <a:bodyPr wrap="square" anchor="ctr" lIns="0" rIns="0" tIns="0" bIns="0">
            <a:spAutoFit/>
          </a:bodyPr>
          <a:lstStyle/>
          <a:p>
            <a:pPr algn="ctr">
              <a:lnSpc>
                <a:spcPct val="105000"/>
              </a:lnSpc>
              <a:spcBef>
                <a:spcPts val="400"/>
              </a:spcBef>
              <a:spcAft>
                <a:spcPts val="400"/>
              </a:spcAft>
            </a:pPr>
            <a:r>
              <a:rPr sz="2000" b="1" i="0">
                <a:solidFill>
                  <a:srgbClr val="0B2545"/>
                </a:solidFill>
                <a:latin typeface="Arial"/>
              </a:rPr>
              <a:t>1</a:t>
            </a:r>
          </a:p>
        </p:txBody>
      </p:sp>
      <p:sp>
        <p:nvSpPr>
          <p:cNvPr id="9" name="TextBox 8"/>
          <p:cNvSpPr txBox="1"/>
          <p:nvPr/>
        </p:nvSpPr>
        <p:spPr>
          <a:xfrm>
            <a:off x="1379220" y="1764792"/>
            <a:ext cx="10058400" cy="693420"/>
          </a:xfrm>
          <a:prstGeom prst="rect">
            <a:avLst/>
          </a:prstGeom>
          <a:noFill/>
        </p:spPr>
        <p:txBody>
          <a:bodyPr wrap="square" anchor="ctr" lIns="0" rIns="0" tIns="0" bIns="0">
            <a:spAutoFit/>
          </a:bodyPr>
          <a:lstStyle/>
          <a:p>
            <a:pPr algn="l">
              <a:lnSpc>
                <a:spcPct val="100000"/>
              </a:lnSpc>
              <a:spcBef>
                <a:spcPts val="400"/>
              </a:spcBef>
              <a:spcAft>
                <a:spcPts val="100"/>
              </a:spcAft>
            </a:pPr>
            <a:r>
              <a:rPr sz="1550" b="1" i="0">
                <a:solidFill>
                  <a:srgbClr val="0B2545"/>
                </a:solidFill>
                <a:latin typeface="Arial"/>
              </a:rPr>
              <a:t>Understand the energy</a:t>
            </a:r>
          </a:p>
          <a:p>
            <a:pPr algn="l">
              <a:lnSpc>
                <a:spcPct val="100000"/>
              </a:lnSpc>
              <a:spcBef>
                <a:spcPts val="0"/>
              </a:spcBef>
              <a:spcAft>
                <a:spcPts val="400"/>
              </a:spcAft>
            </a:pPr>
            <a:r>
              <a:rPr sz="1250" b="0" i="0">
                <a:solidFill>
                  <a:srgbClr val="5B6B7B"/>
                </a:solidFill>
                <a:latin typeface="Arial"/>
              </a:rPr>
              <a:t>Voltage pushes current; current through you kills. Know your voltage class and fault energy.</a:t>
            </a:r>
          </a:p>
        </p:txBody>
      </p:sp>
      <p:sp>
        <p:nvSpPr>
          <p:cNvPr id="10" name="Oval 9"/>
          <p:cNvSpPr/>
          <p:nvPr/>
        </p:nvSpPr>
        <p:spPr>
          <a:xfrm>
            <a:off x="640080" y="2531364"/>
            <a:ext cx="583692" cy="583692"/>
          </a:xfrm>
          <a:prstGeom prst="ellipse">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531364"/>
            <a:ext cx="583692" cy="583692"/>
          </a:xfrm>
          <a:prstGeom prst="rect">
            <a:avLst/>
          </a:prstGeom>
          <a:noFill/>
        </p:spPr>
        <p:txBody>
          <a:bodyPr wrap="square" anchor="ctr" lIns="0" rIns="0" tIns="0" bIns="0">
            <a:spAutoFit/>
          </a:bodyPr>
          <a:lstStyle/>
          <a:p>
            <a:pPr algn="ctr">
              <a:lnSpc>
                <a:spcPct val="105000"/>
              </a:lnSpc>
              <a:spcBef>
                <a:spcPts val="400"/>
              </a:spcBef>
              <a:spcAft>
                <a:spcPts val="400"/>
              </a:spcAft>
            </a:pPr>
            <a:r>
              <a:rPr sz="2000" b="1" i="0">
                <a:solidFill>
                  <a:srgbClr val="0B2545"/>
                </a:solidFill>
                <a:latin typeface="Arial"/>
              </a:rPr>
              <a:t>2</a:t>
            </a:r>
          </a:p>
        </p:txBody>
      </p:sp>
      <p:sp>
        <p:nvSpPr>
          <p:cNvPr id="12" name="TextBox 11"/>
          <p:cNvSpPr txBox="1"/>
          <p:nvPr/>
        </p:nvSpPr>
        <p:spPr>
          <a:xfrm>
            <a:off x="1379220" y="2513076"/>
            <a:ext cx="10058400" cy="693420"/>
          </a:xfrm>
          <a:prstGeom prst="rect">
            <a:avLst/>
          </a:prstGeom>
          <a:noFill/>
        </p:spPr>
        <p:txBody>
          <a:bodyPr wrap="square" anchor="ctr" lIns="0" rIns="0" tIns="0" bIns="0">
            <a:spAutoFit/>
          </a:bodyPr>
          <a:lstStyle/>
          <a:p>
            <a:pPr algn="l">
              <a:lnSpc>
                <a:spcPct val="100000"/>
              </a:lnSpc>
              <a:spcBef>
                <a:spcPts val="400"/>
              </a:spcBef>
              <a:spcAft>
                <a:spcPts val="100"/>
              </a:spcAft>
            </a:pPr>
            <a:r>
              <a:rPr sz="1550" b="1" i="0">
                <a:solidFill>
                  <a:srgbClr val="0B2545"/>
                </a:solidFill>
                <a:latin typeface="Arial"/>
              </a:rPr>
              <a:t>Find the circuit</a:t>
            </a:r>
          </a:p>
          <a:p>
            <a:pPr algn="l">
              <a:lnSpc>
                <a:spcPct val="100000"/>
              </a:lnSpc>
              <a:spcBef>
                <a:spcPts val="0"/>
              </a:spcBef>
              <a:spcAft>
                <a:spcPts val="400"/>
              </a:spcAft>
            </a:pPr>
            <a:r>
              <a:rPr sz="1250" b="0" i="0">
                <a:solidFill>
                  <a:srgbClr val="5B6B7B"/>
                </a:solidFill>
                <a:latin typeface="Arial"/>
              </a:rPr>
              <a:t>Where would current flow through ME? Locate the SECOND POINT OF CONTACT — every time.</a:t>
            </a:r>
          </a:p>
        </p:txBody>
      </p:sp>
      <p:sp>
        <p:nvSpPr>
          <p:cNvPr id="13" name="Oval 12"/>
          <p:cNvSpPr/>
          <p:nvPr/>
        </p:nvSpPr>
        <p:spPr>
          <a:xfrm>
            <a:off x="640080" y="3279648"/>
            <a:ext cx="583692" cy="583692"/>
          </a:xfrm>
          <a:prstGeom prst="ellipse">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3279648"/>
            <a:ext cx="583692" cy="583692"/>
          </a:xfrm>
          <a:prstGeom prst="rect">
            <a:avLst/>
          </a:prstGeom>
          <a:noFill/>
        </p:spPr>
        <p:txBody>
          <a:bodyPr wrap="square" anchor="ctr" lIns="0" rIns="0" tIns="0" bIns="0">
            <a:spAutoFit/>
          </a:bodyPr>
          <a:lstStyle/>
          <a:p>
            <a:pPr algn="ctr">
              <a:lnSpc>
                <a:spcPct val="105000"/>
              </a:lnSpc>
              <a:spcBef>
                <a:spcPts val="400"/>
              </a:spcBef>
              <a:spcAft>
                <a:spcPts val="400"/>
              </a:spcAft>
            </a:pPr>
            <a:r>
              <a:rPr sz="2000" b="1" i="0">
                <a:solidFill>
                  <a:srgbClr val="0B2545"/>
                </a:solidFill>
                <a:latin typeface="Arial"/>
              </a:rPr>
              <a:t>3</a:t>
            </a:r>
          </a:p>
        </p:txBody>
      </p:sp>
      <p:sp>
        <p:nvSpPr>
          <p:cNvPr id="15" name="TextBox 14"/>
          <p:cNvSpPr txBox="1"/>
          <p:nvPr/>
        </p:nvSpPr>
        <p:spPr>
          <a:xfrm>
            <a:off x="1379220" y="3261360"/>
            <a:ext cx="10058400" cy="693420"/>
          </a:xfrm>
          <a:prstGeom prst="rect">
            <a:avLst/>
          </a:prstGeom>
          <a:noFill/>
        </p:spPr>
        <p:txBody>
          <a:bodyPr wrap="square" anchor="ctr" lIns="0" rIns="0" tIns="0" bIns="0">
            <a:spAutoFit/>
          </a:bodyPr>
          <a:lstStyle/>
          <a:p>
            <a:pPr algn="l">
              <a:lnSpc>
                <a:spcPct val="100000"/>
              </a:lnSpc>
              <a:spcBef>
                <a:spcPts val="400"/>
              </a:spcBef>
              <a:spcAft>
                <a:spcPts val="100"/>
              </a:spcAft>
            </a:pPr>
            <a:r>
              <a:rPr sz="1550" b="1" i="0">
                <a:solidFill>
                  <a:srgbClr val="0B2545"/>
                </a:solidFill>
                <a:latin typeface="Arial"/>
              </a:rPr>
              <a:t>Choose the control</a:t>
            </a:r>
          </a:p>
          <a:p>
            <a:pPr algn="l">
              <a:lnSpc>
                <a:spcPct val="100000"/>
              </a:lnSpc>
              <a:spcBef>
                <a:spcPts val="0"/>
              </a:spcBef>
              <a:spcAft>
                <a:spcPts val="400"/>
              </a:spcAft>
            </a:pPr>
            <a:r>
              <a:rPr sz="1250" b="0" i="0">
                <a:solidFill>
                  <a:srgbClr val="5B6B7B"/>
                </a:solidFill>
                <a:latin typeface="Arial"/>
              </a:rPr>
              <a:t>De-energize if you can. If hot: isolate AND insulate — MAD, cover-up, gloves, grounds, EPZ.</a:t>
            </a:r>
          </a:p>
        </p:txBody>
      </p:sp>
      <p:sp>
        <p:nvSpPr>
          <p:cNvPr id="16" name="Oval 15"/>
          <p:cNvSpPr/>
          <p:nvPr/>
        </p:nvSpPr>
        <p:spPr>
          <a:xfrm>
            <a:off x="640080" y="4027932"/>
            <a:ext cx="583692" cy="583692"/>
          </a:xfrm>
          <a:prstGeom prst="ellipse">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4027932"/>
            <a:ext cx="583692" cy="583692"/>
          </a:xfrm>
          <a:prstGeom prst="rect">
            <a:avLst/>
          </a:prstGeom>
          <a:noFill/>
        </p:spPr>
        <p:txBody>
          <a:bodyPr wrap="square" anchor="ctr" lIns="0" rIns="0" tIns="0" bIns="0">
            <a:spAutoFit/>
          </a:bodyPr>
          <a:lstStyle/>
          <a:p>
            <a:pPr algn="ctr">
              <a:lnSpc>
                <a:spcPct val="105000"/>
              </a:lnSpc>
              <a:spcBef>
                <a:spcPts val="400"/>
              </a:spcBef>
              <a:spcAft>
                <a:spcPts val="400"/>
              </a:spcAft>
            </a:pPr>
            <a:r>
              <a:rPr sz="2000" b="1" i="0">
                <a:solidFill>
                  <a:srgbClr val="0B2545"/>
                </a:solidFill>
                <a:latin typeface="Arial"/>
              </a:rPr>
              <a:t>4</a:t>
            </a:r>
          </a:p>
        </p:txBody>
      </p:sp>
      <p:sp>
        <p:nvSpPr>
          <p:cNvPr id="18" name="TextBox 17"/>
          <p:cNvSpPr txBox="1"/>
          <p:nvPr/>
        </p:nvSpPr>
        <p:spPr>
          <a:xfrm>
            <a:off x="1379220" y="4009644"/>
            <a:ext cx="10058400" cy="693420"/>
          </a:xfrm>
          <a:prstGeom prst="rect">
            <a:avLst/>
          </a:prstGeom>
          <a:noFill/>
        </p:spPr>
        <p:txBody>
          <a:bodyPr wrap="square" anchor="ctr" lIns="0" rIns="0" tIns="0" bIns="0">
            <a:spAutoFit/>
          </a:bodyPr>
          <a:lstStyle/>
          <a:p>
            <a:pPr algn="l">
              <a:lnSpc>
                <a:spcPct val="100000"/>
              </a:lnSpc>
              <a:spcBef>
                <a:spcPts val="400"/>
              </a:spcBef>
              <a:spcAft>
                <a:spcPts val="100"/>
              </a:spcAft>
            </a:pPr>
            <a:r>
              <a:rPr sz="1550" b="1" i="0">
                <a:solidFill>
                  <a:srgbClr val="0B2545"/>
                </a:solidFill>
                <a:latin typeface="Arial"/>
              </a:rPr>
              <a:t>Verify</a:t>
            </a:r>
          </a:p>
          <a:p>
            <a:pPr algn="l">
              <a:lnSpc>
                <a:spcPct val="100000"/>
              </a:lnSpc>
              <a:spcBef>
                <a:spcPts val="0"/>
              </a:spcBef>
              <a:spcAft>
                <a:spcPts val="400"/>
              </a:spcAft>
            </a:pPr>
            <a:r>
              <a:rPr sz="1250" b="0" i="0">
                <a:solidFill>
                  <a:srgbClr val="5B6B7B"/>
                </a:solidFill>
                <a:latin typeface="Arial"/>
              </a:rPr>
              <a:t>Test the tester, test-before-touch, prove dead, apply grounds, inspect every piece of PPE.</a:t>
            </a:r>
          </a:p>
        </p:txBody>
      </p:sp>
      <p:sp>
        <p:nvSpPr>
          <p:cNvPr id="19" name="Oval 18"/>
          <p:cNvSpPr/>
          <p:nvPr/>
        </p:nvSpPr>
        <p:spPr>
          <a:xfrm>
            <a:off x="640080" y="4776216"/>
            <a:ext cx="583692" cy="583692"/>
          </a:xfrm>
          <a:prstGeom prst="ellipse">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4776216"/>
            <a:ext cx="583692" cy="583692"/>
          </a:xfrm>
          <a:prstGeom prst="rect">
            <a:avLst/>
          </a:prstGeom>
          <a:noFill/>
        </p:spPr>
        <p:txBody>
          <a:bodyPr wrap="square" anchor="ctr" lIns="0" rIns="0" tIns="0" bIns="0">
            <a:spAutoFit/>
          </a:bodyPr>
          <a:lstStyle/>
          <a:p>
            <a:pPr algn="ctr">
              <a:lnSpc>
                <a:spcPct val="105000"/>
              </a:lnSpc>
              <a:spcBef>
                <a:spcPts val="400"/>
              </a:spcBef>
              <a:spcAft>
                <a:spcPts val="400"/>
              </a:spcAft>
            </a:pPr>
            <a:r>
              <a:rPr sz="2000" b="1" i="0">
                <a:solidFill>
                  <a:srgbClr val="0B2545"/>
                </a:solidFill>
                <a:latin typeface="Arial"/>
              </a:rPr>
              <a:t>5</a:t>
            </a:r>
          </a:p>
        </p:txBody>
      </p:sp>
      <p:sp>
        <p:nvSpPr>
          <p:cNvPr id="21" name="TextBox 20"/>
          <p:cNvSpPr txBox="1"/>
          <p:nvPr/>
        </p:nvSpPr>
        <p:spPr>
          <a:xfrm>
            <a:off x="1379220" y="4757928"/>
            <a:ext cx="10058400" cy="693420"/>
          </a:xfrm>
          <a:prstGeom prst="rect">
            <a:avLst/>
          </a:prstGeom>
          <a:noFill/>
        </p:spPr>
        <p:txBody>
          <a:bodyPr wrap="square" anchor="ctr" lIns="0" rIns="0" tIns="0" bIns="0">
            <a:spAutoFit/>
          </a:bodyPr>
          <a:lstStyle/>
          <a:p>
            <a:pPr algn="l">
              <a:lnSpc>
                <a:spcPct val="100000"/>
              </a:lnSpc>
              <a:spcBef>
                <a:spcPts val="400"/>
              </a:spcBef>
              <a:spcAft>
                <a:spcPts val="100"/>
              </a:spcAft>
            </a:pPr>
            <a:r>
              <a:rPr sz="1550" b="1" i="0">
                <a:solidFill>
                  <a:srgbClr val="0B2545"/>
                </a:solidFill>
                <a:latin typeface="Arial"/>
              </a:rPr>
              <a:t>Brief &amp; assign</a:t>
            </a:r>
          </a:p>
          <a:p>
            <a:pPr algn="l">
              <a:lnSpc>
                <a:spcPct val="100000"/>
              </a:lnSpc>
              <a:spcBef>
                <a:spcPts val="0"/>
              </a:spcBef>
              <a:spcAft>
                <a:spcPts val="400"/>
              </a:spcAft>
            </a:pPr>
            <a:r>
              <a:rPr sz="1250" b="0" i="0">
                <a:solidFill>
                  <a:srgbClr val="5B6B7B"/>
                </a:solidFill>
                <a:latin typeface="Arial"/>
              </a:rPr>
              <a:t>Tailboard the hazards, controls, roles, comms, and rescue. Everyone understands. Everyone can stop work.</a:t>
            </a:r>
          </a:p>
        </p:txBody>
      </p:sp>
      <p:sp>
        <p:nvSpPr>
          <p:cNvPr id="22" name="Oval 21"/>
          <p:cNvSpPr/>
          <p:nvPr/>
        </p:nvSpPr>
        <p:spPr>
          <a:xfrm>
            <a:off x="640080" y="5524500"/>
            <a:ext cx="583692" cy="583692"/>
          </a:xfrm>
          <a:prstGeom prst="ellipse">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5524500"/>
            <a:ext cx="583692" cy="583692"/>
          </a:xfrm>
          <a:prstGeom prst="rect">
            <a:avLst/>
          </a:prstGeom>
          <a:noFill/>
        </p:spPr>
        <p:txBody>
          <a:bodyPr wrap="square" anchor="ctr" lIns="0" rIns="0" tIns="0" bIns="0">
            <a:spAutoFit/>
          </a:bodyPr>
          <a:lstStyle/>
          <a:p>
            <a:pPr algn="ctr">
              <a:lnSpc>
                <a:spcPct val="105000"/>
              </a:lnSpc>
              <a:spcBef>
                <a:spcPts val="400"/>
              </a:spcBef>
              <a:spcAft>
                <a:spcPts val="400"/>
              </a:spcAft>
            </a:pPr>
            <a:r>
              <a:rPr sz="2000" b="1" i="0">
                <a:solidFill>
                  <a:srgbClr val="0B2545"/>
                </a:solidFill>
                <a:latin typeface="Arial"/>
              </a:rPr>
              <a:t>6</a:t>
            </a:r>
          </a:p>
        </p:txBody>
      </p:sp>
      <p:sp>
        <p:nvSpPr>
          <p:cNvPr id="24" name="TextBox 23"/>
          <p:cNvSpPr txBox="1"/>
          <p:nvPr/>
        </p:nvSpPr>
        <p:spPr>
          <a:xfrm>
            <a:off x="1379220" y="5506212"/>
            <a:ext cx="10058400" cy="693420"/>
          </a:xfrm>
          <a:prstGeom prst="rect">
            <a:avLst/>
          </a:prstGeom>
          <a:noFill/>
        </p:spPr>
        <p:txBody>
          <a:bodyPr wrap="square" anchor="ctr" lIns="0" rIns="0" tIns="0" bIns="0">
            <a:spAutoFit/>
          </a:bodyPr>
          <a:lstStyle/>
          <a:p>
            <a:pPr algn="l">
              <a:lnSpc>
                <a:spcPct val="100000"/>
              </a:lnSpc>
              <a:spcBef>
                <a:spcPts val="400"/>
              </a:spcBef>
              <a:spcAft>
                <a:spcPts val="100"/>
              </a:spcAft>
            </a:pPr>
            <a:r>
              <a:rPr sz="1550" b="1" i="0">
                <a:solidFill>
                  <a:srgbClr val="0B2545"/>
                </a:solidFill>
                <a:latin typeface="Arial"/>
              </a:rPr>
              <a:t>Work &amp; reassess</a:t>
            </a:r>
          </a:p>
          <a:p>
            <a:pPr algn="l">
              <a:lnSpc>
                <a:spcPct val="100000"/>
              </a:lnSpc>
              <a:spcBef>
                <a:spcPts val="0"/>
              </a:spcBef>
              <a:spcAft>
                <a:spcPts val="400"/>
              </a:spcAft>
            </a:pPr>
            <a:r>
              <a:rPr sz="1250" b="0" i="0">
                <a:solidFill>
                  <a:srgbClr val="5B6B7B"/>
                </a:solidFill>
                <a:latin typeface="Arial"/>
              </a:rPr>
              <a:t>Maintain controls all the way through. When ANYTHING changes — stop, re-brief, re-assess.</a:t>
            </a:r>
          </a:p>
        </p:txBody>
      </p:sp>
      <p:sp>
        <p:nvSpPr>
          <p:cNvPr id="25" name="Rectangle 24"/>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Course Wrap-Up</a:t>
            </a:r>
          </a:p>
        </p:txBody>
      </p:sp>
      <p:sp>
        <p:nvSpPr>
          <p:cNvPr id="27" name="TextBox 26"/>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133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DAILY DISCIPLINE</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Ten Disciplines That Keep Crews Alive</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27632"/>
            <a:ext cx="10881360" cy="548640"/>
          </a:xfrm>
          <a:prstGeom prst="rect">
            <a:avLst/>
          </a:prstGeom>
          <a:noFill/>
        </p:spPr>
        <p:txBody>
          <a:bodyPr wrap="square" anchor="t" lIns="0" rIns="0" tIns="0" bIns="0">
            <a:spAutoFit/>
          </a:bodyPr>
          <a:lstStyle/>
          <a:p>
            <a:pPr algn="l">
              <a:lnSpc>
                <a:spcPct val="105000"/>
              </a:lnSpc>
              <a:spcBef>
                <a:spcPts val="400"/>
              </a:spcBef>
              <a:spcAft>
                <a:spcPts val="400"/>
              </a:spcAft>
            </a:pPr>
            <a:r>
              <a:rPr sz="1550" b="0" i="1">
                <a:solidFill>
                  <a:srgbClr val="5B6B7B"/>
                </a:solidFill>
                <a:latin typeface="Arial"/>
              </a:rPr>
              <a:t>If you remember nothing else, remember these.</a:t>
            </a:r>
          </a:p>
        </p:txBody>
      </p:sp>
      <p:sp>
        <p:nvSpPr>
          <p:cNvPr id="8" name="TextBox 7"/>
          <p:cNvSpPr txBox="1"/>
          <p:nvPr/>
        </p:nvSpPr>
        <p:spPr>
          <a:xfrm>
            <a:off x="658368" y="2240280"/>
            <a:ext cx="10927080" cy="3703320"/>
          </a:xfrm>
          <a:prstGeom prst="rect">
            <a:avLst/>
          </a:prstGeom>
          <a:noFill/>
        </p:spPr>
        <p:txBody>
          <a:bodyPr wrap="square" anchor="t" lIns="0" rIns="0" tIns="0" bIns="0">
            <a:spAutoFit/>
          </a:bodyPr>
          <a:lstStyle/>
          <a:p>
            <a:pPr algn="l">
              <a:lnSpc>
                <a:spcPct val="105000"/>
              </a:lnSpc>
              <a:spcBef>
                <a:spcPts val="700"/>
              </a:spcBef>
              <a:spcAft>
                <a:spcPts val="200"/>
              </a:spcAft>
            </a:pPr>
            <a:r>
              <a:rPr sz="1800" b="0" i="0">
                <a:solidFill>
                  <a:srgbClr val="1A2B3C"/>
                </a:solidFill>
                <a:latin typeface="Arial"/>
              </a:rPr>
              <a:t>■  Treat every conductor as energized until YOU prove it dead and grounded</a:t>
            </a:r>
          </a:p>
          <a:p>
            <a:pPr algn="l">
              <a:lnSpc>
                <a:spcPct val="105000"/>
              </a:lnSpc>
              <a:spcBef>
                <a:spcPts val="700"/>
              </a:spcBef>
              <a:spcAft>
                <a:spcPts val="200"/>
              </a:spcAft>
            </a:pPr>
            <a:r>
              <a:rPr sz="1800" b="0" i="0">
                <a:solidFill>
                  <a:srgbClr val="1A2B3C"/>
                </a:solidFill>
                <a:latin typeface="Arial"/>
              </a:rPr>
              <a:t>■  Always identify and eliminate the second point of contact</a:t>
            </a:r>
          </a:p>
          <a:p>
            <a:pPr algn="l">
              <a:lnSpc>
                <a:spcPct val="105000"/>
              </a:lnSpc>
              <a:spcBef>
                <a:spcPts val="700"/>
              </a:spcBef>
              <a:spcAft>
                <a:spcPts val="200"/>
              </a:spcAft>
            </a:pPr>
            <a:r>
              <a:rPr sz="1800" b="0" i="0">
                <a:solidFill>
                  <a:srgbClr val="1A2B3C"/>
                </a:solidFill>
                <a:latin typeface="Arial"/>
              </a:rPr>
              <a:t>■  Maintain minimum approach distance — for your body, tools, and equipment</a:t>
            </a:r>
          </a:p>
          <a:p>
            <a:pPr algn="l">
              <a:lnSpc>
                <a:spcPct val="105000"/>
              </a:lnSpc>
              <a:spcBef>
                <a:spcPts val="700"/>
              </a:spcBef>
              <a:spcAft>
                <a:spcPts val="200"/>
              </a:spcAft>
            </a:pPr>
            <a:r>
              <a:rPr sz="1800" b="0" i="0">
                <a:solidFill>
                  <a:srgbClr val="1A2B3C"/>
                </a:solidFill>
                <a:latin typeface="Arial"/>
              </a:rPr>
              <a:t>■  Cover up: nearest hazard first, remove in reverse</a:t>
            </a:r>
          </a:p>
          <a:p>
            <a:pPr algn="l">
              <a:lnSpc>
                <a:spcPct val="105000"/>
              </a:lnSpc>
              <a:spcBef>
                <a:spcPts val="700"/>
              </a:spcBef>
              <a:spcAft>
                <a:spcPts val="200"/>
              </a:spcAft>
            </a:pPr>
            <a:r>
              <a:rPr sz="1800" b="0" i="0">
                <a:solidFill>
                  <a:srgbClr val="1A2B3C"/>
                </a:solidFill>
                <a:latin typeface="Arial"/>
              </a:rPr>
              <a:t>■  Test the tester before and after; test-before-touch</a:t>
            </a:r>
          </a:p>
          <a:p>
            <a:pPr algn="l">
              <a:lnSpc>
                <a:spcPct val="105000"/>
              </a:lnSpc>
              <a:spcBef>
                <a:spcPts val="700"/>
              </a:spcBef>
              <a:spcAft>
                <a:spcPts val="200"/>
              </a:spcAft>
            </a:pPr>
            <a:r>
              <a:rPr sz="1800" b="0" i="0">
                <a:solidFill>
                  <a:srgbClr val="1A2B3C"/>
                </a:solidFill>
                <a:latin typeface="Arial"/>
              </a:rPr>
              <a:t>■  Ground and bond an equipotential zone at the work site</a:t>
            </a:r>
          </a:p>
          <a:p>
            <a:pPr algn="l">
              <a:lnSpc>
                <a:spcPct val="105000"/>
              </a:lnSpc>
              <a:spcBef>
                <a:spcPts val="700"/>
              </a:spcBef>
              <a:spcAft>
                <a:spcPts val="200"/>
              </a:spcAft>
            </a:pPr>
            <a:r>
              <a:rPr sz="1800" b="0" i="0">
                <a:solidFill>
                  <a:srgbClr val="1A2B3C"/>
                </a:solidFill>
                <a:latin typeface="Arial"/>
              </a:rPr>
              <a:t>■  Inspect rubber goods and tools before every use; honor test dates</a:t>
            </a:r>
          </a:p>
          <a:p>
            <a:pPr algn="l">
              <a:lnSpc>
                <a:spcPct val="105000"/>
              </a:lnSpc>
              <a:spcBef>
                <a:spcPts val="700"/>
              </a:spcBef>
              <a:spcAft>
                <a:spcPts val="200"/>
              </a:spcAft>
            </a:pPr>
            <a:r>
              <a:rPr sz="1800" b="0" i="0">
                <a:solidFill>
                  <a:srgbClr val="1A2B3C"/>
                </a:solidFill>
                <a:latin typeface="Arial"/>
              </a:rPr>
              <a:t>■  Hold a real tailboard — and re-brief when anything changes</a:t>
            </a:r>
          </a:p>
          <a:p>
            <a:pPr algn="l">
              <a:lnSpc>
                <a:spcPct val="105000"/>
              </a:lnSpc>
              <a:spcBef>
                <a:spcPts val="700"/>
              </a:spcBef>
              <a:spcAft>
                <a:spcPts val="200"/>
              </a:spcAft>
            </a:pPr>
            <a:r>
              <a:rPr sz="1800" b="0" i="0">
                <a:solidFill>
                  <a:srgbClr val="1A2B3C"/>
                </a:solidFill>
                <a:latin typeface="Arial"/>
              </a:rPr>
              <a:t>■  Plan the rescue before the work; never become the second victim</a:t>
            </a:r>
          </a:p>
          <a:p>
            <a:pPr algn="l">
              <a:lnSpc>
                <a:spcPct val="105000"/>
              </a:lnSpc>
              <a:spcBef>
                <a:spcPts val="700"/>
              </a:spcBef>
              <a:spcAft>
                <a:spcPts val="200"/>
              </a:spcAft>
            </a:pPr>
            <a:r>
              <a:rPr sz="1800" b="0" i="0">
                <a:solidFill>
                  <a:srgbClr val="1A2B3C"/>
                </a:solidFill>
                <a:latin typeface="Arial"/>
              </a:rPr>
              <a:t>■  Use your stop-work authority — no job is worth your life</a:t>
            </a:r>
          </a:p>
        </p:txBody>
      </p:sp>
      <p:sp>
        <p:nvSpPr>
          <p:cNvPr id="9" name="Rectangle 8"/>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Course Wrap-Up</a:t>
            </a:r>
          </a:p>
        </p:txBody>
      </p:sp>
      <p:sp>
        <p:nvSpPr>
          <p:cNvPr id="11" name="TextBox 10"/>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134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CLOSING</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Final Word</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783080"/>
            <a:ext cx="6949440" cy="4297680"/>
          </a:xfrm>
          <a:prstGeom prst="rect">
            <a:avLst/>
          </a:prstGeom>
          <a:noFill/>
        </p:spPr>
        <p:txBody>
          <a:bodyPr wrap="square" anchor="t" lIns="0" rIns="0" tIns="0" bIns="0">
            <a:spAutoFit/>
          </a:bodyPr>
          <a:lstStyle/>
          <a:p>
            <a:pPr algn="l">
              <a:lnSpc>
                <a:spcPct val="105000"/>
              </a:lnSpc>
              <a:spcBef>
                <a:spcPts val="700"/>
              </a:spcBef>
              <a:spcAft>
                <a:spcPts val="200"/>
              </a:spcAft>
            </a:pPr>
            <a:r>
              <a:rPr sz="1700" b="0" i="0">
                <a:solidFill>
                  <a:srgbClr val="1A2B3C"/>
                </a:solidFill>
                <a:latin typeface="Arial"/>
              </a:rPr>
              <a:t>■  Electricity is invisible, silent, and unforgiving — but it is also entirely predictable</a:t>
            </a:r>
          </a:p>
          <a:p>
            <a:pPr algn="l">
              <a:lnSpc>
                <a:spcPct val="105000"/>
              </a:lnSpc>
              <a:spcBef>
                <a:spcPts val="700"/>
              </a:spcBef>
              <a:spcAft>
                <a:spcPts val="200"/>
              </a:spcAft>
            </a:pPr>
            <a:r>
              <a:rPr sz="1700" b="0" i="0">
                <a:solidFill>
                  <a:srgbClr val="1A2B3C"/>
                </a:solidFill>
                <a:latin typeface="Arial"/>
              </a:rPr>
              <a:t>■  It follows the same laws every time, which means the hazard is always controllable</a:t>
            </a:r>
          </a:p>
          <a:p>
            <a:pPr algn="l">
              <a:lnSpc>
                <a:spcPct val="105000"/>
              </a:lnSpc>
              <a:spcBef>
                <a:spcPts val="700"/>
              </a:spcBef>
              <a:spcAft>
                <a:spcPts val="200"/>
              </a:spcAft>
            </a:pPr>
            <a:r>
              <a:rPr sz="1700" b="0" i="0">
                <a:solidFill>
                  <a:srgbClr val="1A2B3C"/>
                </a:solidFill>
                <a:latin typeface="Arial"/>
              </a:rPr>
              <a:t>■  The theory in Module 1 is not academic — it is WHY every rule in Modules 3–6 works</a:t>
            </a:r>
          </a:p>
          <a:p>
            <a:pPr algn="l">
              <a:lnSpc>
                <a:spcPct val="105000"/>
              </a:lnSpc>
              <a:spcBef>
                <a:spcPts val="700"/>
              </a:spcBef>
              <a:spcAft>
                <a:spcPts val="200"/>
              </a:spcAft>
            </a:pPr>
            <a:r>
              <a:rPr sz="1700" b="0" i="0">
                <a:solidFill>
                  <a:srgbClr val="1A2B3C"/>
                </a:solidFill>
                <a:latin typeface="Arial"/>
              </a:rPr>
              <a:t>■  Skills fade and complacency creeps in — that is why we train, brief, and reassess relentlessly</a:t>
            </a:r>
          </a:p>
          <a:p>
            <a:pPr algn="l">
              <a:lnSpc>
                <a:spcPct val="105000"/>
              </a:lnSpc>
              <a:spcBef>
                <a:spcPts val="700"/>
              </a:spcBef>
              <a:spcAft>
                <a:spcPts val="200"/>
              </a:spcAft>
            </a:pPr>
            <a:r>
              <a:rPr sz="1700" b="0" i="0">
                <a:solidFill>
                  <a:srgbClr val="1A2B3C"/>
                </a:solidFill>
                <a:latin typeface="Arial"/>
              </a:rPr>
              <a:t>■  Look out for the worker next to you as carefully as you look out for yourself</a:t>
            </a:r>
          </a:p>
        </p:txBody>
      </p:sp>
      <p:sp>
        <p:nvSpPr>
          <p:cNvPr id="8" name="Rounded Rectangle 7"/>
          <p:cNvSpPr/>
          <p:nvPr/>
        </p:nvSpPr>
        <p:spPr>
          <a:xfrm>
            <a:off x="7863840" y="1874519"/>
            <a:ext cx="3776472" cy="3931920"/>
          </a:xfrm>
          <a:prstGeom prst="roundRect">
            <a:avLst/>
          </a:prstGeom>
          <a:solidFill>
            <a:srgbClr val="E6F3EC"/>
          </a:solidFill>
          <a:ln w="19050">
            <a:solidFill>
              <a:srgbClr val="2E8B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863840" y="1874519"/>
            <a:ext cx="3776472" cy="548640"/>
          </a:xfrm>
          <a:prstGeom prst="round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63840" y="2148839"/>
            <a:ext cx="3776472" cy="27432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92440" y="1920239"/>
            <a:ext cx="3319272" cy="475488"/>
          </a:xfrm>
          <a:prstGeom prst="rect">
            <a:avLst/>
          </a:prstGeom>
          <a:noFill/>
        </p:spPr>
        <p:txBody>
          <a:bodyPr wrap="square" anchor="ctr" lIns="0" rIns="0" tIns="0" bIns="0">
            <a:spAutoFit/>
          </a:bodyPr>
          <a:lstStyle/>
          <a:p>
            <a:pPr algn="l">
              <a:lnSpc>
                <a:spcPct val="105000"/>
              </a:lnSpc>
              <a:spcBef>
                <a:spcPts val="400"/>
              </a:spcBef>
              <a:spcAft>
                <a:spcPts val="400"/>
              </a:spcAft>
            </a:pPr>
            <a:r>
              <a:rPr sz="1400" b="1" i="0">
                <a:solidFill>
                  <a:srgbClr val="FFFFFF"/>
                </a:solidFill>
                <a:latin typeface="Arial"/>
              </a:rPr>
              <a:t>BEST PRACTICE</a:t>
            </a:r>
          </a:p>
        </p:txBody>
      </p:sp>
      <p:sp>
        <p:nvSpPr>
          <p:cNvPr id="12" name="TextBox 11"/>
          <p:cNvSpPr txBox="1"/>
          <p:nvPr/>
        </p:nvSpPr>
        <p:spPr>
          <a:xfrm>
            <a:off x="8138160" y="2587752"/>
            <a:ext cx="3227832" cy="3063239"/>
          </a:xfrm>
          <a:prstGeom prst="rect">
            <a:avLst/>
          </a:prstGeom>
          <a:noFill/>
        </p:spPr>
        <p:txBody>
          <a:bodyPr wrap="square" anchor="t" lIns="0" rIns="0" tIns="0" bIns="0">
            <a:spAutoFit/>
          </a:bodyPr>
          <a:lstStyle/>
          <a:p>
            <a:pPr algn="l">
              <a:lnSpc>
                <a:spcPct val="105000"/>
              </a:lnSpc>
              <a:spcBef>
                <a:spcPts val="400"/>
              </a:spcBef>
              <a:spcAft>
                <a:spcPts val="400"/>
              </a:spcAft>
            </a:pPr>
            <a:r>
              <a:rPr sz="1550" b="1" i="0">
                <a:solidFill>
                  <a:srgbClr val="2E8B57"/>
                </a:solidFill>
                <a:latin typeface="Arial"/>
              </a:rPr>
              <a:t>The whole point</a:t>
            </a:r>
          </a:p>
          <a:p>
            <a:pPr algn="l">
              <a:lnSpc>
                <a:spcPct val="105000"/>
              </a:lnSpc>
              <a:spcBef>
                <a:spcPts val="300"/>
              </a:spcBef>
              <a:spcAft>
                <a:spcPts val="100"/>
              </a:spcAft>
            </a:pPr>
            <a:r>
              <a:rPr sz="1300" b="0" i="0">
                <a:solidFill>
                  <a:srgbClr val="1A2B3C"/>
                </a:solidFill>
                <a:latin typeface="Arial"/>
              </a:rPr>
              <a:t>–  Everyone goes home, every day.</a:t>
            </a:r>
          </a:p>
          <a:p>
            <a:pPr algn="l">
              <a:lnSpc>
                <a:spcPct val="105000"/>
              </a:lnSpc>
              <a:spcBef>
                <a:spcPts val="300"/>
              </a:spcBef>
              <a:spcAft>
                <a:spcPts val="100"/>
              </a:spcAft>
            </a:pPr>
            <a:r>
              <a:rPr sz="1300" b="0" i="0">
                <a:solidFill>
                  <a:srgbClr val="1A2B3C"/>
                </a:solidFill>
                <a:latin typeface="Arial"/>
              </a:rPr>
              <a:t>–  That is the only acceptable outcome of any job — and it is achievable on every job.</a:t>
            </a:r>
          </a:p>
        </p:txBody>
      </p:sp>
      <p:sp>
        <p:nvSpPr>
          <p:cNvPr id="13" name="Rectangle 12"/>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Course Wrap-Up</a:t>
            </a:r>
          </a:p>
        </p:txBody>
      </p:sp>
      <p:sp>
        <p:nvSpPr>
          <p:cNvPr id="15" name="TextBox 14"/>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135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10896"/>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C88A00"/>
                </a:solidFill>
                <a:latin typeface="Arial"/>
              </a:rPr>
              <a:t>REFERENCES</a:t>
            </a:r>
          </a:p>
        </p:txBody>
      </p:sp>
      <p:sp>
        <p:nvSpPr>
          <p:cNvPr id="5" name="TextBox 4"/>
          <p:cNvSpPr txBox="1"/>
          <p:nvPr/>
        </p:nvSpPr>
        <p:spPr>
          <a:xfrm>
            <a:off x="621792" y="713232"/>
            <a:ext cx="1097280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0B2545"/>
                </a:solidFill>
                <a:latin typeface="Arial"/>
              </a:rPr>
              <a:t>Resources &amp; References</a:t>
            </a:r>
          </a:p>
        </p:txBody>
      </p:sp>
      <p:sp>
        <p:nvSpPr>
          <p:cNvPr id="6" name="Rectangle 5"/>
          <p:cNvSpPr/>
          <p:nvPr/>
        </p:nvSpPr>
        <p:spPr>
          <a:xfrm>
            <a:off x="640080" y="1426464"/>
            <a:ext cx="1554480" cy="4114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783080"/>
            <a:ext cx="5349240" cy="4297680"/>
          </a:xfrm>
          <a:prstGeom prst="roundRect">
            <a:avLst/>
          </a:prstGeom>
          <a:solidFill>
            <a:srgbClr val="EEF2F7"/>
          </a:solidFill>
          <a:ln w="12700">
            <a:solidFill>
              <a:srgbClr val="CF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40080" y="1783080"/>
            <a:ext cx="5349240" cy="566928"/>
          </a:xfrm>
          <a:prstGeom prst="roundRect">
            <a:avLst/>
          </a:prstGeom>
          <a:solidFill>
            <a:srgbClr val="1340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2066543"/>
            <a:ext cx="5349240" cy="283464"/>
          </a:xfrm>
          <a:prstGeom prst="rect">
            <a:avLst/>
          </a:prstGeom>
          <a:solidFill>
            <a:srgbClr val="1340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1837943"/>
            <a:ext cx="4892040" cy="475488"/>
          </a:xfrm>
          <a:prstGeom prst="rect">
            <a:avLst/>
          </a:prstGeom>
          <a:noFill/>
        </p:spPr>
        <p:txBody>
          <a:bodyPr wrap="square" anchor="ctr" lIns="0" rIns="0" tIns="0" bIns="0">
            <a:spAutoFit/>
          </a:bodyPr>
          <a:lstStyle/>
          <a:p>
            <a:pPr algn="l">
              <a:lnSpc>
                <a:spcPct val="105000"/>
              </a:lnSpc>
              <a:spcBef>
                <a:spcPts val="400"/>
              </a:spcBef>
              <a:spcAft>
                <a:spcPts val="400"/>
              </a:spcAft>
            </a:pPr>
            <a:r>
              <a:rPr sz="1600" b="1" i="0">
                <a:solidFill>
                  <a:srgbClr val="FFFFFF"/>
                </a:solidFill>
                <a:latin typeface="Arial"/>
              </a:rPr>
              <a:t>Regulations &amp; codes</a:t>
            </a:r>
          </a:p>
        </p:txBody>
      </p:sp>
      <p:sp>
        <p:nvSpPr>
          <p:cNvPr id="11" name="TextBox 10"/>
          <p:cNvSpPr txBox="1"/>
          <p:nvPr/>
        </p:nvSpPr>
        <p:spPr>
          <a:xfrm>
            <a:off x="914400" y="2514600"/>
            <a:ext cx="4800600" cy="3383280"/>
          </a:xfrm>
          <a:prstGeom prst="rect">
            <a:avLst/>
          </a:prstGeom>
          <a:noFill/>
        </p:spPr>
        <p:txBody>
          <a:bodyPr wrap="square" anchor="t" lIns="0" rIns="0" tIns="0" bIns="0">
            <a:spAutoFit/>
          </a:bodyPr>
          <a:lstStyle/>
          <a:p>
            <a:pPr algn="l">
              <a:lnSpc>
                <a:spcPct val="103000"/>
              </a:lnSpc>
              <a:spcBef>
                <a:spcPts val="500"/>
              </a:spcBef>
              <a:spcAft>
                <a:spcPts val="200"/>
              </a:spcAft>
            </a:pPr>
            <a:r>
              <a:rPr sz="1400" b="0" i="0">
                <a:solidFill>
                  <a:srgbClr val="1A2B3C"/>
                </a:solidFill>
                <a:latin typeface="Arial"/>
              </a:rPr>
              <a:t>■  OSHA 29 CFR 1910.269 — GT&amp;D (general industry)</a:t>
            </a:r>
          </a:p>
          <a:p>
            <a:pPr algn="l">
              <a:lnSpc>
                <a:spcPct val="103000"/>
              </a:lnSpc>
              <a:spcBef>
                <a:spcPts val="500"/>
              </a:spcBef>
              <a:spcAft>
                <a:spcPts val="200"/>
              </a:spcAft>
            </a:pPr>
            <a:r>
              <a:rPr sz="1400" b="0" i="0">
                <a:solidFill>
                  <a:srgbClr val="1A2B3C"/>
                </a:solidFill>
                <a:latin typeface="Arial"/>
              </a:rPr>
              <a:t>■  OSHA 29 CFR 1926 Subpart V — construction</a:t>
            </a:r>
          </a:p>
          <a:p>
            <a:pPr algn="l">
              <a:lnSpc>
                <a:spcPct val="103000"/>
              </a:lnSpc>
              <a:spcBef>
                <a:spcPts val="500"/>
              </a:spcBef>
              <a:spcAft>
                <a:spcPts val="200"/>
              </a:spcAft>
            </a:pPr>
            <a:r>
              <a:rPr sz="1400" b="0" i="0">
                <a:solidFill>
                  <a:srgbClr val="1A2B3C"/>
                </a:solidFill>
                <a:latin typeface="Arial"/>
              </a:rPr>
              <a:t>■  OSHA 1910.137 — electrical protective equipment</a:t>
            </a:r>
          </a:p>
          <a:p>
            <a:pPr algn="l">
              <a:lnSpc>
                <a:spcPct val="103000"/>
              </a:lnSpc>
              <a:spcBef>
                <a:spcPts val="500"/>
              </a:spcBef>
              <a:spcAft>
                <a:spcPts val="200"/>
              </a:spcAft>
            </a:pPr>
            <a:r>
              <a:rPr sz="1400" b="0" i="0">
                <a:solidFill>
                  <a:srgbClr val="1A2B3C"/>
                </a:solidFill>
                <a:latin typeface="Arial"/>
              </a:rPr>
              <a:t>■  OSHA 1910.147 — control of hazardous energy (LOTO)</a:t>
            </a:r>
          </a:p>
          <a:p>
            <a:pPr algn="l">
              <a:lnSpc>
                <a:spcPct val="103000"/>
              </a:lnSpc>
              <a:spcBef>
                <a:spcPts val="500"/>
              </a:spcBef>
              <a:spcAft>
                <a:spcPts val="200"/>
              </a:spcAft>
            </a:pPr>
            <a:r>
              <a:rPr sz="1400" b="0" i="0">
                <a:solidFill>
                  <a:srgbClr val="1A2B3C"/>
                </a:solidFill>
                <a:latin typeface="Arial"/>
              </a:rPr>
              <a:t>■  NESC — IEEE C2; NFPA 70E — arc-flash safety</a:t>
            </a:r>
          </a:p>
        </p:txBody>
      </p:sp>
      <p:sp>
        <p:nvSpPr>
          <p:cNvPr id="12" name="Rounded Rectangle 11"/>
          <p:cNvSpPr/>
          <p:nvPr/>
        </p:nvSpPr>
        <p:spPr>
          <a:xfrm>
            <a:off x="6309359" y="1783080"/>
            <a:ext cx="5349240" cy="4297680"/>
          </a:xfrm>
          <a:prstGeom prst="roundRect">
            <a:avLst/>
          </a:prstGeom>
          <a:solidFill>
            <a:srgbClr val="EEF2F7"/>
          </a:solidFill>
          <a:ln w="12700">
            <a:solidFill>
              <a:srgbClr val="CF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09359" y="1783080"/>
            <a:ext cx="5349240" cy="566928"/>
          </a:xfrm>
          <a:prstGeom prst="roundRect">
            <a:avLst/>
          </a:prstGeom>
          <a:solidFill>
            <a:srgbClr val="3A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59" y="2066543"/>
            <a:ext cx="5349240" cy="283464"/>
          </a:xfrm>
          <a:prstGeom prst="rect">
            <a:avLst/>
          </a:prstGeom>
          <a:solidFill>
            <a:srgbClr val="3A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37959" y="1837943"/>
            <a:ext cx="4892040" cy="475488"/>
          </a:xfrm>
          <a:prstGeom prst="rect">
            <a:avLst/>
          </a:prstGeom>
          <a:noFill/>
        </p:spPr>
        <p:txBody>
          <a:bodyPr wrap="square" anchor="ctr" lIns="0" rIns="0" tIns="0" bIns="0">
            <a:spAutoFit/>
          </a:bodyPr>
          <a:lstStyle/>
          <a:p>
            <a:pPr algn="l">
              <a:lnSpc>
                <a:spcPct val="105000"/>
              </a:lnSpc>
              <a:spcBef>
                <a:spcPts val="400"/>
              </a:spcBef>
              <a:spcAft>
                <a:spcPts val="400"/>
              </a:spcAft>
            </a:pPr>
            <a:r>
              <a:rPr sz="1600" b="1" i="0">
                <a:solidFill>
                  <a:srgbClr val="FFFFFF"/>
                </a:solidFill>
                <a:latin typeface="Arial"/>
              </a:rPr>
              <a:t>Standards &amp; training</a:t>
            </a:r>
          </a:p>
        </p:txBody>
      </p:sp>
      <p:sp>
        <p:nvSpPr>
          <p:cNvPr id="16" name="TextBox 15"/>
          <p:cNvSpPr txBox="1"/>
          <p:nvPr/>
        </p:nvSpPr>
        <p:spPr>
          <a:xfrm>
            <a:off x="6583679" y="2514600"/>
            <a:ext cx="4800600" cy="3383280"/>
          </a:xfrm>
          <a:prstGeom prst="rect">
            <a:avLst/>
          </a:prstGeom>
          <a:noFill/>
        </p:spPr>
        <p:txBody>
          <a:bodyPr wrap="square" anchor="t" lIns="0" rIns="0" tIns="0" bIns="0">
            <a:spAutoFit/>
          </a:bodyPr>
          <a:lstStyle/>
          <a:p>
            <a:pPr algn="l">
              <a:lnSpc>
                <a:spcPct val="103000"/>
              </a:lnSpc>
              <a:spcBef>
                <a:spcPts val="500"/>
              </a:spcBef>
              <a:spcAft>
                <a:spcPts val="200"/>
              </a:spcAft>
            </a:pPr>
            <a:r>
              <a:rPr sz="1400" b="0" i="0">
                <a:solidFill>
                  <a:srgbClr val="1A2B3C"/>
                </a:solidFill>
                <a:latin typeface="Arial"/>
              </a:rPr>
              <a:t>■  ASTM F18 committee standards (D120, F496, F855, etc.)</a:t>
            </a:r>
          </a:p>
          <a:p>
            <a:pPr algn="l">
              <a:lnSpc>
                <a:spcPct val="103000"/>
              </a:lnSpc>
              <a:spcBef>
                <a:spcPts val="500"/>
              </a:spcBef>
              <a:spcAft>
                <a:spcPts val="200"/>
              </a:spcAft>
            </a:pPr>
            <a:r>
              <a:rPr sz="1400" b="0" i="0">
                <a:solidFill>
                  <a:srgbClr val="1A2B3C"/>
                </a:solidFill>
                <a:latin typeface="Arial"/>
              </a:rPr>
              <a:t>■  IEEE standards for live-line work &amp; grounding</a:t>
            </a:r>
          </a:p>
          <a:p>
            <a:pPr algn="l">
              <a:lnSpc>
                <a:spcPct val="103000"/>
              </a:lnSpc>
              <a:spcBef>
                <a:spcPts val="500"/>
              </a:spcBef>
              <a:spcAft>
                <a:spcPts val="200"/>
              </a:spcAft>
            </a:pPr>
            <a:r>
              <a:rPr sz="1400" b="0" i="0">
                <a:solidFill>
                  <a:srgbClr val="1A2B3C"/>
                </a:solidFill>
                <a:latin typeface="Arial"/>
              </a:rPr>
              <a:t>■  Your employer's safe-work practices &amp; MAD tables</a:t>
            </a:r>
          </a:p>
          <a:p>
            <a:pPr algn="l">
              <a:lnSpc>
                <a:spcPct val="103000"/>
              </a:lnSpc>
              <a:spcBef>
                <a:spcPts val="500"/>
              </a:spcBef>
              <a:spcAft>
                <a:spcPts val="200"/>
              </a:spcAft>
            </a:pPr>
            <a:r>
              <a:rPr sz="1400" b="0" i="0">
                <a:solidFill>
                  <a:srgbClr val="1A2B3C"/>
                </a:solidFill>
                <a:latin typeface="Arial"/>
              </a:rPr>
              <a:t>■  Apprenticeship program materials &amp; manufacturer manuals</a:t>
            </a:r>
          </a:p>
          <a:p>
            <a:pPr algn="l">
              <a:lnSpc>
                <a:spcPct val="103000"/>
              </a:lnSpc>
              <a:spcBef>
                <a:spcPts val="500"/>
              </a:spcBef>
              <a:spcAft>
                <a:spcPts val="200"/>
              </a:spcAft>
            </a:pPr>
            <a:r>
              <a:rPr sz="1400" b="0" i="0">
                <a:solidFill>
                  <a:srgbClr val="1A2B3C"/>
                </a:solidFill>
                <a:latin typeface="Arial"/>
              </a:rPr>
              <a:t>■  First aid / CPR / AED &amp; pole-top rescue certification</a:t>
            </a:r>
          </a:p>
        </p:txBody>
      </p:sp>
      <p:sp>
        <p:nvSpPr>
          <p:cNvPr id="17" name="Rectangle 16"/>
          <p:cNvSpPr/>
          <p:nvPr/>
        </p:nvSpPr>
        <p:spPr>
          <a:xfrm>
            <a:off x="0" y="6565392"/>
            <a:ext cx="12191695" cy="18288"/>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547104"/>
            <a:ext cx="7315200" cy="292608"/>
          </a:xfrm>
          <a:prstGeom prst="rect">
            <a:avLst/>
          </a:prstGeom>
          <a:noFill/>
        </p:spPr>
        <p:txBody>
          <a:bodyPr wrap="square" anchor="ctr" lIns="0" rIns="0" tIns="0" bIns="0">
            <a:spAutoFit/>
          </a:bodyPr>
          <a:lstStyle/>
          <a:p>
            <a:pPr algn="l">
              <a:lnSpc>
                <a:spcPct val="105000"/>
              </a:lnSpc>
              <a:spcBef>
                <a:spcPts val="0"/>
              </a:spcBef>
              <a:spcAft>
                <a:spcPts val="0"/>
              </a:spcAft>
            </a:pPr>
            <a:r>
              <a:rPr sz="950" b="0" i="0">
                <a:solidFill>
                  <a:srgbClr val="5B6B7B"/>
                </a:solidFill>
                <a:latin typeface="Arial"/>
              </a:rPr>
              <a:t>Course Wrap-Up</a:t>
            </a:r>
          </a:p>
        </p:txBody>
      </p:sp>
      <p:sp>
        <p:nvSpPr>
          <p:cNvPr id="19" name="TextBox 18"/>
          <p:cNvSpPr txBox="1"/>
          <p:nvPr/>
        </p:nvSpPr>
        <p:spPr>
          <a:xfrm>
            <a:off x="8686800" y="6547104"/>
            <a:ext cx="2999232" cy="292608"/>
          </a:xfrm>
          <a:prstGeom prst="rect">
            <a:avLst/>
          </a:prstGeom>
          <a:noFill/>
        </p:spPr>
        <p:txBody>
          <a:bodyPr wrap="square" anchor="ctr" lIns="0" rIns="0" tIns="0" bIns="0">
            <a:spAutoFit/>
          </a:bodyPr>
          <a:lstStyle/>
          <a:p>
            <a:pPr algn="r">
              <a:lnSpc>
                <a:spcPct val="105000"/>
              </a:lnSpc>
              <a:spcBef>
                <a:spcPts val="0"/>
              </a:spcBef>
              <a:spcAft>
                <a:spcPts val="0"/>
              </a:spcAft>
            </a:pPr>
            <a:r>
              <a:rPr sz="950" b="0" i="0">
                <a:solidFill>
                  <a:srgbClr val="5B6B7B"/>
                </a:solidFill>
                <a:latin typeface="Arial"/>
              </a:rPr>
              <a:t>Powerline Electrical Theory &amp; Safety   |   136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a:gsLst>
              <a:gs pos="0">
                <a:srgbClr val="0B2545"/>
              </a:gs>
              <a:gs pos="100000">
                <a:srgbClr val="06162B"/>
              </a:gs>
            </a:gsLst>
            <a:lin ang="36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2286000"/>
            <a:ext cx="164592" cy="1828800"/>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88720" y="2331720"/>
            <a:ext cx="10058400" cy="2286000"/>
          </a:xfrm>
          <a:prstGeom prst="rect">
            <a:avLst/>
          </a:prstGeom>
          <a:noFill/>
        </p:spPr>
        <p:txBody>
          <a:bodyPr wrap="square" anchor="t" lIns="0" rIns="0" tIns="0" bIns="0">
            <a:spAutoFit/>
          </a:bodyPr>
          <a:lstStyle/>
          <a:p>
            <a:pPr algn="l">
              <a:lnSpc>
                <a:spcPct val="105000"/>
              </a:lnSpc>
              <a:spcBef>
                <a:spcPts val="400"/>
              </a:spcBef>
              <a:spcAft>
                <a:spcPts val="1000"/>
              </a:spcAft>
            </a:pPr>
            <a:r>
              <a:rPr sz="4600" b="1" i="0">
                <a:solidFill>
                  <a:srgbClr val="FFFFFF"/>
                </a:solidFill>
                <a:latin typeface="Arial"/>
              </a:rPr>
              <a:t>Questions &amp; Discussion</a:t>
            </a:r>
          </a:p>
          <a:p>
            <a:pPr algn="l">
              <a:lnSpc>
                <a:spcPct val="120000"/>
              </a:lnSpc>
              <a:spcBef>
                <a:spcPts val="400"/>
              </a:spcBef>
              <a:spcAft>
                <a:spcPts val="400"/>
              </a:spcAft>
            </a:pPr>
            <a:r>
              <a:rPr sz="1800" b="0" i="0">
                <a:solidFill>
                  <a:srgbClr val="C8D6E6"/>
                </a:solidFill>
                <a:latin typeface="Arial"/>
              </a:rPr>
              <a:t>Review the hazards on YOUR system, with YOUR equipment, against YOUR procedures.</a:t>
            </a:r>
          </a:p>
          <a:p>
            <a:pPr algn="l">
              <a:lnSpc>
                <a:spcPct val="105000"/>
              </a:lnSpc>
              <a:spcBef>
                <a:spcPts val="1400"/>
              </a:spcBef>
              <a:spcAft>
                <a:spcPts val="400"/>
              </a:spcAft>
            </a:pPr>
            <a:r>
              <a:rPr sz="1600" b="0" i="1">
                <a:solidFill>
                  <a:srgbClr val="F5B100"/>
                </a:solidFill>
                <a:latin typeface="Arial"/>
              </a:rPr>
              <a:t>Stay sharp. Watch your second point of contact. Everyone goes home.</a:t>
            </a:r>
          </a:p>
        </p:txBody>
      </p:sp>
      <p:sp>
        <p:nvSpPr>
          <p:cNvPr id="6" name="Rectangle 5"/>
          <p:cNvSpPr/>
          <p:nvPr/>
        </p:nvSpPr>
        <p:spPr>
          <a:xfrm>
            <a:off x="0" y="6583680"/>
            <a:ext cx="12191695" cy="54864"/>
          </a:xfrm>
          <a:prstGeom prst="rect">
            <a:avLst/>
          </a:prstGeom>
          <a:solidFill>
            <a:srgbClr val="F5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