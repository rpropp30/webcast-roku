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6162B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146304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219456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0" y="292608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57400"/>
            <a:ext cx="164592" cy="246888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0116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1" i="0">
                <a:solidFill>
                  <a:srgbClr val="F5B100"/>
                </a:solidFill>
                <a:latin typeface="Arial"/>
              </a:rPr>
              <a:t>FIELD TRAINING SERIES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68880"/>
            <a:ext cx="9692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Electrical Theory &amp;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Energized-Line Safety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for Powerline Workers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470916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800" b="0" i="0">
                <a:solidFill>
                  <a:srgbClr val="C8D6E6"/>
                </a:solidFill>
                <a:latin typeface="Arial"/>
              </a:rPr>
              <a:t>A complete field-training program: theory → working hot → cover-up &amp; tools → job planning &amp; regulations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  <a:spcAft>
                <a:spcPts val="400"/>
              </a:spcAft>
            </a:pPr>
            <a:r>
              <a:rPr sz="1300" b="0" i="0">
                <a:solidFill>
                  <a:srgbClr val="3A5A80"/>
                </a:solidFill>
                <a:latin typeface="Arial"/>
              </a:rPr>
              <a:t>Lineworker Apprenticeship &amp; Journeyman Refresher  •  Instructor Edition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COURSE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What This Course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Six modules, building from first principles to the daily disciplines that keep crews alive.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1 — Electrical theory: the science behind everything you touch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Atomic charge, voltage, current, resistance, power, AC vs DC, the grid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2 — Electricity and the human body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Shock physiology, arc flash/blast, step &amp; touch potential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3 — Working around energized lines &amp; equipment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Minimum approach distance, the second point of contact, isolation, cover-up, grounding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4 — Tools of the trade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Rubber goods, live-line tools, grounds, testers, FR/arc-rated PPE — use, care, testing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5 — Putting it to work in the field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Hazard assessment, the tailboard/job brief, roles, communication, rescue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6 — Regulations &amp; standards that govern the work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OSHA 1910.269 / 1926 Subpart V, NESC, ASTM/IEEE, recordkeeping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Learning Objectives &amp; How to Use This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By the end you will be able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Explain voltage, current, resistance and power in plain terms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Describe how the grid moves power from plant to service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Identify what makes a circuit through the human body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Recognize and eliminate the second point of contact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Apply correct cover-up and minimum approach distances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Build an equipotential grounding zone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Lead a complete tailboard and hazard assessment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Cite the regulation behind each safe-work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How the material is structured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Theory first — you cannot work safely on what you don't understand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Each hazard is paired with its control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Recognize → isolate → protect → verify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DANGER / WARNING / BEST-PRACTICE call-outs flag the must-knows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Tables summarize numbers you will use on the job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Discuss every slide as a crew — this is a conversation, not a lecture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THE 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This Training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0" i="1">
                <a:solidFill>
                  <a:srgbClr val="5B6B7B"/>
                </a:solidFill>
                <a:latin typeface="Arial"/>
              </a:rPr>
              <a:t>Line work is among the most hazardous trades in the country — and almost every incident traces back to a missed fundamental.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#1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Electrocution is a leading cause of lineworker fatalities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5857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35857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3017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50 V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Can be enough to be lethal under the right conditions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0.1 s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 fault can evolve to an arc-flash in a fraction of a second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7413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27413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4574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100%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Of electrical contacts are preventable with the right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These numbers are not here to scare you — they are here to remind you that the disciplines in this course are written in other workers' experience. Every rule has a reason. The goal of this training is simple: everyone goes home, every day.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Electrical Theory Fundamentals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What electricity actually is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Voltage, current, resistance &amp; power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AC vs DC and three-phase systems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Transformers and the grid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Voltage classes you will encounter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1.1 FIRST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What Is Electricity?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Before any rule makes sense, you have to know what is moving in the wire — and why it wants to get to ground.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All matter is built from atoms; atoms contain protons (+), neutrons (0) and electrons (–)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is the movement of electrons — specifically the flow of electric charge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 conductors, outer (“free”) electrons drift from atom to atom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That organized drift, driven by a difference in charge, is electric current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Two ways to talk about flow direction: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Conventional current: + to – (the convention used on prints and in formulas)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Electron flow: – to + (the physical reality)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always seeks to return to its source and will take every available path to ground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does not “prefer” the easiest path — it uses ALL paths in proportion to their conductance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Your body can be one of those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1.2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Conductors, Insulators &amp; Semiconductors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Conductors (let electrons 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Copper, aluminum — line and busbar metals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Steel — structures, ground rods, messenger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Water with impurities, wet wood, the human body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Low resistance — current passes easily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Why we de-energize, isolate, and ground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Insulators (resist electron flow)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Rubber, dry wood, glass, porcelain, fiberglass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Air — but only at sufficient distance (it can break down!)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EPDM rubber — the basis of our gloves &amp; cover-up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High resistance — used to create separation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Semiconductors: silicon devices — reclosers, electronics, controls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1.3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— Electrical 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(V) is the difference in electric potential between two points — the “pressure” that pushes current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Measured in volts; symbol E (electromotive force) or V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Analogy: water pressure in a pipe — more pressure, more push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is always measured BETWEEN two points (a potential difference)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bird on one wire sits at one potential — no difference, no current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Bridge two different potentials and current flows through you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Higher voltage can push current across larger air gaps — it can arc to you before you touch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Why this matters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Every safe-work distance exists because voltage can drive current across air.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“Difference of potential” is the whole game — control it and you control the hazard.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1.4 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Current — The Flow That Hurts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Current (I) is the rate of charge flow, measured in amperes (amps)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Analogy: the volume of water flowing past a point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is CURRENT through the body — not voltage — that injures and kills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Voltage determines how much current will be pushed through your resistance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Even small currents across the chest can stop the heart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Fault current on distribution/transmission can be thousands of amps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Enough to vaporize metal and create an arc-flash explosion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Remember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It takes surprisingly little current to be fatal.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Milliamps through the heart — not amps — are deadly.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Protect against the current by removing the path and the potential difference.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1.5 OHM'S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Resistance, Ohm's Law &amp; Power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Three quantities, one relationship — the most useful equation you will ever memorize.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Resistance (R) opposes current flow — measured in ohms (Ω)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Conductors = low R; insulators = high R; your skin's R drops sharply when wet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Ohm's Law ties the three together:  V = I × R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Current I = V / R   →  same voltage + lower body resistance = MORE current through you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This is why sweat, water, and broken skin make a shock far more dangerous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Power is the rate of doing work — measured in watts:  P = V × I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Also P = I² × R  —  heat in a fault rises with the SQUARE of current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That heat is what drives burns and arc-flash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Utilities sell energy in kilowatt-hours (kWh): power used over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1.5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Ohm's Law / Power Wheel — Quick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176"/>
                <a:gridCol w="3232234"/>
                <a:gridCol w="3232234"/>
                <a:gridCol w="2020146"/>
              </a:tblGrid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 find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If you know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 the formula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Units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Voltage (E)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Current &amp; Resistance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E = I × R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Volts (V)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Current (I)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Resistance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I = E ÷ R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Amperes (A)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Resistance (R)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Current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 = E ÷ I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Ohms (Ω)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Current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E × I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Current &amp; Resistance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I² × R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5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Resistance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E² ÷ R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97433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Tip: cover the value you want in the V / I / R triangle and the remaining two show you the operation. Power = the rate energy is delivered — and the source of heat and arc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1.6 WAVEFORMS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vs DC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Direct Current (DC)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Electrons flow one direction only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Batteries, solar arrays, some traction &amp; HVDC systems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Steady polarity — + and – stay fixed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Cannot be easily transformed up/down in voltage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DC can cause sustained muscle 'lock-on'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Alternating Current (AC)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Electrons reverse direction cyclically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60 Hz in North America = 60 cycles per second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Polarity and magnitude change continuously (a sine wave)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Easily stepped up/down by transformers — why the grid uses it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Crosses zero 120×/sec, but is still lethal — never assume 'off'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1.6 AC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Details: Frequency, Peak &amp; 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One full cycle = one complete positive + negative swing of the sine wave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Frequency = cycles per second, measured in hertz (Hz); 60 Hz in the U.S./Canada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Peak voltage is the maximum the wave reaches; the average useful value is the RMS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RMS (root-mean-square) is the 'DC-equivalent' value — it does the same work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When we say 120 V or 7,200 V, we mean RMS; peak is ~1.414× higher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Phase describes where two AC waveforms are in their cycle relative to each other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Critical for three-phase systems and for paralleling sources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Inductance and capacitance on lines cause current and voltage to shift out of step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This is the source of INDUCED voltage on de-energized parallel circuits (Module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1.7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Single-Phase vs Three-Phase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Single-Phase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One AC voltage waveform (with neutral)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Typical residential service: 120/240 V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Simple loads — lighting, receptacles, small motors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Power delivery pulses (crosses zero each half-cycle)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Three-Phase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Three waveforms 120° apart — A, B, C phases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Backbone of transmission, distribution &amp; industrial power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Smooth, continuous power — efficient for large motors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More power in less conductor than single-phase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Phase-to-phase voltage = √3 (1.732) × phase-to-neutral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1.8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Transformers — Stepping Voltage Up &amp;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single reason the grid runs on AC — voltage can be transformed efficiently.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transformer changes AC voltage using two coils linked by a magnetic core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No direct electrical connection — energy crosses by induction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Turns ratio sets the voltage ratio:  more secondary turns → higher voltage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Step UP: raise voltage for transmission (less current = less line loss)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Step DOWN: lower voltage for distribution and the customer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Power in ≈ power out, so when voltage goes UP, current goes DOWN (and vice-versa)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 = V × I — this is WHY we transmit at high voltage: to cut I²R losses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Distribution transformers on the pole/pad drop primary (e.g., 7,200 V) to 120/240 V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WARNING: a de-energized secondary can be BACK-FED from the customer side — generators!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1.9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Grid: From Generation to Your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0" i="1">
                <a:solidFill>
                  <a:srgbClr val="5B6B7B"/>
                </a:solidFill>
                <a:latin typeface="Arial"/>
              </a:rPr>
              <a:t>Know where you are on this chain — it tells you the voltage, the fault energy, and the controls you need.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94560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0640" y="2176272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Generation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Power plants (gas, hydro, nuclear, wind, solar) produce AC, typically at medium voltage.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74264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74264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0640" y="2855975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Step-Up Substation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Transformers raise voltage to transmission levels (69 kV up to 765 kV) to move power far with low loss.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553967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53967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0640" y="3535679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Transmission Lines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High-voltage lines on large towers carry bulk power across regions.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233671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33671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0640" y="4215383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Step-Down / Distribution Substation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Voltage is reduced to distribution levels (typically 4 kV–35 kV).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13375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13375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0640" y="4895087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Distribution Feeders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Primary lines on poles carry power through neighborhoods; reclosers &amp; fuses protect them.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5593079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93079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0640" y="5574791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Service Transformer &amp; Customer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Final step-down to 120/240 V (residential) or higher for commercial/industrial.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1.10 VOLTAGE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Classes You Will Work Around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489"/>
                <a:gridCol w="2145991"/>
                <a:gridCol w="3040155"/>
                <a:gridCol w="3040155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Typical Range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Where you see it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Low voltage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&lt; 600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Services, secondary, street light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Still deadly — most contacts happen here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Medium voltage (Distribution)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600 V – 35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Primary feeders, urban/rural lines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Common lineworker environment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High voltage (Sub-transmission/Transmission)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35 kV – 230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Towers, large substations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Larger MAD; arc &amp; induction hazards grow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Extra-high voltage (EHV)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230 kV – 765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Bulk 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Specialized live-line methods, large clearances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Ultra-high voltage (UHV)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&gt; 765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Long-distance bulk corridors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Rare; highly specialized work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55371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Exact class boundaries vary by utility and standard (NESC/IEEE). What never changes: higher voltage = larger required clearances and greater fault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1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1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is the flow of charge that always wants to return to its source via every path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Voltage pushes; current flows; resistance opposes — V = I × R ties them together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It is CURRENT through the body that kills, and low body resistance lets more through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AC dominates the grid because transformers let us change voltage efficiently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Transmit high (low current, low loss); distribute and use low (safe for customers)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 your voltage class — it sets your clearances, fault energy, and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Electricity &amp; the Human Body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How current injures and kills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Shock thresholds &amp; the heart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Electrical burns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Arc flash and arc blast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Step, touch &amp; ground-gradient potential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2.1 SHOCK PHYSIOLOGY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Current Affects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body is a conductor — nerves and muscles run on tiny electrical signals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External current overrides those signals: muscles clamp, nerves misfire, the heart can fibrillate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Severity depends on: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Amount of current (the key factor) — set by voltage ÷ your resistance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Path through the body — hand-to-hand or hand-to-foot crosses the heart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Duration of contact — longer exposure, more damage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Frequency — 60 Hz AC is especially effective at causing fibrillation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Skin resistance can be ~100,000 Ω dry, but drops to ~1,000 Ω or less when wet/broken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Same voltage then drives far more current — wet conditions are a force multiplier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2.2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Approximate Effects of 60 Hz Current Across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1428"/>
                <a:gridCol w="7757363"/>
              </a:tblGrid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Current (through body)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Typical effect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~1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Threshold of perception — a faint tingle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~5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Slight shock; not painful but startling — can cause falls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6–16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Painful shock; loss of muscular control begins (“let-go” threshold)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17–20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Muscles clamp — CANNOT let go of the conductor; breathing labored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20–50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Severe muscle contractions, breathing difficulty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50–100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Possible ventricular fibrillation — the heart quivers, stops pumping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100 mA – 2 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Likely fatal ventricular fibrillation; nerve damage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95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&gt; 2 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Cardiac arrest, severe internal burns, organ damage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815583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Values are approximate and vary by body size, path, and conditions. The lesson: the dangerous range starts in the MILLIAMP region — far below what trips most circuits.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2.3 THE HEART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Heart, Let-Go &amp; Fibrillation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“Let-go threshold”: above ~10–16 mA your flexor muscles clamp and you cannot release the conductor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The longer you hold on, the more the contact heats and the more current flows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Ventricular fibrillation: current disrupts the heart's rhythm so it quivers instead of pumping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Blood stops circulating — brain damage in minutes, death without intervention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defibrillator/AED and CPR may restart a coordinated rhythm — know where yours 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Even a 'minor' shock can throw you from a pole or bucket — the fall often does the damage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Why we never rely on 'holding on'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Above the let-go threshold your body works against you.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The only safe contact with an energized conductor is NO direct contact — insulate and isolate.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2.4 BURNS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Electrical Burns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How they happen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Contact / true electrical burns: current flowing through tissue generates heat (I²R)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Arc burns: radiated heat from an arc — can exceed 35,000°F at the arc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Thermal-contact burns: ignited clothing or hot surfaces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Flash burns to eyes (welder's flash) from intense 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Why they are deceptive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Entry/exit wounds may look small but mask massive internal damage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Current cooks tissue along its whole path — nerves, muscle, organs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Delayed effects: kidney damage from tissue breakdown, cardiac issues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ALWAYS seek medical evaluation after any electrical contact — even if you feel fine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2.5 ARC 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 Flash &amp; Arc Blast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An arc flash is an explosive release of energy when current jumps through ionized air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Triggered by faults, dropped tools, animals, equipment failure, or getting too close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Arc FLASH = light &amp; heat: temperatures up to ~35,000°F (hotter than the sun's surface)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Arc BLAST = pressure wave: vaporized metal expands violently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Copper expands ~67,000 times when it vaporizes — like a small explosion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Concussive force, shrapnel, molten metal spray, sound &gt; 140 dB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Incident energy is measured in cal/cm² — it sets the arc rating of PPE you must wear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Controlled by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Distance (clearances), de-energizing, and arc-rated FR clothing/face protection.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An arc flash can occur WITHOUT you touching anything — proximity alone can trigger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2.6 GROUND GRADIENTS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Step Potential &amp; Touch Potential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When current flows into the earth (e.g., a downed line, a fault to a ground rod), it spreads out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drops with distance from the contact point — forming a 'voltage gradient' across the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STEP POTENTIAL: the voltage difference between your two feet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One foot sits at a higher potential than the other — current flows up one leg, down the other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The wider your stride, the greater the difference — and the greater the shock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TOUCH POTENTIAL: difference between your hand (on an object) and your feet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Touching a faulted structure while standing on ground at a different potential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If you must leave an energized area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Keep feet together and SHUFFLE or bunny-hop — never take a normal stride.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Assume the ground around any downed line is energized out to a wide radius.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Equipotential bonding &amp; grounding (Module 3) eliminate these gradients in your work zone.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2.7 DOWNED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Downed Conductors &amp; The Ground Around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most dangerous ground is the ground that looks perfectly normal.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downed line may look dead — it is NOT until tested and grounded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may be re-energized automatically by reclosers, or back-fed by a customer's generator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ground can extend many feet from the contact point — you cannot see 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Vehicles in contact with lines: occupants should STAY INSIDE unless fire forces evacuation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If they must exit: JUMP clear without touching vehicle and ground at once, then shuffle away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the public back — establish a wide barrier and treat everything as energized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Never approach within the established radius until the line is confirmed de-energized &amp; grounded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2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2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Current — not voltage — injures; the dangerous range begins in milliamps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Path across the heart and 60 Hz AC make fibrillation likely; wet skin worsens everything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Above the let-go threshold you cannot release — so we never rely on letting go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Arc flash/blast can kill or maim WITHOUT contact — distance and FR PPE are your defense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ground creates step &amp; touch potential — shuffle out, bond and ground your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After any contact: get medical evaluation — internal damage hides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Working Around Energized Lines &amp; 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Minimum approach distance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second point of contact — the core concept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Isolate, insulate &amp; cover-up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Grounding &amp; the equipotential zone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De-energizing, LOTO &amp; induced voltage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3.1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Hierarchy of Controls for Electrical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Reach for the top of the hierarchy first; PPE alone is never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safest energized work is work that isn't energized — always prefer de-energizing where feasible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Order of preference when planning a job: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1. Eliminate — de-energize, isolate, lock &amp; tag, test dead, and ground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2. Substitute / engineer — reroute, switch load, use remote/robotic methods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3. Isolate the worker — insulate &amp; isolate (rubber-glove or hot-stick / live-line bare-hand)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4. Administrative — procedures, job briefings, MAD, qualified workers only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5. PPE — FR clothing, rubber gloves/sleeves, face &amp; head protection (last line, never the only line)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work is permitted only when de-energizing is infeasible or creates greater hazard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3.2 MAD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Minimum Approach Distance (MAD)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MAD = the closest a qualified worker (or conductive object) may come to an energized part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protects against flashover — the air gap that voltage cannot jump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MAD increases with voltage and with altitude (thinner air insulates less)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includes the phase-to-ground AND phase-to-phase exposure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Anything conductive counts: your body, tools, materials, the boom, a tape measure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Unqualified employees must stay even farther back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If you cannot maintain MAD, the part must be de-energized OR covered/insulated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Rule of thumb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Know your utility's MAD table for the voltage you're on — BEFORE you leave the ground.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When in doubt, cover up or back off. MAD is a minimum, not a target.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3.2 MAD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Illustrative Minimum Approach Distances (Phase-to-Ground)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6833"/>
                <a:gridCol w="2975125"/>
                <a:gridCol w="3966833"/>
              </a:tblGrid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Nominal Voltage (ph-ph)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 MAD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Typical Setting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50 V – 300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Avoid contact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Service / secondary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301 V – 750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~1 ft 1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Secondary / street light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751 V – 15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2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Distribution primary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15.1 kV – 36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7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Distribution / sub-transmission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36.1 kV – 46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9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Sub-transmission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46.1 kV – 72.5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3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Sub-transmission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72.6 kV – 121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4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138 kV – 145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7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230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~5 ft 3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Bulk 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23620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ILLUSTRATIVE ONLY — distances vary with altitude, transient over-voltage factor, and the governing edition of OSHA 1910.269 Table R-3 / R-6. ALWAYS use your employer's current, approved MAD 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3.3 SECOND POINT OF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Second Point of Contact — The Concept That Saves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Current can only flow when it has a complete path: a source, a load/body, and a return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Touching ONE energized conductor while perfectly insulated from everything else = no path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This is why a bird sits on a wire unharmed — it is at one potential, with no second contact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SECOND POINT OF CONTACT is what completes the circuit through you: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grounded neutral, a guy wire, a pole ground, a crossarm, the structure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Another phase at a different potential (phase-to-phase — even more dangerous)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co-worker, a tool, the bucket, a wet rope, the truck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Eliminate the second point of contact and you eliminate the shock — every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The discipline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Before you reach for ANY energized part, ask: 'Where is my second point of contact?'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Cover it. Insulate it. Or remove yourself from it.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Most electrocutions are NOT phase-to-phase — they are phase-to-GROUND through a missed second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3.3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Finding Your Second Point of Contact — Every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Rubber gloves alone are not the answer — you must also control what else you could touch.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Scan the whole work envelope, not just the conductor you're working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Common second points hiding in plain sight: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Grounded neutral conductor (often the closest deadly path)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pole ground / ground wire, guy wires and down-guys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Metal crossarm braces, bolts, staples, hardware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Other phases above, below, or behind you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Transformer cases, capacitor banks, riser/cable terminations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bucket lip, jib, winch line, hand line, or another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Work to keep yourself, your tools, and the energized part isolated from all of them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Glove AND cover: rubber gloves protect your hands; cover-up protects against the SECOND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3.4 TWO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Insulate &amp; Isolate — The Two Methods of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INSULATE: place insulating barriers between the worker and energized/grounded parts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Rubber gloves, sleeves, line hose, hoods, blankets — rated for the voltage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Insulated tools and platforms; the dielectric boom of an aerial device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ISOLATE: create distance/separation so no path can form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Maintain MAD; reposition the work; use live-line (hot-stick) tools to keep the worker back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Rubber-glove method: worker is insulated and works within reach — cover-up is mandatory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Hot-stick / live-line tool method: worker stays beyond MAD and works through tools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Bare-hand (live-line) method: worker is bonded TO the conductor at line potential — specialized, EHV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COVER-UP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Cover-Up: Purpose &amp;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Cover-up turns a cluttered, energized pole top into an isolated, defendable work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= installing insulating guards over energized AND grounded parts in the work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Purpose: protect against accidental contact and eliminate second points of contact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is secondary protection — it backs up your gloves, MAD, and positioning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 EVERYTHING within reach you could contact: phases, neutral, ground, hardware, guys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must be rated for the system voltage and inspected before use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Install from a position of safety — nearest/most-accessible energized part first, working outward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Use a hot stick or gloved hands per procedure; never let cover-up create a false sense of security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Remove in REVERSE order — last on, first off — keeping protection in place longest where you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Sequence — Building the Protected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Plan &amp; inspect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Identify every energized &amp; grounded part within reach. Inspect all cover-up for damage; verify voltage rating.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Establish footing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Position the bucket/yourself so you can reach with the conductor at a safe angle — from below where possible.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Cover the closest hazard first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Apply line hose/blankets to the nearest energized phase, then work outward to additional phases.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Cover the second points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Cover the neutral, ground wire, guys, crossarm hardware — anything that could be your second point of contact.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Work the job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With the zone insulated, perform the task maintaining gloves, MAD, and positioning throughout.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Remove in reverse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Strip cover-up last-on/first-off — keep protection nearest you in place until the end.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EQUIPMENT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Equipment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Types of cover-up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Line hose — tubular cover for conductors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Insulator hoods — cover pin/post insulators &amp; tops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Conductor/line covers &amp; connector covers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Insulating blankets — wrap irregular shapes, hardware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Dead-end &amp; pole/crossarm covers, guy guards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Selection &amp;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Match the voltage rating to (or above) the system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Inspect for cuts, ozone cracks, embedded metal, swelling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Keep clean &amp; dry; store properly — no sharp folds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Use approved clip pins/connectors so it stays put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Removed from service &amp; retested per schedule if suspect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3.6 DE-ENERGIZE / 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De-Energizing &amp; Lockout/Tagout (LOTO)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When a line can be de-energized, follow the formal switching &amp; clearance procedure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classic verification sequence — do not skip a step: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1. Identify the correct circuit/section (right line, right structure)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2. Open the disconnects and render them visibly open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3. Lock and TAG the points of isolation — each worker's own lock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4. TEST for absence of voltage with a tested-good detector (test-before-touch)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5. Apply protective GROUNDS to create an equipotential, drained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Hold the clearance; only the holder releases it after all workers are 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Test your tester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Prove the voltage detector works on a known source BEFORE and AFTER testing the line.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Treat every conductor as energized until YOU have verified it dead and grounded.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3.7 GROUNDING &amp; EPZ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Grounding &amp; The Equipotential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Protective grounding does NOT just 'drain' the line — it protects YOU if it is re-energized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If the line is accidentally energized, grounds provide a low-resistance path that trips protection fast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Equipotential zone (EPZ): bond everything you could touch to the SAME potential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If everything around you is at the same voltage, no current flows through you — like the bird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Bonding: connect conductors, structures, and equipment together; ground that bonded system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Grounds must be sized for available fault current and connected in the correct order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Connect to ground/structure FIRST, then to the conductor; remove in REVERSE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Why grounds save lives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 worker inside a properly bonded EPZ rides the voltage up and down together — no difference of potential across the body.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Grounds are sized to carry fault current long enough for the breaker/recloser to operate.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3.8 INDUCED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Induced Voltage — The Hidden Hazard on 'Dead'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“Dead” is not the same as “grounded.” Induction is why we ground at the work location.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de-energized line running parallel to an energized one can pick up voltage by induction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Magnetic (current) and electrostatic (voltage) coupling from the live circuit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longer the parallel and the higher the live circuit's load, the greater the induced voltage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An ungrounded 'dead' line can hold enough induced potential to shock or kill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Control it by GROUNDING — and by working within a bonded equipotential zone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Grounds at the work site (not just at the ends) keep induced potential off the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Switching, transmission, and parallel-circuit work demand extra attention to induction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3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3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Prefer de-energizing; when working hot, isolate AND insulate — never rely on one control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Maintain MAD for your voltage; anything conductive counts toward the distance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SECOND POINT OF CONTACT completes the circuit — find it, cover it, remove it, every time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backs up your gloves and MAD: nearest first, remove in reverse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De-energize properly: identify, open, lock/tag, TEST, then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Bond an equipotential zone and ground at the work site — it defeats re-energization AND induction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Tools of the Trade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Rubber insulating gloves &amp; sleeves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Live-line (hot-stick) tools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Protective grounds &amp; testers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Arc-rated FR clothing &amp; PPE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Inspection, testing &amp; care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4.1 RUBBER GLOVES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Insulating Gloves — Your First Line of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 gloves insulate your hands from energized parts in the rubber-glove method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Always worn with leather protector gloves OVER them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leather shields the rubber from cuts, abrasion, and UV — the rubber does the insulating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Selected by VOLTAGE CLASS — each class has a max use voltage and proof-test voltage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Field-inspect before EVERY use: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Air-test (roll/inflate) to find pinholes; check for cuts, cracks, swelling, embedded debris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Inspect inside and out; check for chemical or ozone damage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Retest electrically on a schedule (typically every 6 months) at a certified lab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Store in a glove bag, fingers up, away from heat, ozone, sunlight, and sharp objects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4.1 GLOVE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Glove Voltage Classes (ASTM D120 / IEC)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89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131"/>
                <a:gridCol w="4090796"/>
                <a:gridCol w="2499931"/>
                <a:gridCol w="2499931"/>
              </a:tblGrid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Max Use Voltage (AC, ph-ph)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Color (label)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Proof Test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00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Beige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0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5,000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7,500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White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10,000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2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17,000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20,000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3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26,500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30,000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5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4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36,000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40,000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97433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Always select a class rated AT or ABOVE the maximum voltage you may contact. Label color aids quick identification; the printed rating governs. Same class system applies to insulating sleeves and many blankets.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4.2 SLEEVES &amp;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Sleeves, Blankets &amp; Line Hose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Sleeves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Insulate the forearm, upper arm, and shoulder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Worn when the arm could contact an energized/grounded part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Same voltage-class system as gloves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Inspected &amp; retested like gloves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Blankets &amp; line hose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Blankets: flexible cover for irregular shapes &amp; hardware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Line hose: slips over conductors to insulate runs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Secured with approved pins/snaps/clamps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Voltage-rated; inspected for cuts, ozone &amp; contamination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4.3 HOT STICKS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Live-Line (Hot-Stick)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A hot stick keeps the worker back while the work goes forward — isolation in tool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 sticks are insulating tools (usually fiberglass/epoxy) that extend your reach beyond MAD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Let qualified workers operate, test, install and remove equipment without closing the gap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Common types: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Universal / shotgun (telescoping) sticks with interchangeable heads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Switch sticks, disconnect sticks, fuse pullers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Tie sticks, wire-holding &amp; cleaning tools, measuring sticks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Grounding sticks (clamp sticks) for applying protective grounds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them CLEAN and DRY — contamination &amp; moisture ruin the insulating surface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Wipe down with an approved cleaner/wax; use a cradle, not the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for scratches, cracks, soft spots; periodic dielectric testing required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4.4 GROUNDS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Protective Grounds &amp; Grounding Equipment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Personal protective grounds = flexible copper cables with clamps (ferrules) and ground studs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Sized to carry the available fault current for the clearing time without failing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Undersized grounds can fuse and fail under fault — use the correct cable size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Components: cable, clamps, ferrules, ground rods/cluster bars, EPZ jumpers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Apply correctly: clean contact points, tight clamps, ground end FIRST then line end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grounding sticks to install/remove — treat the line as energized until grounds are 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for broken strands, corroded clamps, loose ferrules; remove damaged sets from service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Remove grounds in REVERSE: line end first, ground end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4.5 TESTERS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Detectors &amp; Testers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Contact voltage detectors (on a hot stick)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Non-contact / proximity testers (presence of field)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Phasing testers — verify phase relationships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Audible/visual indication of energized condition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Use it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TEST the tester on a known source before AND after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Match the detector's range to the system voltage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Test-before-touch on every conductor, every time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 'no voltage' reading from an unproven tester proves NOTHING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4.6 FR / PPE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Arc-Rated FR Clothing &amp; Personal PPE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Flame-resistant (FR) / arc-rated (AR) clothing protects against arc-flash thermal energy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Rated in cal/cm² (ATPV / arc rating) — must meet or exceed the job's incident energy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Self-extinguishing; will not melt and drip like synthetics (no untreated nylon/poly next to skin)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Layering increases protection; outermost layer must be arc-rated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Head/face/eyes: hard hat (Class E, electrical), arc-rated face shield/hood, safety glasses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Hands: rubber gloves + leather protectors; feet: EH-rated footwear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Hearing protection for arc-blast environments; no exposed conductive jewelry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PPE is the LAST layer — it limits injury when other controls fail; it never replaces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4.7 INTERVALS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PPE &amp; Tool Inspection / Test Intervals (Typical)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335"/>
                <a:gridCol w="3356551"/>
                <a:gridCol w="3985904"/>
              </a:tblGrid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Before each use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Periodic electrical test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Rubber gloves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Air &amp; 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6 months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Rubber sleeves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6 months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Insulating blankets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12 months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Line hose / covers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When suspect / per program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Hot sticks / live-line tools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Wipe &amp; 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Periodic dielectric test (e.g., every 2 yrs)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Protective grounds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Visual; check clamps/strands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Resistance/condition per program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Voltage detectors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Self-test before &amp; after use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Per manufacturer schedule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95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FR clothing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Inspect for damage/contamination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Replace when worn/contaminated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815583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Intervals are TYPICAL and governed by OSHA 1910.137, ASTM F496/F478, and your employer's program. If equipment is dropped, suspect, or out of test date — remove it from service.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4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4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 gloves (with leather protectors) are first-line insulation — selected by voltage class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Air-test and inspect rubber goods before every use; honor retest dates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 sticks isolate the worker; grounds protect against re-energization — both must be tested &amp; sized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Test your tester before AND after; test-before-touch every time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Arc-rated FR PPE must meet or exceed the incident energy — and it's the last layer, not the plan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Clean, dry, inspected, in-date — or out of service. No exceptions.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Putting It to Work in the 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Pre-job planning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Hazard assessment / JSA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tailboard / job briefing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Roles, responsibilities &amp; communication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Emergency response &amp; rescue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5.1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Pre-Job Planning — Before Boots Leave the Truck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Understand the SCOPE: what work, on what equipment, at what voltage, energized or not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Review prints, switching orders, clearances, and the circuit map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Confirm the right crew, qualifications, and a competent person in charge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Verify tools, PPE, cover-up, grounds — right ratings, inspected, in test date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Check the weather: wind, lightning, heat, ice — conditions that stop or change the job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Identify the access, the work zone, traffic control, and the public exposure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 the location: address, nearest cross-streets, gate codes — for emergency response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rescue BEFORE the work — not after the incident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5.2 HAZARD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Hazard Assessment / Job Safety Analysis (JSA)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Break the job into steps; for each step identify the hazards and the controls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Electrical hazards: energized parts, second points of contact, induced voltage, fault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Mechanical/physical: falls, dropped objects, pinch points, equipment, rigging, tension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Environmental: weather, traffic, terrain, wildlife, confined/excavation, public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For each hazard, select the control from the hierarchy — eliminate where you can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Reassess when ANYTHING changes: scope, weather, crew, equipment, the unexpected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The four questions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What am I about to do?  What can hurt me?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How do I control it?  What if the plan changes?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 JSA is a living document — update it as the job evolves.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5.3 TAILBOARD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Tailboard / Job Briefing — What &amp;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tailboard is where the plan in your head becomes the plan in everyone's head.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tailboard is the crew safety briefing held before work starts (and again when things change)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Required before each job; it aligns the whole crew on the plan and the hazards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1910.269(c) requires a job briefing covering at minimum: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Hazards associated with the job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Work procedures involved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Special precautions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Energy-source controls (clearances, grounds, LOTO)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Personal protective equipment requirements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More extensive briefing for complex/hazardous jobs; brief again after interruptions or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5.3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Running an Effective Tailboard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Describe the job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What are we doing, where, on what equipment, energized or de-energized, at what voltage.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Walk the hazards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Go through the JSA: electrical (second points, MAD, induction), falls, traffic, weather, public.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State the controls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Cover-up plan, grounds/EPZ, LOTO/clearance, MAD, PPE, traffic control — specific, not generic.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Assign roles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Person in charge, who works, who tends, who grounds, who watches, who calls for help.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Confirm rescue &amp; comms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Location/address, nearest hospital, rescue plan &amp; equipment, radio/phone, hand signals.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Engage the crew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Ask questions, invite input, confirm understanding — everyone has stop-work authority.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5.4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Roles &amp; Responsibilities on the Crew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Key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Person-in-Charge / Crew Leader — owns the plan &amp; clearance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Qualified worker(s) — perform the energized/skilled tasks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Groundman / tender — supports, tends ropes, handles materials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Safety watch / second person — eyes on the worker, ready to act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Flagger / traffic control — protects the work zone &amp; public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Shared responsibilities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Everyone: know the plan and your part in it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Everyone: maintain situational awareness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 has STOP-WORK authority — use it without fear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Speak up: a question now beats an incident later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No solo energized work — a qualified second person is present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5.5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Communication — The Glue That Holds the Job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clear, standardized language for switching and clearances — no ambiguity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Three-way communication for critical commands: state → repeat back → confirm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Confirm clearances and grounds with the system operator before and after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Agree on hand signals for crane/bucket/rigging where radios are hard to hear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Announce movements: 'coming down', 'tension on', 'clear' — keep the crew in the loop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Re-brief after ANY interruption, crew change, or scope change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If you're not sure what was said, STOP and confirm — assumptions kill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5.6 RESCUE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Emergency Response &amp; Rescue — Plan It Before You Need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Every energized/elevated job needs a rescue plan briefed in the tailboard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Pole-top &amp; bucket rescue: trained crew can lower an injured worker quickly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Know the equipment (handline, rescue device) and practice the procedure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Do NOT become the second victim — ensure the source of contact is removed/de-energized first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Call for help early: know the address, cross-streets, and access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CPR + AED for electrical contact / cardiac arrest — minutes matter; know where the AED 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After contact, ALWAYS transport for medical evaluation — internal injury can be hidden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The first rule of rescue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Protect yourself first — a rescuer who gets electrocuted helps no one.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De-energize / remove the source, then reach the patient.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Speed saves lives, but only a SAFE rescue saves two.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5.7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Weather, Environment &amp; Public Safety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Lightning / approaching storms: stop work and clear elevated/exposed positions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High wind: affects conductors, booms, rigging, and footing — know your limits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Wet conditions: drastically reduce body &amp; equipment insulation — reassess hot work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Heat/cold: fatigue and impaired judgment are hazards in themselves — hydrate, rotate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Ice/snow loading: added conductor weight and slip hazards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Public protection: barricades, signage, traffic control; keep bystanders clear of downed lines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Wildlife &amp; vegetation: animals cause faults; trees create clearance &amp; contact hazards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5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5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job — and the rescue — before boots leave the truck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JSA pairs every step with its hazards and controls, and updates when things change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tailboard puts the plan in everyone's head: hazards, procedures, controls, PPE, roles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Define roles and use disciplined, three-way communication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Everyone has stop-work authority — and the obligation to use 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Rescue first protects the rescuer; after any contact, get medical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Regulations &amp; 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OSHA 1910.269 &amp; 1926 Subpart V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National Electrical Safety Code (NESC)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ASTM &amp; IEEE equipment standards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Qualification &amp; apprenticeship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Recordkeeping &amp; program duties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6.1 WHY REGS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Regulations Exist — and Why You Should Know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Every safe-work rule in this course is backed by a regulation or consensus standard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Regulations set the MINIMUM — your employer's program may be stricter (follow the stricter)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Knowing the 'why' and the 'where it's written' makes you a better, safer, more credible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big three for line work: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OSHA — federal law: how the work must be done safely (enforceable)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NESC (IEEE C2) — how the system is built, spaced, and maintained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ASTM / IEEE / ANSI — how the tools and PPE are made, rated, and tested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Compliance is the floor; the goal is everyone home safe — which often means going beyond the floor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6.2 OSHA 1910.269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OSHA 1910.269 — Electric Power Generation, Transmission &amp;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If you read one regulation cover to cover, make it this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primary OSHA standard for operating &amp; maintaining electric power systems (general industry)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Key provisions every lineworker should know: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(a) Training &amp; qualified-employee requirements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(c) Job briefings (the tailboard) — required content and frequency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(l) Working on or near energized parts; minimum approach distances (Tables R-3 / R-6)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(m) De-energizing lines &amp; equipment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(n) Grounding for the protection of employees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Arc-flash hazard assessment and arc-rated apparel requirements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Companion construction standard: 29 CFR 1926 Subpart V (power transmission &amp; distribution)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6.2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OSHA 1910.269 vs 1926 Subpart V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1910.269 (General Industry)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Operation &amp; MAINTENANCE of existing power systems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Day-to-day line &amp; substation work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Job briefings, MAD, de-energizing,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Harmonized with Subpart V on key requirements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1926 Subpart V (Construction)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CONSTRUCTION of power transmission &amp; distribution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Building new lines and major rebuilds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Mirrors 1910.269 on MAD, briefings,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Use the standard that matches the type of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6.3 NESC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National Electrical Safety Code (NESC / IEEE C2)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NESC governs the safe installation, operation &amp; maintenance of utility electric &amp; communication systems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Distinct from the NEC (NFPA 70), which covers premises/building wiring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Sets rules for the SYSTEM that protect both workers and the public, including: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Conductor clearances — ground, structures, other lines, and to the public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Strength &amp; loading of structures; grades of construction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Grounding methods and worker safety rules (Part 4 covers work rules)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Updated on a multi-year cycle; the edition in force depends on jurisdiction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When clearances or construction look wrong in the field — NESC is the reference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6.4 ASTM/IEEE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Key ASTM / IEEE / ANSI Equipment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2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731"/>
                <a:gridCol w="7727061"/>
              </a:tblGrid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Standard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Covers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D120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GLOVES — manufacture &amp; rating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D1051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SLEEVES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D1048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BLANKETS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D1049 / D1050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Insulating COVERS / LINE HOSE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F496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In-service CARE of rubber gloves &amp; sleeves (test intervals)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F478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In-service care of insulating LINE HOSE &amp; covers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F711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Fiberglass rod &amp; tube for LIVE-LINE TOOLS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F855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Temporary protective GROUNDS (clamps &amp; cables)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F1506 / NFPA 70E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Arc-rated FR CLOTHING &amp; arc-flash protection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IEEE C2 (NESC)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Utility system safety code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ANSI Z89.1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Hard hats (electrical Class E)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2910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These standards define how your PPE and tools are built, rated, and re-tested — the numbers on your gloves and grounds trace back 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6.5 QUALIFICATION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Qualified Workers, Training &amp; Apprenticeship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requires that only QUALIFIED employees work on or near energized parts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Qualified = trained AND able to demonstrate skills/knowledge for the construction &amp; operation involved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Knows how to distinguish energized parts, determine voltages, and maintain MAD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Lineworker apprenticeships (often ~3–4 years, thousands of OJT hours) build that qualification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Classroom theory + supervised on-the-job training + skills verification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Ongoing training: refreshers, new procedures, CPR/AED &amp; pole-top rescue, equipment-specific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Document training and re-qualification — it is both a legal requirement and proof of competence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6.6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Recordkeeping &amp; Program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Records to keep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Training &amp; qualification records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PPE/tool inspection &amp; electrical test dates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Job briefings / tailboards (per program)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Switching orders, clearances &amp; grounding records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Incident &amp; near-miss reports and investigations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Employer program duties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Written safe-work &amp; electrical safety program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Hazard/arc-flash assessments &amp; MAD tables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Provide &amp; maintain rated PPE and tools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Enforce procedures; support stop-work authority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Investigate, learn, and improve after every event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6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6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Regulations set the minimum; your program may be stricter — always follow the stricter rule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1910.269 (and 1926 Subpart V) govern how the work is done — briefings, MAD, LOTO, grounding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NESC (IEEE C2) governs how the system is built, spaced, and maintained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ASTM/IEEE/ANSI define how your PPE &amp; tools are rated and tested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Only qualified workers do energized work — earned through apprenticeship &amp; ongoing training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records: training, test dates, briefings, clearances, incidents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Bringing It All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mental model from theory to the field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Daily safe-work disciplines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Final reminders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Resources &amp; references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From Theory to the Field — The Mental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Understand the energy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Voltage pushes current; current through you kills. Know your voltage class and fault energy.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Find the circuit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Where would current flow through ME? Locate the SECOND POINT OF CONTACT — every time.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Choose the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De-energize if you can. If hot: isolate AND insulate — MAD, cover-up, gloves, grounds, EPZ.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Verify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Test the tester, test-before-touch, prove dead, apply grounds, inspect every piece of PPE.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Brief &amp; assign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Tailboard the hazards, controls, roles, comms, and rescue. Everyone understands. Everyone can stop work.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Work &amp; reassess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Maintain controls all the way through. When ANYTHING changes — stop, re-brief, re-assess.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DAILY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Ten Disciplines That Keep Crews Alive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If you remember nothing else, remember these.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Treat every conductor as energized until YOU prove it dead and grounded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Always identify and eliminate the second point of contact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Maintain minimum approach distance — for your body, tools, and equipment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 up: nearest hazard first, remove in reverse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Test the tester before and after; test-before-touch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Ground and bond an equipotential zone at the work site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rubber goods and tools before every use; honor test dates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Hold a real tailboard — and re-brief when anything changes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rescue before the work; never become the second victim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your stop-work authority — no job is worth your life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Final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Electricity is invisible, silent, and unforgiving — but it is also entirely predictable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follows the same laws every time, which means the hazard is always controllable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theory in Module 1 is not academic — it is WHY every rule in Modules 3–6 works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Skills fade and complacency creeps in — that is why we train, brief, and reassess relentlessly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Look out for the worker next to you as carefully as you look out for yourself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6F3EC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BEST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2E8B57"/>
                </a:solidFill>
                <a:latin typeface="Arial"/>
              </a:rPr>
              <a:t>The whole point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Everyone goes home, every day.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That is the only acceptable outcome of any job — and it is achievable on every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Resources &amp;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Regulations &amp; codes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29 CFR 1910.269 — GT&amp;D (general industry)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29 CFR 1926 Subpart V — construction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1910.137 — electrical protective equipment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1910.147 — control of hazardous energy (LOTO)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NESC — IEEE C2; NFPA 70E — arc-flash safety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Standards &amp;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ASTM F18 committee standards (D120, F496, F855, etc.)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IEEE standards for live-line work &amp;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Your employer's safe-work practices &amp; MAD tables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Apprenticeship program materials &amp; manufacturer manuals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First aid / CPR / AED &amp; pole-top rescue certification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6162B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164592" cy="18288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10058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800" b="0" i="0">
                <a:solidFill>
                  <a:srgbClr val="C8D6E6"/>
                </a:solidFill>
                <a:latin typeface="Arial"/>
              </a:rPr>
              <a:t>Review the hazards on YOUR system, with YOUR equipment, against YOUR procedures.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  <a:spcAft>
                <a:spcPts val="400"/>
              </a:spcAft>
            </a:pPr>
            <a:r>
              <a:rPr sz="1600" b="0" i="1">
                <a:solidFill>
                  <a:srgbClr val="F5B100"/>
                </a:solidFill>
                <a:latin typeface="Arial"/>
              </a:rPr>
              <a:t>Stay sharp. Watch your second point of contact. Everyone goes home.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